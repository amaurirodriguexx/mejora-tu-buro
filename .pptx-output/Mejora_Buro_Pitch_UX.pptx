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</p:sldMasterIdLst>
  <p:notesMasterIdLst>
    <p:notesMasterId r:id="rId16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US" sz="1400" spc="-1" strike="noStrike">
                <a:solidFill>
                  <a:srgbClr val="000000"/>
                </a:solidFill>
                <a:latin typeface="Arial"/>
              </a:rPr>
              <a:t>Pulse para desplazar la diapositiva</a:t>
            </a: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US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US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U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U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7F96744-6CED-4293-894E-C5C2062ED043}" type="slidenum">
              <a:rPr b="0" lang="es-U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4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4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4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4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4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4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4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4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820D60-8C2B-4B1B-BEB6-5C6D183016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3A6C43-CCDA-4FAE-B212-B4AD0ABC009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4FA5645-EF2D-4FEC-8DFC-1440BF252F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8A65E86-1B1D-47F0-81AB-CB5D3AEBCE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A06CEB4-1FA5-4F8C-A18B-646D067807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0304824-E810-4F7D-8BBD-E10909BE27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s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7C08A6F-B15F-43C7-A56F-555C14519A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s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terno 1.2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97ADFA5-67DA-4EBE-A3BB-ADF33B25A4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s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enerated (g3fb96aaf8ef_6_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FF853A5-9561-4D5E-AA67-C1EB084049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520908BF-48E5-4E1C-B6B1-68733B7219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s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C4A7E43E-AE24-4DCE-BD5C-F603755F60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s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terno 1.2 (g3e016a1fba4_69_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s-US" sz="20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4994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4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14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14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4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4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4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U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U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D71616-77B0-496C-87ED-0FBE8FD23301}" type="slidenum">
              <a:rPr b="0" lang="es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es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9329"/>
          </a:bodyPr>
          <a:p>
            <a:pPr indent="0">
              <a:buNone/>
            </a:pPr>
            <a:r>
              <a:rPr b="0" lang="es-U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U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U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7E711D-3E0F-4C13-8452-5F7FF7F9F66E}" type="slidenum">
              <a:rPr b="0" lang="es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es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U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U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E0EF3C-3D1B-4094-9666-D38852E98F9F}" type="slidenum">
              <a:rPr b="0" lang="es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es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US" sz="1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4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14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14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s-U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U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U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60099D-46E7-496A-8BE7-577477DBD0A4}" type="slidenum">
              <a:rPr b="0" lang="es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es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9329"/>
          </a:bodyPr>
          <a:p>
            <a:pPr indent="0">
              <a:buNone/>
            </a:pPr>
            <a:r>
              <a:rPr b="0" lang="es-U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6247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7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6247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7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U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U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399686-0AEA-4110-8067-DAD403E1CDC3}" type="slidenum">
              <a:rPr b="0" lang="es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es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b="0" lang="es-US" sz="40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4347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0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20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0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U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U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89904B-CC6B-4CDF-80B4-826DBB557CBA}" type="slidenum">
              <a:rPr b="0" lang="es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es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9329"/>
          </a:bodyPr>
          <a:p>
            <a:pPr indent="0">
              <a:buNone/>
            </a:pPr>
            <a:r>
              <a:rPr b="0" lang="es-U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534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2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534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2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2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U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U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622AB42-30D0-48E1-BA7E-7364743CEADA}" type="slidenum">
              <a:rPr b="0" lang="es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es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78360" y="255600"/>
            <a:ext cx="8449920" cy="98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13280" y="896040"/>
            <a:ext cx="8065440" cy="241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0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US" sz="1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10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US" sz="1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0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US" sz="1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1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US" sz="1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US" sz="1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US" sz="1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s-US" sz="20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24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5570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4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14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14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4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4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4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U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U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727B61-6FEE-4167-A1C5-BB33A88ACCA6}" type="slidenum">
              <a:rPr b="0" lang="es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es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s-U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061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U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U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6A577A-D249-43CF-9976-73605A3EBF10}" type="slidenum">
              <a:rPr b="0" lang="es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es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9329"/>
          </a:bodyPr>
          <a:p>
            <a:pPr indent="0">
              <a:buNone/>
            </a:pPr>
            <a:r>
              <a:rPr b="0" lang="es-U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49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U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U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8D9350-86DD-447E-85B8-3D7F744AEB3E}" type="slidenum">
              <a:rPr b="0" lang="es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es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9329"/>
          </a:bodyPr>
          <a:p>
            <a:pPr indent="0">
              <a:buNone/>
            </a:pPr>
            <a:r>
              <a:rPr b="0" lang="es-U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32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U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U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EA5F70-E711-4893-B7A4-8CC8DCE46EF4}" type="slidenum">
              <a:rPr b="0" lang="es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&lt;número&gt;</a:t>
            </a:fld>
            <a:endParaRPr b="0" lang="es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78360" y="255600"/>
            <a:ext cx="8449920" cy="98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b="0" lang="es-US" sz="2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13280" y="896040"/>
            <a:ext cx="8065440" cy="241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0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US" sz="1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10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US" sz="1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0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US" sz="1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US" sz="1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US" sz="1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US" sz="1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US" sz="1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US" sz="1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a3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100;g3fb940bf621_2_4392"/>
          <p:cNvSpPr/>
          <p:nvPr/>
        </p:nvSpPr>
        <p:spPr>
          <a:xfrm>
            <a:off x="731520" y="8229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US" sz="1200" spc="-1" strike="noStrike">
                <a:solidFill>
                  <a:srgbClr val="30afb8"/>
                </a:solidFill>
                <a:latin typeface="Arial"/>
                <a:ea typeface="Arial"/>
              </a:rPr>
              <a:t>t2ó México  ·  Digital Growth &amp; Tech</a:t>
            </a:r>
            <a:endParaRPr b="0" lang="es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Google Shape;101;g3fb940bf621_2_4392"/>
          <p:cNvSpPr/>
          <p:nvPr/>
        </p:nvSpPr>
        <p:spPr>
          <a:xfrm>
            <a:off x="731520" y="1371600"/>
            <a:ext cx="7680600" cy="11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US" sz="3600" spc="-1" strike="noStrike">
                <a:solidFill>
                  <a:srgbClr val="ffffff"/>
                </a:solidFill>
                <a:latin typeface="Arial"/>
                <a:ea typeface="Arial"/>
              </a:rPr>
              <a:t>AUDITORÍA UX &amp; CRO</a:t>
            </a:r>
            <a:endParaRPr b="0" lang="es-US" sz="3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s-US" sz="1800" spc="-1" strike="noStrike">
                <a:solidFill>
                  <a:srgbClr val="42bce2"/>
                </a:solidFill>
                <a:latin typeface="Arial"/>
                <a:ea typeface="Arial"/>
              </a:rPr>
              <a:t>Evaluación Integral de Conversión, Accesibilidad y Privacidad</a:t>
            </a:r>
            <a:endParaRPr b="0" lang="es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s-US" sz="1200" spc="-1" strike="noStrike">
                <a:solidFill>
                  <a:srgbClr val="cbd5e1"/>
                </a:solidFill>
                <a:latin typeface="Arial"/>
                <a:ea typeface="Arial"/>
              </a:rPr>
              <a:t>Sitio: mejoraburo.com.mx  ·  Razón social: Baui Solutions S.A. de C.V.</a:t>
            </a:r>
            <a:endParaRPr b="0" lang="es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Google Shape;102;g3fb940bf621_2_4392"/>
          <p:cNvSpPr/>
          <p:nvPr/>
        </p:nvSpPr>
        <p:spPr>
          <a:xfrm>
            <a:off x="457200" y="4864680"/>
            <a:ext cx="82292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850" spc="-1" strike="noStrike">
                <a:solidFill>
                  <a:srgbClr val="94a3b8"/>
                </a:solidFill>
                <a:latin typeface="Arial"/>
                <a:ea typeface="Arial"/>
              </a:rPr>
              <a:t>t2ó × Mejora Buró — Confidencial, uso interno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107;g3fb940bf621_2_1792"/>
          <p:cNvSpPr/>
          <p:nvPr/>
        </p:nvSpPr>
        <p:spPr>
          <a:xfrm>
            <a:off x="457200" y="247680"/>
            <a:ext cx="8229240" cy="4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900" spc="-1" strike="noStrike">
                <a:solidFill>
                  <a:srgbClr val="059669"/>
                </a:solidFill>
                <a:latin typeface="Nunito Sans ExtraBold"/>
                <a:ea typeface="Nunito Sans ExtraBold"/>
              </a:rPr>
              <a:t>AUDITORÍA UX</a:t>
            </a:r>
            <a:endParaRPr b="0" lang="es-US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s-US" sz="2000" spc="-1" strike="noStrike">
                <a:solidFill>
                  <a:srgbClr val="0f172a"/>
                </a:solidFill>
                <a:latin typeface="Nunito Sans ExtraBold"/>
                <a:ea typeface="Nunito Sans ExtraBold"/>
              </a:rPr>
              <a:t>Objetivo de la intervención</a:t>
            </a:r>
            <a:endParaRPr b="0" lang="es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Google Shape;108;g3fb940bf621_2_1792"/>
          <p:cNvSpPr/>
          <p:nvPr/>
        </p:nvSpPr>
        <p:spPr>
          <a:xfrm>
            <a:off x="457200" y="933480"/>
            <a:ext cx="8229240" cy="1571400"/>
          </a:xfrm>
          <a:prstGeom prst="roundRect">
            <a:avLst>
              <a:gd name="adj" fmla="val 7272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109;g3fb940bf621_2_1792"/>
          <p:cNvSpPr/>
          <p:nvPr/>
        </p:nvSpPr>
        <p:spPr>
          <a:xfrm>
            <a:off x="457200" y="853200"/>
            <a:ext cx="8229240" cy="16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8600" rIns="228600" tIns="190440" bIns="19044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1150" spc="-1" strike="noStrike">
                <a:solidFill>
                  <a:srgbClr val="334155"/>
                </a:solidFill>
                <a:latin typeface="Nunito Sans"/>
                <a:ea typeface="Nunito Sans"/>
              </a:rPr>
              <a:t>Realizar un diagnóstico exhaustivo e interdisciplinario sobre el sitio </a:t>
            </a:r>
            <a:r>
              <a:rPr b="1" lang="es-US" sz="1150" spc="-1" strike="noStrike">
                <a:solidFill>
                  <a:srgbClr val="0284c7"/>
                </a:solidFill>
                <a:latin typeface="Nunito Sans"/>
                <a:ea typeface="Nunito Sans"/>
              </a:rPr>
              <a:t>mejoraburo.com.mx</a:t>
            </a:r>
            <a:r>
              <a:rPr b="0" lang="es-US" sz="1150" spc="-1" strike="noStrike">
                <a:solidFill>
                  <a:srgbClr val="334155"/>
                </a:solidFill>
                <a:latin typeface="Nunito Sans"/>
                <a:ea typeface="Nunito Sans"/>
              </a:rPr>
              <a:t> que nos permita </a:t>
            </a:r>
            <a:r>
              <a:rPr b="1" lang="es-US" sz="1150" spc="-1" strike="noStrike">
                <a:solidFill>
                  <a:srgbClr val="0f172a"/>
                </a:solidFill>
                <a:latin typeface="Nunito Sans"/>
                <a:ea typeface="Nunito Sans"/>
              </a:rPr>
              <a:t>identificar fricciones de conversión, vulnerabilidades de cumplimiento y riesgos de confianza en el embudo de captación de prospectos</a:t>
            </a:r>
            <a:r>
              <a:rPr b="0" lang="es-US" sz="1150" spc="-1" strike="noStrike">
                <a:solidFill>
                  <a:srgbClr val="334155"/>
                </a:solidFill>
                <a:latin typeface="Nunito Sans"/>
                <a:ea typeface="Nunito Sans"/>
              </a:rPr>
              <a:t>. A partir de una lectura cruzada entre </a:t>
            </a:r>
            <a:r>
              <a:rPr b="1" lang="es-US" sz="1150" spc="-1" strike="noStrike">
                <a:solidFill>
                  <a:srgbClr val="059669"/>
                </a:solidFill>
                <a:latin typeface="Nunito Sans"/>
                <a:ea typeface="Nunito Sans"/>
              </a:rPr>
              <a:t>diseño de producto, accesibilidad WCAG 2.2, protección de datos personales y rendimiento percibido</a:t>
            </a:r>
            <a:r>
              <a:rPr b="0" lang="es-US" sz="1150" spc="-1" strike="noStrike">
                <a:solidFill>
                  <a:srgbClr val="334155"/>
                </a:solidFill>
                <a:latin typeface="Nunito Sans"/>
                <a:ea typeface="Nunito Sans"/>
              </a:rPr>
              <a:t>, buscamos destrabar las barreras críticas de captación, salvaguardar la legitimidad de la marca y trazar un roadmap de optimización con </a:t>
            </a:r>
            <a:r>
              <a:rPr b="1" lang="es-US" sz="1150" spc="-1" strike="noStrike">
                <a:solidFill>
                  <a:srgbClr val="6a3ee8"/>
                </a:solidFill>
                <a:latin typeface="Nunito Sans"/>
                <a:ea typeface="Nunito Sans"/>
              </a:rPr>
              <a:t>mayor tasa de conversión, menor exposición regulatoria y máxima transparencia hacia el usuario</a:t>
            </a:r>
            <a:r>
              <a:rPr b="0" lang="es-US" sz="1150" spc="-1" strike="noStrike">
                <a:solidFill>
                  <a:srgbClr val="334155"/>
                </a:solidFill>
                <a:latin typeface="Nunito Sans"/>
                <a:ea typeface="Nunito Sans"/>
              </a:rPr>
              <a:t>.</a:t>
            </a:r>
            <a:endParaRPr b="0" lang="es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Google Shape;110;g3fb940bf621_2_1792"/>
          <p:cNvSpPr/>
          <p:nvPr/>
        </p:nvSpPr>
        <p:spPr>
          <a:xfrm>
            <a:off x="457200" y="2685960"/>
            <a:ext cx="822924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900" spc="-1" strike="noStrike">
                <a:solidFill>
                  <a:srgbClr val="64748b"/>
                </a:solidFill>
                <a:latin typeface="Nunito Sans ExtraBold"/>
                <a:ea typeface="Nunito Sans ExtraBold"/>
              </a:rPr>
              <a:t>FOCOS ESTRATÉGICOS DEL DIAGNÓSTICO</a:t>
            </a:r>
            <a:endParaRPr b="0" lang="es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Google Shape;112;g3fb940bf621_2_1792"/>
          <p:cNvSpPr/>
          <p:nvPr/>
        </p:nvSpPr>
        <p:spPr>
          <a:xfrm>
            <a:off x="457200" y="2952720"/>
            <a:ext cx="2590560" cy="166644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Google Shape;113;g3fb940bf621_2_1792"/>
          <p:cNvSpPr/>
          <p:nvPr/>
        </p:nvSpPr>
        <p:spPr>
          <a:xfrm>
            <a:off x="457200" y="2952720"/>
            <a:ext cx="2590560" cy="47520"/>
          </a:xfrm>
          <a:prstGeom prst="roundRect">
            <a:avLst>
              <a:gd name="adj" fmla="val 40000"/>
            </a:avLst>
          </a:prstGeom>
          <a:solidFill>
            <a:srgbClr val="0284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Google Shape;114;g3fb940bf621_2_1792"/>
          <p:cNvSpPr/>
          <p:nvPr/>
        </p:nvSpPr>
        <p:spPr>
          <a:xfrm>
            <a:off x="457200" y="2952720"/>
            <a:ext cx="2590560" cy="166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2280" rIns="152280" tIns="171360" bIns="17136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1100" spc="-1" strike="noStrike">
                <a:solidFill>
                  <a:srgbClr val="0284c7"/>
                </a:solidFill>
                <a:latin typeface="Nunito Sans ExtraBold"/>
                <a:ea typeface="Nunito Sans ExtraBold"/>
              </a:rPr>
              <a:t>1. Conversión (CRO)</a:t>
            </a:r>
            <a:endParaRPr b="0" lang="es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US" sz="950" spc="-1" strike="noStrike">
                <a:solidFill>
                  <a:srgbClr val="1e293b"/>
                </a:solidFill>
                <a:latin typeface="Nunito Sans"/>
                <a:ea typeface="Nunito Sans"/>
              </a:rPr>
              <a:t>Detección de puntos de fuga</a:t>
            </a:r>
            <a:endParaRPr b="0" lang="es-US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s-US" sz="900" spc="-1" strike="noStrike">
                <a:solidFill>
                  <a:srgbClr val="475569"/>
                </a:solidFill>
                <a:latin typeface="Nunito Sans"/>
                <a:ea typeface="Nunito Sans"/>
              </a:rPr>
              <a:t>Análisis en el flujo de 2 pasos y fricción en captura de datos.</a:t>
            </a:r>
            <a:endParaRPr b="0" lang="es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Google Shape;116;g3fb940bf621_2_1792"/>
          <p:cNvSpPr/>
          <p:nvPr/>
        </p:nvSpPr>
        <p:spPr>
          <a:xfrm>
            <a:off x="3276720" y="2952720"/>
            <a:ext cx="2590560" cy="166644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Google Shape;117;g3fb940bf621_2_1792"/>
          <p:cNvSpPr/>
          <p:nvPr/>
        </p:nvSpPr>
        <p:spPr>
          <a:xfrm>
            <a:off x="3276720" y="2952720"/>
            <a:ext cx="2590560" cy="47520"/>
          </a:xfrm>
          <a:prstGeom prst="roundRect">
            <a:avLst>
              <a:gd name="adj" fmla="val 40000"/>
            </a:avLst>
          </a:prstGeom>
          <a:solidFill>
            <a:srgbClr val="6a3e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Google Shape;118;g3fb940bf621_2_1792"/>
          <p:cNvSpPr/>
          <p:nvPr/>
        </p:nvSpPr>
        <p:spPr>
          <a:xfrm>
            <a:off x="3276720" y="2952720"/>
            <a:ext cx="2590560" cy="166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2280" rIns="152280" tIns="171360" bIns="17136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1100" spc="-1" strike="noStrike">
                <a:solidFill>
                  <a:srgbClr val="6a3ee8"/>
                </a:solidFill>
                <a:latin typeface="Nunito Sans ExtraBold"/>
                <a:ea typeface="Nunito Sans ExtraBold"/>
              </a:rPr>
              <a:t>2. Gobernanza &amp; Legal</a:t>
            </a:r>
            <a:endParaRPr b="0" lang="es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US" sz="950" spc="-1" strike="noStrike">
                <a:solidFill>
                  <a:srgbClr val="1e293b"/>
                </a:solidFill>
                <a:latin typeface="Nunito Sans"/>
                <a:ea typeface="Nunito Sans"/>
              </a:rPr>
              <a:t>Cumplimiento &amp; Privacidad</a:t>
            </a:r>
            <a:endParaRPr b="0" lang="es-US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s-US" sz="900" spc="-1" strike="noStrike">
                <a:solidFill>
                  <a:srgbClr val="475569"/>
                </a:solidFill>
                <a:latin typeface="Nunito Sans"/>
                <a:ea typeface="Nunito Sans"/>
              </a:rPr>
              <a:t>Auditoría de consentimiento LFPDPPP, manejo de PII en frontend y términos.</a:t>
            </a:r>
            <a:endParaRPr b="0" lang="es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Google Shape;120;g3fb940bf621_2_1792"/>
          <p:cNvSpPr/>
          <p:nvPr/>
        </p:nvSpPr>
        <p:spPr>
          <a:xfrm>
            <a:off x="6095880" y="2952720"/>
            <a:ext cx="2590560" cy="166644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Google Shape;121;g3fb940bf621_2_1792"/>
          <p:cNvSpPr/>
          <p:nvPr/>
        </p:nvSpPr>
        <p:spPr>
          <a:xfrm>
            <a:off x="6095880" y="2952720"/>
            <a:ext cx="2590560" cy="47520"/>
          </a:xfrm>
          <a:prstGeom prst="roundRect">
            <a:avLst>
              <a:gd name="adj" fmla="val 40000"/>
            </a:avLst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Google Shape;122;g3fb940bf621_2_1792"/>
          <p:cNvSpPr/>
          <p:nvPr/>
        </p:nvSpPr>
        <p:spPr>
          <a:xfrm>
            <a:off x="6095880" y="2952720"/>
            <a:ext cx="2590560" cy="166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2280" rIns="152280" tIns="171360" bIns="17136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1100" spc="-1" strike="noStrike">
                <a:solidFill>
                  <a:srgbClr val="d97706"/>
                </a:solidFill>
                <a:latin typeface="Nunito Sans ExtraBold"/>
                <a:ea typeface="Nunito Sans ExtraBold"/>
              </a:rPr>
              <a:t>3. Accesibilidad (a11y)</a:t>
            </a:r>
            <a:endParaRPr b="0" lang="es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US" sz="950" spc="-1" strike="noStrike">
                <a:solidFill>
                  <a:srgbClr val="1e293b"/>
                </a:solidFill>
                <a:latin typeface="Nunito Sans"/>
                <a:ea typeface="Nunito Sans"/>
              </a:rPr>
              <a:t>Inclusión &amp; Usabilidad</a:t>
            </a:r>
            <a:endParaRPr b="0" lang="es-US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s-US" sz="900" spc="-1" strike="noStrike">
                <a:solidFill>
                  <a:srgbClr val="475569"/>
                </a:solidFill>
                <a:latin typeface="Nunito Sans"/>
                <a:ea typeface="Nunito Sans"/>
              </a:rPr>
              <a:t>Evaluación WCAG 2.2 para garantizar inclusión y usabilidad en desktop y móvil.</a:t>
            </a:r>
            <a:endParaRPr b="0" lang="es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Google Shape;123;g3fb940bf621_2_1792"/>
          <p:cNvSpPr/>
          <p:nvPr/>
        </p:nvSpPr>
        <p:spPr>
          <a:xfrm>
            <a:off x="7428960" y="4835880"/>
            <a:ext cx="1530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1200" bIns="612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US" sz="800" spc="-1" strike="noStrike">
                <a:solidFill>
                  <a:srgbClr val="4b86fe"/>
                </a:solidFill>
                <a:latin typeface="IBM Plex Sans"/>
                <a:ea typeface="IBM Plex Sans"/>
              </a:rPr>
              <a:t>t2ó México</a:t>
            </a:r>
            <a:endParaRPr b="0" lang="es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Google Shape;124;g3fb940bf621_2_1792"/>
          <p:cNvSpPr/>
          <p:nvPr/>
        </p:nvSpPr>
        <p:spPr>
          <a:xfrm>
            <a:off x="8756640" y="4280040"/>
            <a:ext cx="786960" cy="786960"/>
          </a:xfrm>
          <a:prstGeom prst="blockArc">
            <a:avLst>
              <a:gd name="adj1" fmla="val 10800000"/>
              <a:gd name="adj2" fmla="val 16200346"/>
              <a:gd name="adj3" fmla="val 25523"/>
            </a:avLst>
          </a:prstGeom>
          <a:solidFill>
            <a:srgbClr val="4b8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Google Shape;125;g3fb940bf621_2_1792"/>
          <p:cNvSpPr/>
          <p:nvPr/>
        </p:nvSpPr>
        <p:spPr>
          <a:xfrm rot="10800000">
            <a:off x="8172360" y="4280400"/>
            <a:ext cx="786960" cy="786960"/>
          </a:xfrm>
          <a:prstGeom prst="blockArc">
            <a:avLst>
              <a:gd name="adj1" fmla="val 10800000"/>
              <a:gd name="adj2" fmla="val 16200346"/>
              <a:gd name="adj3" fmla="val 25523"/>
            </a:avLst>
          </a:prstGeom>
          <a:solidFill>
            <a:srgbClr val="4b86fe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130;p4"/>
          <p:cNvSpPr/>
          <p:nvPr/>
        </p:nvSpPr>
        <p:spPr>
          <a:xfrm>
            <a:off x="457200" y="247680"/>
            <a:ext cx="8229240" cy="62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900" spc="-1" strike="noStrike">
                <a:solidFill>
                  <a:srgbClr val="34d399"/>
                </a:solidFill>
                <a:latin typeface="Nunito Sans ExtraBold"/>
                <a:ea typeface="Nunito Sans ExtraBold"/>
              </a:rPr>
              <a:t>SÍNTESIS EJECUTIVA</a:t>
            </a:r>
            <a:endParaRPr b="0" lang="es-US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tabLst>
                <a:tab algn="l" pos="0"/>
              </a:tabLst>
            </a:pPr>
            <a:r>
              <a:rPr b="0" lang="es-US" sz="2000" spc="-1" strike="noStrike">
                <a:solidFill>
                  <a:schemeClr val="dk1"/>
                </a:solidFill>
                <a:latin typeface="Nunito Sans ExtraBold"/>
                <a:ea typeface="Nunito Sans ExtraBold"/>
              </a:rPr>
              <a:t>5 conclusiones críticas sobre el estado actual del sitio</a:t>
            </a:r>
            <a:endParaRPr b="0" lang="es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tabLst>
                <a:tab algn="l" pos="0"/>
              </a:tabLst>
            </a:pPr>
            <a:r>
              <a:rPr b="0" lang="es-US" sz="950" spc="-1" strike="noStrike">
                <a:solidFill>
                  <a:srgbClr val="8154f0"/>
                </a:solidFill>
                <a:latin typeface="Nunito Sans"/>
                <a:ea typeface="Nunito Sans"/>
              </a:rPr>
              <a:t>Los hallazgos de mayor impacto que definen la viabilidad comercial y legal del embudo.</a:t>
            </a:r>
            <a:endParaRPr b="0" lang="es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Google Shape;131;p4"/>
          <p:cNvSpPr/>
          <p:nvPr/>
        </p:nvSpPr>
        <p:spPr>
          <a:xfrm>
            <a:off x="457200" y="1104840"/>
            <a:ext cx="8229240" cy="647280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Google Shape;132;p4"/>
          <p:cNvSpPr/>
          <p:nvPr/>
        </p:nvSpPr>
        <p:spPr>
          <a:xfrm>
            <a:off x="571680" y="1162800"/>
            <a:ext cx="41868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US" sz="1500" spc="-1" strike="noStrike">
                <a:solidFill>
                  <a:srgbClr val="6a3ee8"/>
                </a:solidFill>
                <a:latin typeface="Nunito Sans ExtraBold"/>
                <a:ea typeface="Nunito Sans ExtraBold"/>
              </a:rPr>
              <a:t>01</a:t>
            </a:r>
            <a:endParaRPr b="0" lang="es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Google Shape;133;p4"/>
          <p:cNvSpPr/>
          <p:nvPr/>
        </p:nvSpPr>
        <p:spPr>
          <a:xfrm>
            <a:off x="1085760" y="1162440"/>
            <a:ext cx="742932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US" sz="1050" spc="-1" strike="noStrike">
                <a:solidFill>
                  <a:srgbClr val="0f172a"/>
                </a:solidFill>
                <a:latin typeface="Nunito Sans"/>
                <a:ea typeface="Nunito Sans"/>
              </a:rPr>
              <a:t>Consentimiento inexistente en el formulario</a:t>
            </a:r>
            <a:endParaRPr b="0" lang="es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Google Shape;134;p4"/>
          <p:cNvSpPr/>
          <p:nvPr/>
        </p:nvSpPr>
        <p:spPr>
          <a:xfrm>
            <a:off x="1085760" y="1371600"/>
            <a:ext cx="742932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La casilla que autoriza el contacto por WhatsApp tiene 'display:none' (0×0 px) y no es obligatoria. El 100% de los leads se envían y contactan sin registrar consentimiento demostrable bajo LFPDPPP.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Google Shape;135;p4"/>
          <p:cNvSpPr/>
          <p:nvPr/>
        </p:nvSpPr>
        <p:spPr>
          <a:xfrm>
            <a:off x="457200" y="1828800"/>
            <a:ext cx="8229240" cy="647280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Google Shape;136;p4"/>
          <p:cNvSpPr/>
          <p:nvPr/>
        </p:nvSpPr>
        <p:spPr>
          <a:xfrm>
            <a:off x="571680" y="1886760"/>
            <a:ext cx="41868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US" sz="1500" spc="-1" strike="noStrike">
                <a:solidFill>
                  <a:srgbClr val="6a3ee8"/>
                </a:solidFill>
                <a:latin typeface="Nunito Sans ExtraBold"/>
                <a:ea typeface="Nunito Sans ExtraBold"/>
              </a:rPr>
              <a:t>02</a:t>
            </a:r>
            <a:endParaRPr b="0" lang="es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Google Shape;137;p4"/>
          <p:cNvSpPr/>
          <p:nvPr/>
        </p:nvSpPr>
        <p:spPr>
          <a:xfrm>
            <a:off x="1085760" y="1886400"/>
            <a:ext cx="742932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US" sz="1050" spc="-1" strike="noStrike">
                <a:solidFill>
                  <a:srgbClr val="0f172a"/>
                </a:solidFill>
                <a:latin typeface="Nunito Sans"/>
                <a:ea typeface="Nunito Sans"/>
              </a:rPr>
              <a:t>El embudo real tiene un Paso 2 oculto</a:t>
            </a:r>
            <a:endParaRPr b="0" lang="es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Google Shape;138;p4"/>
          <p:cNvSpPr/>
          <p:nvPr/>
        </p:nvSpPr>
        <p:spPr>
          <a:xfrm>
            <a:off x="1085760" y="2095560"/>
            <a:ext cx="742932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Tras captar 4 datos iniciales, el usuario es redirigido sin aviso a '/acreedores-homepage/' con 43 casillas de deudas nominales y compras de cartera, provocando abandono no medido.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Google Shape;139;p4"/>
          <p:cNvSpPr/>
          <p:nvPr/>
        </p:nvSpPr>
        <p:spPr>
          <a:xfrm>
            <a:off x="457200" y="2552760"/>
            <a:ext cx="8229240" cy="647280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140;p4"/>
          <p:cNvSpPr/>
          <p:nvPr/>
        </p:nvSpPr>
        <p:spPr>
          <a:xfrm>
            <a:off x="571680" y="2610720"/>
            <a:ext cx="41868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US" sz="1500" spc="-1" strike="noStrike">
                <a:solidFill>
                  <a:srgbClr val="6a3ee8"/>
                </a:solidFill>
                <a:latin typeface="Nunito Sans ExtraBold"/>
                <a:ea typeface="Nunito Sans ExtraBold"/>
              </a:rPr>
              <a:t>03</a:t>
            </a:r>
            <a:endParaRPr b="0" lang="es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Google Shape;141;p4"/>
          <p:cNvSpPr/>
          <p:nvPr/>
        </p:nvSpPr>
        <p:spPr>
          <a:xfrm>
            <a:off x="1085760" y="2610360"/>
            <a:ext cx="742932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US" sz="1050" spc="-1" strike="noStrike">
                <a:solidFill>
                  <a:srgbClr val="0f172a"/>
                </a:solidFill>
                <a:latin typeface="Nunito Sans"/>
                <a:ea typeface="Nunito Sans"/>
              </a:rPr>
              <a:t>Exposición de PII en cookies y redes de afiliados</a:t>
            </a:r>
            <a:endParaRPr b="0" lang="es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Google Shape;142;p4"/>
          <p:cNvSpPr/>
          <p:nvPr/>
        </p:nvSpPr>
        <p:spPr>
          <a:xfrm>
            <a:off x="1085760" y="2819520"/>
            <a:ext cx="742932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Cookie 'vik_user_data' almacena nombre, teléfono y deudas en JSON plano accesible por ~70 scripts de terceros. Además, la PII se envía en URLs a redes de afiliados CPL (Doaff/Keitaro).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Google Shape;143;p4"/>
          <p:cNvSpPr/>
          <p:nvPr/>
        </p:nvSpPr>
        <p:spPr>
          <a:xfrm>
            <a:off x="457200" y="3276720"/>
            <a:ext cx="8229240" cy="647280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Google Shape;144;p4"/>
          <p:cNvSpPr/>
          <p:nvPr/>
        </p:nvSpPr>
        <p:spPr>
          <a:xfrm>
            <a:off x="571680" y="3334320"/>
            <a:ext cx="41868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US" sz="1500" spc="-1" strike="noStrike">
                <a:solidFill>
                  <a:srgbClr val="6a3ee8"/>
                </a:solidFill>
                <a:latin typeface="Nunito Sans ExtraBold"/>
                <a:ea typeface="Nunito Sans ExtraBold"/>
              </a:rPr>
              <a:t>04</a:t>
            </a:r>
            <a:endParaRPr b="0" lang="es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Google Shape;145;p4"/>
          <p:cNvSpPr/>
          <p:nvPr/>
        </p:nvSpPr>
        <p:spPr>
          <a:xfrm>
            <a:off x="1085760" y="3333960"/>
            <a:ext cx="742932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US" sz="1050" spc="-1" strike="noStrike">
                <a:solidFill>
                  <a:srgbClr val="0f172a"/>
                </a:solidFill>
                <a:latin typeface="Nunito Sans"/>
                <a:ea typeface="Nunito Sans"/>
              </a:rPr>
              <a:t>Prueba social y credibilidad jurídica rotas</a:t>
            </a:r>
            <a:endParaRPr b="0" lang="es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Google Shape;146;p4"/>
          <p:cNvSpPr/>
          <p:nvPr/>
        </p:nvSpPr>
        <p:spPr>
          <a:xfrm>
            <a:off x="1085760" y="3543480"/>
            <a:ext cx="742932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La sección de testimoniales está totalmente vacía por un widget de Trustindex roto; los Términos y Condiciones corresponden a un marketplace de compraventa entre terceros ajeno a finanzas.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Google Shape;147;p4"/>
          <p:cNvSpPr/>
          <p:nvPr/>
        </p:nvSpPr>
        <p:spPr>
          <a:xfrm>
            <a:off x="457200" y="4000680"/>
            <a:ext cx="8229240" cy="647280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Google Shape;148;p4"/>
          <p:cNvSpPr/>
          <p:nvPr/>
        </p:nvSpPr>
        <p:spPr>
          <a:xfrm>
            <a:off x="571680" y="4058280"/>
            <a:ext cx="41868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US" sz="1500" spc="-1" strike="noStrike">
                <a:solidFill>
                  <a:srgbClr val="6a3ee8"/>
                </a:solidFill>
                <a:latin typeface="Nunito Sans ExtraBold"/>
                <a:ea typeface="Nunito Sans ExtraBold"/>
              </a:rPr>
              <a:t>05</a:t>
            </a:r>
            <a:endParaRPr b="0" lang="es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Google Shape;149;p4"/>
          <p:cNvSpPr/>
          <p:nvPr/>
        </p:nvSpPr>
        <p:spPr>
          <a:xfrm>
            <a:off x="1085760" y="4057920"/>
            <a:ext cx="742932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US" sz="1050" spc="-1" strike="noStrike">
                <a:solidFill>
                  <a:srgbClr val="0f172a"/>
                </a:solidFill>
                <a:latin typeface="Nunito Sans"/>
                <a:ea typeface="Nunito Sans"/>
              </a:rPr>
              <a:t>Barreras severas de accesibilidad y foco</a:t>
            </a:r>
            <a:endParaRPr b="0" lang="es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Google Shape;150;p4"/>
          <p:cNvSpPr/>
          <p:nvPr/>
        </p:nvSpPr>
        <p:spPr>
          <a:xfrm>
            <a:off x="1085760" y="4267080"/>
            <a:ext cx="742932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7 violaciones normativas axe-core (select sin label); tabulación de teclado invertida que enfoca el formulario antes del menú, y 36 de 39 controles interactivos sin foco visual.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Google Shape;151;p4"/>
          <p:cNvSpPr/>
          <p:nvPr/>
        </p:nvSpPr>
        <p:spPr>
          <a:xfrm>
            <a:off x="7428960" y="4835880"/>
            <a:ext cx="1530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1200" bIns="612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US" sz="800" spc="-1" strike="noStrike">
                <a:solidFill>
                  <a:srgbClr val="4b86fe"/>
                </a:solidFill>
                <a:latin typeface="IBM Plex Sans"/>
                <a:ea typeface="IBM Plex Sans"/>
              </a:rPr>
              <a:t>t2ó México</a:t>
            </a:r>
            <a:endParaRPr b="0" lang="es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Google Shape;152;p4"/>
          <p:cNvSpPr/>
          <p:nvPr/>
        </p:nvSpPr>
        <p:spPr>
          <a:xfrm>
            <a:off x="8756640" y="4280040"/>
            <a:ext cx="786960" cy="786960"/>
          </a:xfrm>
          <a:prstGeom prst="blockArc">
            <a:avLst>
              <a:gd name="adj1" fmla="val 10800000"/>
              <a:gd name="adj2" fmla="val 16200346"/>
              <a:gd name="adj3" fmla="val 25523"/>
            </a:avLst>
          </a:prstGeom>
          <a:solidFill>
            <a:srgbClr val="4b8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Google Shape;153;p4"/>
          <p:cNvSpPr/>
          <p:nvPr/>
        </p:nvSpPr>
        <p:spPr>
          <a:xfrm rot="10800000">
            <a:off x="8172360" y="4280400"/>
            <a:ext cx="786960" cy="786960"/>
          </a:xfrm>
          <a:prstGeom prst="blockArc">
            <a:avLst>
              <a:gd name="adj1" fmla="val 10800000"/>
              <a:gd name="adj2" fmla="val 16200346"/>
              <a:gd name="adj3" fmla="val 25523"/>
            </a:avLst>
          </a:prstGeom>
          <a:solidFill>
            <a:srgbClr val="4b86fe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65;p6"/>
          <p:cNvSpPr/>
          <p:nvPr/>
        </p:nvSpPr>
        <p:spPr>
          <a:xfrm>
            <a:off x="457200" y="247680"/>
            <a:ext cx="8229240" cy="63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900" spc="-1" strike="noStrike">
                <a:solidFill>
                  <a:srgbClr val="059669"/>
                </a:solidFill>
                <a:latin typeface="Nunito Sans ExtraBold"/>
                <a:ea typeface="Nunito Sans ExtraBold"/>
              </a:rPr>
              <a:t>EL EMBUDO DE CONVERSIÓN</a:t>
            </a:r>
            <a:endParaRPr b="0" lang="es-US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tabLst>
                <a:tab algn="l" pos="0"/>
              </a:tabLst>
            </a:pPr>
            <a:r>
              <a:rPr b="0" lang="es-US" sz="2000" spc="-1" strike="noStrike">
                <a:solidFill>
                  <a:srgbClr val="0f172a"/>
                </a:solidFill>
                <a:latin typeface="Nunito Sans ExtraBold"/>
                <a:ea typeface="Nunito Sans ExtraBold"/>
              </a:rPr>
              <a:t>El embudo real: 2 pasos y el segundo estaba oculto</a:t>
            </a:r>
            <a:endParaRPr b="0" lang="es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24"/>
              </a:spcBef>
              <a:tabLst>
                <a:tab algn="l" pos="0"/>
              </a:tabLst>
            </a:pPr>
            <a:r>
              <a:rPr b="0" lang="es-US" sz="950" spc="-1" strike="noStrike">
                <a:solidFill>
                  <a:srgbClr val="8154f0"/>
                </a:solidFill>
                <a:latin typeface="Nunito Sans"/>
                <a:ea typeface="Nunito Sans"/>
              </a:rPr>
              <a:t>El usuario cree completar un contacto rápido y es redirigido a un inventario exhaustivo de acreedores.</a:t>
            </a:r>
            <a:endParaRPr b="0" lang="es-US" sz="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1" name="Google Shape;166;p6" descr=""/>
          <p:cNvPicPr/>
          <p:nvPr/>
        </p:nvPicPr>
        <p:blipFill>
          <a:blip r:embed="rId2"/>
          <a:srcRect l="39" t="0" r="39" b="0"/>
          <a:stretch/>
        </p:blipFill>
        <p:spPr>
          <a:xfrm>
            <a:off x="457200" y="1162080"/>
            <a:ext cx="4190760" cy="2457360"/>
          </a:xfrm>
          <a:prstGeom prst="rect">
            <a:avLst/>
          </a:prstGeom>
          <a:ln w="0">
            <a:noFill/>
          </a:ln>
        </p:spPr>
      </p:pic>
      <p:sp>
        <p:nvSpPr>
          <p:cNvPr id="122" name="Google Shape;167;p6"/>
          <p:cNvSpPr/>
          <p:nvPr/>
        </p:nvSpPr>
        <p:spPr>
          <a:xfrm>
            <a:off x="4800600" y="1143000"/>
            <a:ext cx="3885840" cy="3476520"/>
          </a:xfrm>
          <a:prstGeom prst="roundRect">
            <a:avLst>
              <a:gd name="adj" fmla="val 3287"/>
            </a:avLst>
          </a:prstGeom>
          <a:solidFill>
            <a:srgbClr val="f8fafc"/>
          </a:solidFill>
          <a:ln w="143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Google Shape;168;p6"/>
          <p:cNvSpPr/>
          <p:nvPr/>
        </p:nvSpPr>
        <p:spPr>
          <a:xfrm>
            <a:off x="4971960" y="1276200"/>
            <a:ext cx="3543120" cy="22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1050" spc="-1" strike="noStrike">
                <a:solidFill>
                  <a:srgbClr val="6a3ee8"/>
                </a:solidFill>
                <a:latin typeface="Nunito Sans ExtraBold"/>
                <a:ea typeface="Nunito Sans ExtraBold"/>
              </a:rPr>
              <a:t>ANATOMÍA DE LA FRICCIÓN</a:t>
            </a:r>
            <a:endParaRPr b="0" lang="es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5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Paso 1 (Home):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Capta 4 datos personales bajo la apariencia de una consulta rápida sin compromiso.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Paso 2 (/acreedores-homepage/):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Redirección inmediata sin aviso previo. Exige seleccionar entre 43 casillas de bancos, fintechs y compras de cartera.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Escalada de sensibilidad: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Pasa de un rango aproximado de ingresos a una radiografía patrimonial completa de quién le está cobrando.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Sin progreso ni salida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No indica 'Paso 2 de 2', no tiene buscador y obliga a un scroll móvil de 2,931 px (~3.5 pantallas).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Vulnerabilidad de enlace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La relación depende de la cookie 'vik_user_data'. En modo incógnito o si se borran cookies, el paso 2 se desvincula en silencio.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Google Shape;169;p6"/>
          <p:cNvSpPr/>
          <p:nvPr/>
        </p:nvSpPr>
        <p:spPr>
          <a:xfrm>
            <a:off x="7428960" y="4835880"/>
            <a:ext cx="1530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1200" bIns="612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US" sz="800" spc="-1" strike="noStrike">
                <a:solidFill>
                  <a:srgbClr val="4b86fe"/>
                </a:solidFill>
                <a:latin typeface="IBM Plex Sans"/>
                <a:ea typeface="IBM Plex Sans"/>
              </a:rPr>
              <a:t>t2ó México</a:t>
            </a:r>
            <a:endParaRPr b="0" lang="es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Google Shape;170;p6"/>
          <p:cNvSpPr/>
          <p:nvPr/>
        </p:nvSpPr>
        <p:spPr>
          <a:xfrm>
            <a:off x="8756640" y="4280040"/>
            <a:ext cx="786960" cy="786960"/>
          </a:xfrm>
          <a:prstGeom prst="blockArc">
            <a:avLst>
              <a:gd name="adj1" fmla="val 10800000"/>
              <a:gd name="adj2" fmla="val 16200346"/>
              <a:gd name="adj3" fmla="val 25523"/>
            </a:avLst>
          </a:prstGeom>
          <a:solidFill>
            <a:srgbClr val="4b8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Google Shape;171;p6"/>
          <p:cNvSpPr/>
          <p:nvPr/>
        </p:nvSpPr>
        <p:spPr>
          <a:xfrm rot="10800000">
            <a:off x="8172360" y="4280400"/>
            <a:ext cx="786960" cy="786960"/>
          </a:xfrm>
          <a:prstGeom prst="blockArc">
            <a:avLst>
              <a:gd name="adj1" fmla="val 10800000"/>
              <a:gd name="adj2" fmla="val 16200346"/>
              <a:gd name="adj3" fmla="val 25523"/>
            </a:avLst>
          </a:prstGeom>
          <a:solidFill>
            <a:srgbClr val="4b86fe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87;p8"/>
          <p:cNvSpPr/>
          <p:nvPr/>
        </p:nvSpPr>
        <p:spPr>
          <a:xfrm>
            <a:off x="457200" y="266760"/>
            <a:ext cx="8229240" cy="6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900" spc="-1" strike="noStrike">
                <a:solidFill>
                  <a:srgbClr val="059669"/>
                </a:solidFill>
                <a:latin typeface="Nunito Sans ExtraBold"/>
                <a:ea typeface="Nunito Sans ExtraBold"/>
              </a:rPr>
              <a:t>FORMULARIO &amp; CAPTACIÓN</a:t>
            </a:r>
            <a:endParaRPr b="0" lang="es-US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s-US" sz="1800" spc="-1" strike="noStrike">
                <a:solidFill>
                  <a:srgbClr val="0f172a"/>
                </a:solidFill>
                <a:latin typeface="Nunito Sans ExtraBold"/>
                <a:ea typeface="Nunito Sans ExtraBold"/>
              </a:rPr>
              <a:t>4 campos obligatorios sin contexto ni aviso contiguo</a:t>
            </a:r>
            <a:endParaRPr b="0" lang="es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s-US" sz="950" spc="-1" strike="noStrike">
                <a:solidFill>
                  <a:srgbClr val="6366f1"/>
                </a:solidFill>
                <a:latin typeface="Nunito Sans SemiBold"/>
                <a:ea typeface="Nunito Sans SemiBold"/>
              </a:rPr>
              <a:t>Discrepancia entre la hipótesis preliminar de 1 campo y la recolección real en pantalla.</a:t>
            </a:r>
            <a:endParaRPr b="0" lang="es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Google Shape;188;p8"/>
          <p:cNvSpPr/>
          <p:nvPr/>
        </p:nvSpPr>
        <p:spPr>
          <a:xfrm>
            <a:off x="457200" y="1200240"/>
            <a:ext cx="2614680" cy="3382920"/>
          </a:xfrm>
          <a:prstGeom prst="roundRect">
            <a:avLst>
              <a:gd name="adj" fmla="val 5827"/>
            </a:avLst>
          </a:prstGeom>
          <a:solidFill>
            <a:srgbClr val="f8fafc"/>
          </a:solidFill>
          <a:ln w="143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Google Shape;189;p8"/>
          <p:cNvSpPr/>
          <p:nvPr/>
        </p:nvSpPr>
        <p:spPr>
          <a:xfrm>
            <a:off x="590400" y="1352520"/>
            <a:ext cx="2342880" cy="19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1050" spc="-1" strike="noStrike">
                <a:solidFill>
                  <a:srgbClr val="6a3ee8"/>
                </a:solidFill>
                <a:latin typeface="Nunito Sans ExtraBold"/>
                <a:ea typeface="Nunito Sans ExtraBold"/>
              </a:rPr>
              <a:t>INPUT / CAPTURA REAL</a:t>
            </a:r>
            <a:endParaRPr b="0" lang="es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Nombre completo (*):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Campo de texto obligatorio.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Correo electrónico (*):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Obligatorio (propósito no aclarado si el contacto es vía WhatsApp).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WhatsApp (+52) (*):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Obligatorio con prefijo telefónico fijo.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Rango aproximado (*):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Selector con 6 rangos de ingresos mensuales ($0-$20k hasta &gt;$250k).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Google Shape;190;p8"/>
          <p:cNvSpPr/>
          <p:nvPr/>
        </p:nvSpPr>
        <p:spPr>
          <a:xfrm>
            <a:off x="3264480" y="1200240"/>
            <a:ext cx="2614680" cy="3382920"/>
          </a:xfrm>
          <a:prstGeom prst="roundRect">
            <a:avLst>
              <a:gd name="adj" fmla="val 5827"/>
            </a:avLst>
          </a:prstGeom>
          <a:solidFill>
            <a:srgbClr val="f8fafc"/>
          </a:solidFill>
          <a:ln w="143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Google Shape;191;p8"/>
          <p:cNvSpPr/>
          <p:nvPr/>
        </p:nvSpPr>
        <p:spPr>
          <a:xfrm>
            <a:off x="3397680" y="1352520"/>
            <a:ext cx="2342880" cy="18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1050" spc="-1" strike="noStrike">
                <a:solidFill>
                  <a:srgbClr val="6a3ee8"/>
                </a:solidFill>
                <a:latin typeface="Nunito Sans ExtraBold"/>
                <a:ea typeface="Nunito Sans ExtraBold"/>
              </a:rPr>
              <a:t>DEFECTOS DE USABILIDAD &amp; A11Y</a:t>
            </a:r>
            <a:endParaRPr b="0" lang="es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Violación axe select-name: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El elemento &lt;select id='amount'&gt; no tiene etiqueta &lt;label&gt; ni aria-label.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Aviso de privacidad ausente: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Ningún enlace contiguo al formulario (UX-004); solo en el footer a &gt;2,000 px.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Temor en público endeudado: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El usuario asume riesgo de ser exhibido en su empleo si entrega correo sin garantías.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Google Shape;192;p8"/>
          <p:cNvSpPr/>
          <p:nvPr/>
        </p:nvSpPr>
        <p:spPr>
          <a:xfrm>
            <a:off x="6071760" y="1200240"/>
            <a:ext cx="2614680" cy="3382920"/>
          </a:xfrm>
          <a:prstGeom prst="roundRect">
            <a:avLst>
              <a:gd name="adj" fmla="val 5827"/>
            </a:avLst>
          </a:prstGeom>
          <a:solidFill>
            <a:srgbClr val="f8fafc"/>
          </a:solidFill>
          <a:ln w="143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Google Shape;193;p8"/>
          <p:cNvSpPr/>
          <p:nvPr/>
        </p:nvSpPr>
        <p:spPr>
          <a:xfrm>
            <a:off x="6204960" y="1352520"/>
            <a:ext cx="2342880" cy="18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1050" spc="-1" strike="noStrike">
                <a:solidFill>
                  <a:srgbClr val="6a3ee8"/>
                </a:solidFill>
                <a:latin typeface="Nunito Sans ExtraBold"/>
                <a:ea typeface="Nunito Sans ExtraBold"/>
              </a:rPr>
              <a:t>POR QUÉ FUNCIONA EL REDISEÑO</a:t>
            </a:r>
            <a:endParaRPr b="0" lang="es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Reducción de fricción: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Hacer opcional el correo y justificar la necesidad del rango de ingresos eleva la conversión.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Aviso simplificado visible: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Mostrar 'Tus datos están protegidos bajo nuestro Aviso de Privacidad' genera certidumbre.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Labels semánticos accesibles: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Permiten que tecnologías de asistencia identifiquen cada campo sin ambigüedad.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Google Shape;194;p8"/>
          <p:cNvSpPr/>
          <p:nvPr/>
        </p:nvSpPr>
        <p:spPr>
          <a:xfrm>
            <a:off x="7428960" y="4835880"/>
            <a:ext cx="1530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1200" bIns="612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US" sz="800" spc="-1" strike="noStrike">
                <a:solidFill>
                  <a:srgbClr val="4b86fe"/>
                </a:solidFill>
                <a:latin typeface="IBM Plex Sans"/>
                <a:ea typeface="IBM Plex Sans"/>
              </a:rPr>
              <a:t>t2ó México</a:t>
            </a:r>
            <a:endParaRPr b="0" lang="es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Google Shape;195;p8"/>
          <p:cNvSpPr/>
          <p:nvPr/>
        </p:nvSpPr>
        <p:spPr>
          <a:xfrm>
            <a:off x="8756640" y="4280040"/>
            <a:ext cx="786960" cy="786960"/>
          </a:xfrm>
          <a:prstGeom prst="blockArc">
            <a:avLst>
              <a:gd name="adj1" fmla="val 10800000"/>
              <a:gd name="adj2" fmla="val 16200346"/>
              <a:gd name="adj3" fmla="val 25523"/>
            </a:avLst>
          </a:prstGeom>
          <a:solidFill>
            <a:srgbClr val="4b8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Google Shape;196;p8"/>
          <p:cNvSpPr/>
          <p:nvPr/>
        </p:nvSpPr>
        <p:spPr>
          <a:xfrm rot="10800000">
            <a:off x="8172360" y="4280400"/>
            <a:ext cx="786960" cy="786960"/>
          </a:xfrm>
          <a:prstGeom prst="blockArc">
            <a:avLst>
              <a:gd name="adj1" fmla="val 10800000"/>
              <a:gd name="adj2" fmla="val 16200346"/>
              <a:gd name="adj3" fmla="val 25523"/>
            </a:avLst>
          </a:prstGeom>
          <a:solidFill>
            <a:srgbClr val="4b86fe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201;p9"/>
          <p:cNvSpPr/>
          <p:nvPr/>
        </p:nvSpPr>
        <p:spPr>
          <a:xfrm>
            <a:off x="457200" y="266760"/>
            <a:ext cx="8229240" cy="60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900" spc="-1" strike="noStrike">
                <a:solidFill>
                  <a:srgbClr val="059669"/>
                </a:solidFill>
                <a:latin typeface="Nunito Sans ExtraBold"/>
                <a:ea typeface="Nunito Sans ExtraBold"/>
              </a:rPr>
              <a:t>CONFIANZA &amp; PRUEBA SOCIAL</a:t>
            </a:r>
            <a:endParaRPr b="0" lang="es-US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s-US" sz="1700" spc="-1" strike="noStrike">
                <a:solidFill>
                  <a:srgbClr val="0f172a"/>
                </a:solidFill>
                <a:latin typeface="Nunito Sans ExtraBold"/>
                <a:ea typeface="Nunito Sans ExtraBold"/>
              </a:rPr>
              <a:t>Prueba social vacía: testimoniales rotos e insignia sin link</a:t>
            </a:r>
            <a:endParaRPr b="0" lang="es-US" sz="17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s-US" sz="950" spc="-1" strike="noStrike">
                <a:solidFill>
                  <a:srgbClr val="6366f1"/>
                </a:solidFill>
                <a:latin typeface="Nunito Sans SemiBold"/>
                <a:ea typeface="Nunito Sans SemiBold"/>
              </a:rPr>
              <a:t>En servicios de reparación de deuda, la prueba social es el factor #1 para vencer el escepticismo.</a:t>
            </a:r>
            <a:endParaRPr b="0" lang="es-US" sz="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8" name="Google Shape;202;p9" descr=""/>
          <p:cNvPicPr/>
          <p:nvPr/>
        </p:nvPicPr>
        <p:blipFill>
          <a:blip r:embed="rId2"/>
          <a:stretch/>
        </p:blipFill>
        <p:spPr>
          <a:xfrm>
            <a:off x="731520" y="1234440"/>
            <a:ext cx="1730520" cy="3348720"/>
          </a:xfrm>
          <a:prstGeom prst="rect">
            <a:avLst/>
          </a:prstGeom>
          <a:ln w="0">
            <a:noFill/>
          </a:ln>
        </p:spPr>
      </p:pic>
      <p:sp>
        <p:nvSpPr>
          <p:cNvPr id="139" name="Google Shape;203;p9"/>
          <p:cNvSpPr/>
          <p:nvPr/>
        </p:nvSpPr>
        <p:spPr>
          <a:xfrm>
            <a:off x="3108960" y="1200240"/>
            <a:ext cx="5577480" cy="3382920"/>
          </a:xfrm>
          <a:prstGeom prst="roundRect">
            <a:avLst>
              <a:gd name="adj" fmla="val 3378"/>
            </a:avLst>
          </a:prstGeom>
          <a:solidFill>
            <a:srgbClr val="f8fafc"/>
          </a:solidFill>
          <a:ln w="143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Google Shape;204;p9"/>
          <p:cNvSpPr/>
          <p:nvPr/>
        </p:nvSpPr>
        <p:spPr>
          <a:xfrm>
            <a:off x="3291840" y="1333440"/>
            <a:ext cx="5211720" cy="23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1050" spc="-1" strike="noStrike">
                <a:solidFill>
                  <a:srgbClr val="6a3ee8"/>
                </a:solidFill>
                <a:latin typeface="Nunito Sans ExtraBold"/>
                <a:ea typeface="Nunito Sans ExtraBold"/>
              </a:rPr>
              <a:t>DIAGNÓSTICO DE CREDIBILIDAD</a:t>
            </a:r>
            <a:endParaRPr b="0" lang="es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Sección de testimoniales desierta: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El bloque '#testimoniales' promete '¡Nuestros clientes no dejan de hablar de nosotros!'. Sin embargo, el script de Trustindex falla con errores 404 e inyecta un simple &lt;div&gt;&lt;/div&gt; vacío. El visitante solo ve un fondo azul sin reseñas.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Insignia de Google sin verificar: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En el Hero se muestra un badge que dice 'Google ★★★★★ 4910 reseñas &gt;'. La inspección confirmó que tiene href: null; no es interactivo ni conduce a Google Maps o Google Business Profile.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Badges de Trustindex en footer: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Insignias de 'SSL Seguro' y 'Certificado Seguro' sin hipervínculos de validación criptográfica.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Impacto psicológico en el lead: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Un usuario con estrés financiero busca testimonios de personas reales con montos de quita comprobables. Un bloque roto genera sospecha inmediata de estafa o abandono.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Recomendación inmediata: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Reparar el widget de Trustindex o implementar un carrusel estático con casos de éxito reales (nombre de pila, deuda inicial, ahorro logrado y tiempo de resolución).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Google Shape;205;p9"/>
          <p:cNvSpPr/>
          <p:nvPr/>
        </p:nvSpPr>
        <p:spPr>
          <a:xfrm>
            <a:off x="7428960" y="4835880"/>
            <a:ext cx="1530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1200" bIns="612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US" sz="800" spc="-1" strike="noStrike">
                <a:solidFill>
                  <a:srgbClr val="4b86fe"/>
                </a:solidFill>
                <a:latin typeface="IBM Plex Sans"/>
                <a:ea typeface="IBM Plex Sans"/>
              </a:rPr>
              <a:t>t2ó México</a:t>
            </a:r>
            <a:endParaRPr b="0" lang="es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Google Shape;206;p9"/>
          <p:cNvSpPr/>
          <p:nvPr/>
        </p:nvSpPr>
        <p:spPr>
          <a:xfrm>
            <a:off x="8756640" y="4280040"/>
            <a:ext cx="786960" cy="786960"/>
          </a:xfrm>
          <a:prstGeom prst="blockArc">
            <a:avLst>
              <a:gd name="adj1" fmla="val 10800000"/>
              <a:gd name="adj2" fmla="val 16200346"/>
              <a:gd name="adj3" fmla="val 25523"/>
            </a:avLst>
          </a:prstGeom>
          <a:solidFill>
            <a:srgbClr val="4b8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Google Shape;207;p9"/>
          <p:cNvSpPr/>
          <p:nvPr/>
        </p:nvSpPr>
        <p:spPr>
          <a:xfrm rot="10800000">
            <a:off x="8172360" y="4280400"/>
            <a:ext cx="786960" cy="786960"/>
          </a:xfrm>
          <a:prstGeom prst="blockArc">
            <a:avLst>
              <a:gd name="adj1" fmla="val 10800000"/>
              <a:gd name="adj2" fmla="val 16200346"/>
              <a:gd name="adj3" fmla="val 25523"/>
            </a:avLst>
          </a:prstGeom>
          <a:solidFill>
            <a:srgbClr val="4b86fe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212;p10"/>
          <p:cNvSpPr/>
          <p:nvPr/>
        </p:nvSpPr>
        <p:spPr>
          <a:xfrm>
            <a:off x="457200" y="266760"/>
            <a:ext cx="822924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850" spc="-1" strike="noStrike">
                <a:solidFill>
                  <a:srgbClr val="059669"/>
                </a:solidFill>
                <a:latin typeface="Nunito Sans ExtraBold"/>
                <a:ea typeface="Nunito Sans ExtraBold"/>
              </a:rPr>
              <a:t>PROPUESTA DE VALOR &amp; TRANSPARENCIA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s-US" sz="1700" spc="-1" strike="noStrike">
                <a:solidFill>
                  <a:srgbClr val="0f172a"/>
                </a:solidFill>
                <a:latin typeface="Nunito Sans ExtraBold"/>
                <a:ea typeface="Nunito Sans ExtraBold"/>
              </a:rPr>
              <a:t>Promesa agresiva en Hero vs. Servicio educativo en FAQ</a:t>
            </a:r>
            <a:endParaRPr b="0" lang="es-US" sz="17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s-US" sz="950" spc="-1" strike="noStrike">
                <a:solidFill>
                  <a:srgbClr val="6366f1"/>
                </a:solidFill>
                <a:latin typeface="Nunito Sans SemiBold"/>
                <a:ea typeface="Nunito Sans SemiBold"/>
              </a:rPr>
              <a:t>Disparidad de expectativas y ausencia de precios orientativos antes de capturar el contacto.</a:t>
            </a:r>
            <a:endParaRPr b="0" lang="es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Google Shape;213;p10"/>
          <p:cNvSpPr/>
          <p:nvPr/>
        </p:nvSpPr>
        <p:spPr>
          <a:xfrm>
            <a:off x="457200" y="1200240"/>
            <a:ext cx="3977280" cy="3382920"/>
          </a:xfrm>
          <a:prstGeom prst="roundRect">
            <a:avLst>
              <a:gd name="adj" fmla="val 4504"/>
            </a:avLst>
          </a:prstGeom>
          <a:solidFill>
            <a:srgbClr val="f8fafc"/>
          </a:solidFill>
          <a:ln w="143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Google Shape;214;p10"/>
          <p:cNvSpPr/>
          <p:nvPr/>
        </p:nvSpPr>
        <p:spPr>
          <a:xfrm>
            <a:off x="609480" y="1333440"/>
            <a:ext cx="3672720" cy="18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1000" spc="-1" strike="noStrike">
                <a:solidFill>
                  <a:srgbClr val="6a3ee8"/>
                </a:solidFill>
                <a:latin typeface="Nunito Sans ExtraBold"/>
                <a:ea typeface="Nunito Sans ExtraBold"/>
              </a:rPr>
              <a:t>LA PROMESA EN EL HERO</a:t>
            </a:r>
            <a:endParaRPr b="0" lang="es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Titular emocional llamativo: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'Pagar menos al mes para olvidarse del estrés. ¡La educación financiera es todo!'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Expectativa generada: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El visitante infiere una reducción directa, reestructura con quita o refinanciamiento de sus mensualidades.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La realidad en FAQ: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En '¿Qué hacemos?' se define únicamente como 'educación y herramientas para organizar su panorama y tomar decisiones informadas'.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Riesgo de frustración: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Si el servicio es reparación de crédito mediante negociación de quitas, debe explicarse con claridad. Disfrazarlo de educación confunde al prospecto.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Google Shape;215;p10"/>
          <p:cNvSpPr/>
          <p:nvPr/>
        </p:nvSpPr>
        <p:spPr>
          <a:xfrm>
            <a:off x="4709160" y="1200240"/>
            <a:ext cx="3977280" cy="3382920"/>
          </a:xfrm>
          <a:prstGeom prst="roundRect">
            <a:avLst>
              <a:gd name="adj" fmla="val 4504"/>
            </a:avLst>
          </a:prstGeom>
          <a:solidFill>
            <a:srgbClr val="f8fafc"/>
          </a:solidFill>
          <a:ln w="143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Google Shape;216;p10"/>
          <p:cNvSpPr/>
          <p:nvPr/>
        </p:nvSpPr>
        <p:spPr>
          <a:xfrm>
            <a:off x="4861440" y="1333440"/>
            <a:ext cx="3672720" cy="20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1000" spc="-1" strike="noStrike">
                <a:solidFill>
                  <a:srgbClr val="6a3ee8"/>
                </a:solidFill>
                <a:latin typeface="Nunito Sans ExtraBold"/>
                <a:ea typeface="Nunito Sans ExtraBold"/>
              </a:rPr>
              <a:t>OPACIDAD EN COSTOS</a:t>
            </a:r>
            <a:endParaRPr b="0" lang="es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Sin precios ni rangos publicados: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La respuesta en FAQ afirma que 'los costos pueden variar según el perfil y los servicios que se elijan'.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Asesoría inicial gratuita: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Se declara sin costo, pero no se informa el esquema posterior (¿comisión sobre monto ahorrado? ¿cuota fija mensual?).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Fricción comercial innecesaria: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Obliga a una conversación por WhatsApp para conocer si el servicio es asequible, provocando abandono tardío del lead calificado.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Recomendación: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Publicar esquema orientativo de honorarios (ej. 'Cobramos un % únicamente sobre el descuento negociado') para precalificar prospectos.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Google Shape;217;p10"/>
          <p:cNvSpPr/>
          <p:nvPr/>
        </p:nvSpPr>
        <p:spPr>
          <a:xfrm>
            <a:off x="7428960" y="4835880"/>
            <a:ext cx="1530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1200" bIns="612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US" sz="800" spc="-1" strike="noStrike">
                <a:solidFill>
                  <a:srgbClr val="4b86fe"/>
                </a:solidFill>
                <a:latin typeface="IBM Plex Sans"/>
                <a:ea typeface="IBM Plex Sans"/>
              </a:rPr>
              <a:t>t2ó México</a:t>
            </a:r>
            <a:endParaRPr b="0" lang="es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Google Shape;218;p10"/>
          <p:cNvSpPr/>
          <p:nvPr/>
        </p:nvSpPr>
        <p:spPr>
          <a:xfrm>
            <a:off x="8756640" y="4280040"/>
            <a:ext cx="786960" cy="786960"/>
          </a:xfrm>
          <a:prstGeom prst="blockArc">
            <a:avLst>
              <a:gd name="adj1" fmla="val 10800000"/>
              <a:gd name="adj2" fmla="val 16200346"/>
              <a:gd name="adj3" fmla="val 25523"/>
            </a:avLst>
          </a:prstGeom>
          <a:solidFill>
            <a:srgbClr val="4b8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Google Shape;219;p10"/>
          <p:cNvSpPr/>
          <p:nvPr/>
        </p:nvSpPr>
        <p:spPr>
          <a:xfrm rot="10800000">
            <a:off x="8172360" y="4280400"/>
            <a:ext cx="786960" cy="786960"/>
          </a:xfrm>
          <a:prstGeom prst="blockArc">
            <a:avLst>
              <a:gd name="adj1" fmla="val 10800000"/>
              <a:gd name="adj2" fmla="val 16200346"/>
              <a:gd name="adj3" fmla="val 25523"/>
            </a:avLst>
          </a:prstGeom>
          <a:solidFill>
            <a:srgbClr val="4b86fe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224;g3fb940bf621_237_513"/>
          <p:cNvSpPr/>
          <p:nvPr/>
        </p:nvSpPr>
        <p:spPr>
          <a:xfrm>
            <a:off x="457200" y="266760"/>
            <a:ext cx="8229240" cy="6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900" spc="-1" strike="noStrike">
                <a:solidFill>
                  <a:srgbClr val="059669"/>
                </a:solidFill>
                <a:latin typeface="Nunito Sans ExtraBold"/>
                <a:ea typeface="Nunito Sans ExtraBold"/>
              </a:rPr>
              <a:t>CONTENIDO &amp; PÚBLICO OBJETIVO</a:t>
            </a:r>
            <a:endParaRPr b="0" lang="es-US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s-US" sz="1800" spc="-1" strike="noStrike">
                <a:solidFill>
                  <a:srgbClr val="0f172a"/>
                </a:solidFill>
                <a:latin typeface="Nunito Sans ExtraBold"/>
                <a:ea typeface="Nunito Sans ExtraBold"/>
              </a:rPr>
              <a:t>El sitio le habla a su cliente en un idioma que no es el suyo</a:t>
            </a:r>
            <a:endParaRPr b="0" lang="es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s-US" sz="950" spc="-1" strike="noStrike">
                <a:solidFill>
                  <a:srgbClr val="6366f1"/>
                </a:solidFill>
                <a:latin typeface="Nunito Sans SemiBold"/>
                <a:ea typeface="Nunito Sans SemiBold"/>
              </a:rPr>
              <a:t>El nivel de lectura del contenido no corresponde al perfil de público que definió el cliente.</a:t>
            </a:r>
            <a:endParaRPr b="0" lang="es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Google Shape;225;g3fb940bf621_237_513"/>
          <p:cNvSpPr/>
          <p:nvPr/>
        </p:nvSpPr>
        <p:spPr>
          <a:xfrm>
            <a:off x="457200" y="1200240"/>
            <a:ext cx="2614680" cy="3382920"/>
          </a:xfrm>
          <a:prstGeom prst="roundRect">
            <a:avLst>
              <a:gd name="adj" fmla="val 5827"/>
            </a:avLst>
          </a:prstGeom>
          <a:solidFill>
            <a:srgbClr val="f8fafc"/>
          </a:solidFill>
          <a:ln w="143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Google Shape;226;g3fb940bf621_237_513"/>
          <p:cNvSpPr/>
          <p:nvPr/>
        </p:nvSpPr>
        <p:spPr>
          <a:xfrm>
            <a:off x="590400" y="1352520"/>
            <a:ext cx="2342880" cy="18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1050" spc="-1" strike="noStrike">
                <a:solidFill>
                  <a:srgbClr val="6a3ee8"/>
                </a:solidFill>
                <a:latin typeface="Nunito Sans ExtraBold"/>
                <a:ea typeface="Nunito Sans ExtraBold"/>
              </a:rPr>
              <a:t>CÓMO ESTÁ ESCRITO HOY</a:t>
            </a:r>
            <a:endParaRPr b="0" lang="es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El 58% de las páginas exige nivel universitario: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para leerse con fluidez, según la medición estándar de legibilidad.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Otro 38% está todavía un escalón arriba: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en el rango más difícil de la escala.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La causa: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frases largas y palabras del mundo financiero que nadie usa al hablar.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No es el mensaje principal: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es todo el contenido publicado, incluido el blog.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Google Shape;227;g3fb940bf621_237_513"/>
          <p:cNvSpPr/>
          <p:nvPr/>
        </p:nvSpPr>
        <p:spPr>
          <a:xfrm>
            <a:off x="3264480" y="1200240"/>
            <a:ext cx="2614680" cy="3382920"/>
          </a:xfrm>
          <a:prstGeom prst="roundRect">
            <a:avLst>
              <a:gd name="adj" fmla="val 5827"/>
            </a:avLst>
          </a:prstGeom>
          <a:solidFill>
            <a:srgbClr val="f8fafc"/>
          </a:solidFill>
          <a:ln w="143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Google Shape;228;g3fb940bf621_237_513"/>
          <p:cNvSpPr/>
          <p:nvPr/>
        </p:nvSpPr>
        <p:spPr>
          <a:xfrm>
            <a:off x="3397680" y="1352520"/>
            <a:ext cx="2342880" cy="173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1050" spc="-1" strike="noStrike">
                <a:solidFill>
                  <a:srgbClr val="6a3ee8"/>
                </a:solidFill>
                <a:latin typeface="Nunito Sans ExtraBold"/>
                <a:ea typeface="Nunito Sans ExtraBold"/>
              </a:rPr>
              <a:t>A QUIÉN LE ESTÁ HABLANDO</a:t>
            </a:r>
            <a:endParaRPr b="0" lang="es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El cliente definió su público: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nivel socioeconómico C+ a C−, según el briefing del 14 de septiembre.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Y lo describió así: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personas que batallan con sus pagos justamente por falta de educación financiera.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Ahí está la contradicción: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se vende educación financiera escribiendo como si el lector ya la tuviera.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Google Shape;229;g3fb940bf621_237_513"/>
          <p:cNvSpPr/>
          <p:nvPr/>
        </p:nvSpPr>
        <p:spPr>
          <a:xfrm>
            <a:off x="6071760" y="1200240"/>
            <a:ext cx="2614680" cy="3382920"/>
          </a:xfrm>
          <a:prstGeom prst="roundRect">
            <a:avLst>
              <a:gd name="adj" fmla="val 5827"/>
            </a:avLst>
          </a:prstGeom>
          <a:solidFill>
            <a:srgbClr val="f8fafc"/>
          </a:solidFill>
          <a:ln w="143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Google Shape;230;g3fb940bf621_237_513"/>
          <p:cNvSpPr/>
          <p:nvPr/>
        </p:nvSpPr>
        <p:spPr>
          <a:xfrm>
            <a:off x="6204960" y="1352520"/>
            <a:ext cx="2342880" cy="173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1050" spc="-1" strike="noStrike">
                <a:solidFill>
                  <a:srgbClr val="6a3ee8"/>
                </a:solidFill>
                <a:latin typeface="Nunito Sans ExtraBold"/>
                <a:ea typeface="Nunito Sans ExtraBold"/>
              </a:rPr>
              <a:t>QUÉ HACER</a:t>
            </a:r>
            <a:endParaRPr b="0" lang="es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Reescribir tres lugares: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el mensaje principal, las preguntas frecuentes y la pantalla de acreedores.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Frases cortas y palabras de todos los días: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en vez de tecnicismos financieros sin traducir.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Poner un nivel de lectura como requisito: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que ningún texto se publique sin pasar ese filtro.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Google Shape;231;g3fb940bf621_237_513"/>
          <p:cNvSpPr/>
          <p:nvPr/>
        </p:nvSpPr>
        <p:spPr>
          <a:xfrm>
            <a:off x="7428960" y="4835880"/>
            <a:ext cx="1530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1200" bIns="612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US" sz="800" spc="-1" strike="noStrike">
                <a:solidFill>
                  <a:srgbClr val="4b86fe"/>
                </a:solidFill>
                <a:latin typeface="IBM Plex Sans"/>
                <a:ea typeface="IBM Plex Sans"/>
              </a:rPr>
              <a:t>t2ó México</a:t>
            </a:r>
            <a:endParaRPr b="0" lang="es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Google Shape;232;g3fb940bf621_237_513"/>
          <p:cNvSpPr/>
          <p:nvPr/>
        </p:nvSpPr>
        <p:spPr>
          <a:xfrm>
            <a:off x="8756640" y="4280040"/>
            <a:ext cx="786960" cy="786960"/>
          </a:xfrm>
          <a:prstGeom prst="blockArc">
            <a:avLst>
              <a:gd name="adj1" fmla="val 10800000"/>
              <a:gd name="adj2" fmla="val 16200346"/>
              <a:gd name="adj3" fmla="val 25523"/>
            </a:avLst>
          </a:prstGeom>
          <a:solidFill>
            <a:srgbClr val="4b8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Google Shape;233;g3fb940bf621_237_513"/>
          <p:cNvSpPr/>
          <p:nvPr/>
        </p:nvSpPr>
        <p:spPr>
          <a:xfrm rot="10800000">
            <a:off x="8172360" y="4280400"/>
            <a:ext cx="786960" cy="786960"/>
          </a:xfrm>
          <a:prstGeom prst="blockArc">
            <a:avLst>
              <a:gd name="adj1" fmla="val 10800000"/>
              <a:gd name="adj2" fmla="val 16200346"/>
              <a:gd name="adj3" fmla="val 25523"/>
            </a:avLst>
          </a:prstGeom>
          <a:solidFill>
            <a:srgbClr val="4b86fe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245;p12"/>
          <p:cNvSpPr/>
          <p:nvPr/>
        </p:nvSpPr>
        <p:spPr>
          <a:xfrm>
            <a:off x="457200" y="266760"/>
            <a:ext cx="822924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850" spc="-1" strike="noStrike">
                <a:solidFill>
                  <a:srgbClr val="059669"/>
                </a:solidFill>
                <a:latin typeface="Nunito Sans ExtraBold"/>
                <a:ea typeface="Nunito Sans ExtraBold"/>
              </a:rPr>
              <a:t>ACCESIBILIDAD WCAG 2.2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s-US" sz="1700" spc="-1" strike="noStrike">
                <a:solidFill>
                  <a:srgbClr val="0f172a"/>
                </a:solidFill>
                <a:latin typeface="Nunito Sans ExtraBold"/>
                <a:ea typeface="Nunito Sans ExtraBold"/>
              </a:rPr>
              <a:t>axe-core 4.10.2: 7 violaciones normativas detectadas</a:t>
            </a:r>
            <a:endParaRPr b="0" lang="es-US" sz="17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s-US" sz="950" spc="-1" strike="noStrike">
                <a:solidFill>
                  <a:srgbClr val="6366f1"/>
                </a:solidFill>
                <a:latin typeface="Nunito Sans SemiBold"/>
                <a:ea typeface="Nunito Sans SemiBold"/>
              </a:rPr>
              <a:t>Evaluación automatizada y asistida por Chromium Headless. Estado: No conforme con WCAG 2.2 nivel AA.</a:t>
            </a:r>
            <a:endParaRPr b="0" lang="es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Google Shape;246;p12"/>
          <p:cNvSpPr/>
          <p:nvPr/>
        </p:nvSpPr>
        <p:spPr>
          <a:xfrm>
            <a:off x="457200" y="1200240"/>
            <a:ext cx="2377080" cy="3382920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43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Google Shape;247;p12"/>
          <p:cNvSpPr/>
          <p:nvPr/>
        </p:nvSpPr>
        <p:spPr>
          <a:xfrm>
            <a:off x="609480" y="1333440"/>
            <a:ext cx="2072520" cy="16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1000" spc="-1" strike="noStrike">
                <a:solidFill>
                  <a:srgbClr val="6a3ee8"/>
                </a:solidFill>
                <a:latin typeface="Nunito Sans ExtraBold"/>
                <a:ea typeface="Nunito Sans ExtraBold"/>
              </a:rPr>
              <a:t>DISTRIBUCIÓN AXE</a:t>
            </a:r>
            <a:endParaRPr b="0" lang="es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s-US" sz="1400" spc="-1" strike="noStrike">
                <a:solidFill>
                  <a:srgbClr val="dc3232"/>
                </a:solidFill>
                <a:latin typeface="Nunito Sans ExtraBold"/>
                <a:ea typeface="Nunito Sans ExtraBold"/>
              </a:rPr>
              <a:t>2 Críticas</a:t>
            </a: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s-US" sz="1400" spc="-1" strike="noStrike">
                <a:solidFill>
                  <a:srgbClr val="d97706"/>
                </a:solidFill>
                <a:latin typeface="Nunito Sans ExtraBold"/>
                <a:ea typeface="Nunito Sans ExtraBold"/>
              </a:rPr>
              <a:t>3 Serias</a:t>
            </a: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s-US" sz="1400" spc="-1" strike="noStrike">
                <a:solidFill>
                  <a:srgbClr val="0284c7"/>
                </a:solidFill>
                <a:latin typeface="Nunito Sans ExtraBold"/>
                <a:ea typeface="Nunito Sans ExtraBold"/>
              </a:rPr>
              <a:t>2 Moderadas</a:t>
            </a: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599"/>
              </a:spcBef>
              <a:tabLst>
                <a:tab algn="l" pos="0"/>
              </a:tabLst>
            </a:pPr>
            <a:r>
              <a:rPr b="0" lang="es-US" sz="850" spc="-1" strike="noStrike">
                <a:solidFill>
                  <a:srgbClr val="475569"/>
                </a:solidFill>
                <a:latin typeface="Nunito Sans SemiBold"/>
                <a:ea typeface="Nunito Sans SemiBold"/>
              </a:rPr>
              <a:t>Total: 7 reglas violadas</a:t>
            </a:r>
            <a:br>
              <a:rPr sz="850"/>
            </a:br>
            <a:r>
              <a:rPr b="0" lang="es-US" sz="850" spc="-1" strike="noStrike">
                <a:solidFill>
                  <a:srgbClr val="64748b"/>
                </a:solidFill>
                <a:latin typeface="Nunito Sans"/>
                <a:ea typeface="Nunito Sans"/>
              </a:rPr>
              <a:t>Nodos afectados: &gt;22 elementos en DOM.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Google Shape;248;p12"/>
          <p:cNvSpPr/>
          <p:nvPr/>
        </p:nvSpPr>
        <p:spPr>
          <a:xfrm>
            <a:off x="3017520" y="1200240"/>
            <a:ext cx="5668920" cy="3382920"/>
          </a:xfrm>
          <a:prstGeom prst="roundRect">
            <a:avLst>
              <a:gd name="adj" fmla="val 4504"/>
            </a:avLst>
          </a:prstGeom>
          <a:solidFill>
            <a:srgbClr val="f8fafc"/>
          </a:solidFill>
          <a:ln w="143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Google Shape;249;p12"/>
          <p:cNvSpPr/>
          <p:nvPr/>
        </p:nvSpPr>
        <p:spPr>
          <a:xfrm>
            <a:off x="3169800" y="1333440"/>
            <a:ext cx="5364360" cy="221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1000" spc="-1" strike="noStrike">
                <a:solidFill>
                  <a:srgbClr val="6a3ee8"/>
                </a:solidFill>
                <a:latin typeface="Nunito Sans ExtraBold"/>
                <a:ea typeface="Nunito Sans ExtraBold"/>
              </a:rPr>
              <a:t>DESGLOSE DE REGLAS INCUMPLIDAS</a:t>
            </a:r>
            <a:endParaRPr b="0" lang="es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select-name [Crítica]: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El elemento &lt;select id='amount'&gt; no cuenta con &lt;label&gt; ni aria-label asociado. Lector de pantalla no anuncia su función.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image-alt [Crítica]: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Imágenes clave carecen de texto alternativo alt descriptivo (ej. brand-logos.png con alt='').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color-contrast [Seria]: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15 nodos con contraste insuficiente (&lt;4.5:1). Enlaces del menú principal (#797984 sobre blanco) tienen ratio 4.3:1.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link-name [Seria]: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Enlaces en la secuencia de tabulación carecen de texto discernible (enlace del logo y botones).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frame-title [Seria]: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Múltiples elementos &lt;iframe&gt; técnicos y de mapas no tienen atributo title accesible.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•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page-has-heading-one [Moderada]: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La portada carece de un encabezado &lt;h1&gt; estructural; el hero usa jerarquías h2 o divs.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Google Shape;250;p12"/>
          <p:cNvSpPr/>
          <p:nvPr/>
        </p:nvSpPr>
        <p:spPr>
          <a:xfrm>
            <a:off x="7428960" y="4835880"/>
            <a:ext cx="1530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1200" bIns="612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US" sz="800" spc="-1" strike="noStrike">
                <a:solidFill>
                  <a:srgbClr val="4b86fe"/>
                </a:solidFill>
                <a:latin typeface="IBM Plex Sans"/>
                <a:ea typeface="IBM Plex Sans"/>
              </a:rPr>
              <a:t>t2ó México</a:t>
            </a:r>
            <a:endParaRPr b="0" lang="es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Google Shape;251;p12"/>
          <p:cNvSpPr/>
          <p:nvPr/>
        </p:nvSpPr>
        <p:spPr>
          <a:xfrm>
            <a:off x="8756640" y="4280040"/>
            <a:ext cx="786960" cy="786960"/>
          </a:xfrm>
          <a:prstGeom prst="blockArc">
            <a:avLst>
              <a:gd name="adj1" fmla="val 10800000"/>
              <a:gd name="adj2" fmla="val 16200346"/>
              <a:gd name="adj3" fmla="val 25523"/>
            </a:avLst>
          </a:prstGeom>
          <a:solidFill>
            <a:srgbClr val="4b8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Google Shape;252;p12"/>
          <p:cNvSpPr/>
          <p:nvPr/>
        </p:nvSpPr>
        <p:spPr>
          <a:xfrm rot="10800000">
            <a:off x="8172360" y="4280400"/>
            <a:ext cx="786960" cy="786960"/>
          </a:xfrm>
          <a:prstGeom prst="blockArc">
            <a:avLst>
              <a:gd name="adj1" fmla="val 10800000"/>
              <a:gd name="adj2" fmla="val 16200346"/>
              <a:gd name="adj3" fmla="val 25523"/>
            </a:avLst>
          </a:prstGeom>
          <a:solidFill>
            <a:srgbClr val="4b86fe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257;g3fb940bf621_237_335"/>
          <p:cNvSpPr/>
          <p:nvPr/>
        </p:nvSpPr>
        <p:spPr>
          <a:xfrm>
            <a:off x="457200" y="292680"/>
            <a:ext cx="822924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850" spc="-1" strike="noStrike">
                <a:solidFill>
                  <a:srgbClr val="30afb8"/>
                </a:solidFill>
                <a:latin typeface="Nunito Sans ExtraBold"/>
                <a:ea typeface="Nunito Sans ExtraBold"/>
              </a:rPr>
              <a:t>ALCANCE REAL DEL PROBLEMA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s-US" sz="1700" spc="-1" strike="noStrike">
                <a:solidFill>
                  <a:srgbClr val="0f172a"/>
                </a:solidFill>
                <a:latin typeface="Nunito Sans ExtraBold"/>
                <a:ea typeface="Nunito Sans ExtraBold"/>
              </a:rPr>
              <a:t>Un mismo error, repetido en las 486 páginas del sitio</a:t>
            </a:r>
            <a:endParaRPr b="0" lang="es-US" sz="17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s-US" sz="950" spc="-1" strike="noStrike">
                <a:solidFill>
                  <a:srgbClr val="64748b"/>
                </a:solidFill>
                <a:latin typeface="Nunito Sans SemiBold"/>
                <a:ea typeface="Nunito Sans SemiBold"/>
              </a:rPr>
              <a:t>Los problemas que encontramos en la portada no son de la portada: son de la plantilla.</a:t>
            </a:r>
            <a:endParaRPr b="0" lang="es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Google Shape;258;g3fb940bf621_237_335"/>
          <p:cNvSpPr/>
          <p:nvPr/>
        </p:nvSpPr>
        <p:spPr>
          <a:xfrm>
            <a:off x="457200" y="1234440"/>
            <a:ext cx="2614680" cy="3382920"/>
          </a:xfrm>
          <a:prstGeom prst="roundRect">
            <a:avLst>
              <a:gd name="adj" fmla="val 5827"/>
            </a:avLst>
          </a:prstGeom>
          <a:solidFill>
            <a:srgbClr val="f8fafc"/>
          </a:solidFill>
          <a:ln w="143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Google Shape;259;g3fb940bf621_237_335"/>
          <p:cNvSpPr/>
          <p:nvPr/>
        </p:nvSpPr>
        <p:spPr>
          <a:xfrm>
            <a:off x="609480" y="1353240"/>
            <a:ext cx="2310120" cy="17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1000" spc="-1" strike="noStrike">
                <a:solidFill>
                  <a:srgbClr val="d97706"/>
                </a:solidFill>
                <a:latin typeface="Nunito Sans ExtraBold"/>
                <a:ea typeface="Nunito Sans ExtraBold"/>
              </a:rPr>
              <a:t>QUÉ LE PASA AL USUARIO</a:t>
            </a:r>
            <a:endParaRPr b="0" lang="es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Texto que cuesta leer: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en todas las páginas hay textos cuyo color casi se confunde con el fondo.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Enlaces que una persona ciega no puede usar: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su lector de pantalla los anuncia como 'enlace', sin decir a dónde llevan.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Ventanas incrustadas sin nombre: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mapas y formularios embebidos por los que el teclado pasa sin avisar dónde está uno.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Google Shape;260;g3fb940bf621_237_335"/>
          <p:cNvSpPr/>
          <p:nvPr/>
        </p:nvSpPr>
        <p:spPr>
          <a:xfrm>
            <a:off x="3264480" y="1234440"/>
            <a:ext cx="2614680" cy="3382920"/>
          </a:xfrm>
          <a:prstGeom prst="roundRect">
            <a:avLst>
              <a:gd name="adj" fmla="val 5827"/>
            </a:avLst>
          </a:prstGeom>
          <a:solidFill>
            <a:srgbClr val="f8fafc"/>
          </a:solidFill>
          <a:ln w="143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Google Shape;261;g3fb940bf621_237_335"/>
          <p:cNvSpPr/>
          <p:nvPr/>
        </p:nvSpPr>
        <p:spPr>
          <a:xfrm>
            <a:off x="3416760" y="1353240"/>
            <a:ext cx="2310120" cy="187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1000" spc="-1" strike="noStrike">
                <a:solidFill>
                  <a:srgbClr val="dc3232"/>
                </a:solidFill>
                <a:latin typeface="Nunito Sans ExtraBold"/>
                <a:ea typeface="Nunito Sans ExtraBold"/>
              </a:rPr>
              <a:t>DOS REVISIONES, EL MISMO RESULTADO</a:t>
            </a:r>
            <a:endParaRPr b="0" lang="es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Nosotros revisamos la portada a mano: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con herramientas de accesibilidad y navegando solo con teclado.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Un rastreo automático revisó las 486 páginas: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es una herramienta distinta, con otro método.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Coinciden en todo: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cuando dos revisiones independientes encuentran lo mismo, el hallazgo deja de ser opinión.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Google Shape;262;g3fb940bf621_237_335"/>
          <p:cNvSpPr/>
          <p:nvPr/>
        </p:nvSpPr>
        <p:spPr>
          <a:xfrm>
            <a:off x="6071760" y="1234440"/>
            <a:ext cx="2614680" cy="3382920"/>
          </a:xfrm>
          <a:prstGeom prst="roundRect">
            <a:avLst>
              <a:gd name="adj" fmla="val 5827"/>
            </a:avLst>
          </a:prstGeom>
          <a:solidFill>
            <a:srgbClr val="f8fafc"/>
          </a:solidFill>
          <a:ln w="143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Google Shape;263;g3fb940bf621_237_335"/>
          <p:cNvSpPr/>
          <p:nvPr/>
        </p:nvSpPr>
        <p:spPr>
          <a:xfrm>
            <a:off x="6224040" y="1353240"/>
            <a:ext cx="2310120" cy="172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1000" spc="-1" strike="noStrike">
                <a:solidFill>
                  <a:srgbClr val="dc3232"/>
                </a:solidFill>
                <a:latin typeface="Nunito Sans ExtraBold"/>
                <a:ea typeface="Nunito Sans ExtraBold"/>
              </a:rPr>
              <a:t>Y AQUÍ VIENE LO BUENO</a:t>
            </a:r>
            <a:endParaRPr b="0" lang="es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No hay que arreglar 486 páginas: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hay que arreglar una plantilla. El error está en el molde, no en cada copia.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Un solo cambio corrige el sitio entero: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es de los pocos arreglos con ese nivel de retorno.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Por eso va primero: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cualquier mejora página por página se pierde si la plantilla sigue igual.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Google Shape;264;g3fb940bf621_237_335"/>
          <p:cNvSpPr/>
          <p:nvPr/>
        </p:nvSpPr>
        <p:spPr>
          <a:xfrm>
            <a:off x="7428960" y="4835880"/>
            <a:ext cx="1530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1200" bIns="612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US" sz="800" spc="-1" strike="noStrike">
                <a:solidFill>
                  <a:srgbClr val="4b86fe"/>
                </a:solidFill>
                <a:latin typeface="IBM Plex Sans"/>
                <a:ea typeface="IBM Plex Sans"/>
              </a:rPr>
              <a:t>t2ó México</a:t>
            </a:r>
            <a:endParaRPr b="0" lang="es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Google Shape;265;g3fb940bf621_237_335"/>
          <p:cNvSpPr/>
          <p:nvPr/>
        </p:nvSpPr>
        <p:spPr>
          <a:xfrm>
            <a:off x="8756640" y="4280040"/>
            <a:ext cx="786960" cy="786960"/>
          </a:xfrm>
          <a:prstGeom prst="blockArc">
            <a:avLst>
              <a:gd name="adj1" fmla="val 10800000"/>
              <a:gd name="adj2" fmla="val 16200346"/>
              <a:gd name="adj3" fmla="val 25523"/>
            </a:avLst>
          </a:prstGeom>
          <a:solidFill>
            <a:srgbClr val="4b8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Google Shape;266;g3fb940bf621_237_335"/>
          <p:cNvSpPr/>
          <p:nvPr/>
        </p:nvSpPr>
        <p:spPr>
          <a:xfrm rot="10800000">
            <a:off x="8172360" y="4280400"/>
            <a:ext cx="786960" cy="786960"/>
          </a:xfrm>
          <a:prstGeom prst="blockArc">
            <a:avLst>
              <a:gd name="adj1" fmla="val 10800000"/>
              <a:gd name="adj2" fmla="val 16200346"/>
              <a:gd name="adj3" fmla="val 25523"/>
            </a:avLst>
          </a:prstGeom>
          <a:solidFill>
            <a:srgbClr val="4b86fe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271;p13"/>
          <p:cNvSpPr/>
          <p:nvPr/>
        </p:nvSpPr>
        <p:spPr>
          <a:xfrm>
            <a:off x="457200" y="292680"/>
            <a:ext cx="822924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850" spc="-1" strike="noStrike">
                <a:solidFill>
                  <a:srgbClr val="30afb8"/>
                </a:solidFill>
                <a:latin typeface="Nunito Sans ExtraBold"/>
                <a:ea typeface="Nunito Sans ExtraBold"/>
              </a:rPr>
              <a:t>ACCESIBILIDAD &amp; OPERABILIDAD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s-US" sz="1700" spc="-1" strike="noStrike">
                <a:solidFill>
                  <a:srgbClr val="0f172a"/>
                </a:solidFill>
                <a:latin typeface="Nunito Sans ExtraBold"/>
                <a:ea typeface="Nunito Sans ExtraBold"/>
              </a:rPr>
              <a:t>Navegación con teclado: 39 pasos, foco invertido y ciego</a:t>
            </a:r>
            <a:endParaRPr b="0" lang="es-US" sz="17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s-US" sz="950" spc="-1" strike="noStrike">
                <a:solidFill>
                  <a:srgbClr val="64748b"/>
                </a:solidFill>
                <a:latin typeface="Nunito Sans SemiBold"/>
                <a:ea typeface="Nunito Sans SemiBold"/>
              </a:rPr>
              <a:t>Evaluación paso a paso de navegación sin ratón mediante emulación interactiva de la tecla Tab.</a:t>
            </a:r>
            <a:endParaRPr b="0" lang="es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Google Shape;272;p13"/>
          <p:cNvSpPr/>
          <p:nvPr/>
        </p:nvSpPr>
        <p:spPr>
          <a:xfrm>
            <a:off x="457200" y="1234440"/>
            <a:ext cx="2614680" cy="3382920"/>
          </a:xfrm>
          <a:prstGeom prst="roundRect">
            <a:avLst>
              <a:gd name="adj" fmla="val 5827"/>
            </a:avLst>
          </a:prstGeom>
          <a:solidFill>
            <a:srgbClr val="f8fafc"/>
          </a:solidFill>
          <a:ln w="143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Google Shape;273;p13"/>
          <p:cNvSpPr/>
          <p:nvPr/>
        </p:nvSpPr>
        <p:spPr>
          <a:xfrm>
            <a:off x="609480" y="1353240"/>
            <a:ext cx="2310120" cy="17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1000" spc="-1" strike="noStrike">
                <a:solidFill>
                  <a:srgbClr val="d97706"/>
                </a:solidFill>
                <a:latin typeface="Nunito Sans ExtraBold"/>
                <a:ea typeface="Nunito Sans ExtraBold"/>
              </a:rPr>
              <a:t>ORDEN INVERTIDO</a:t>
            </a:r>
            <a:endParaRPr b="0" lang="es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Foco arranca en formulario: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Al presionar Tab por primera vez, el cursor salta directo a #name en el Hero.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Menú al final de todo: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El menú principal y 'Saltar al contenido' solo reciben foco en los pasos 35 a 38, tras pasar por el footer.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Impacto: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Un usuario con discapacidad motriz no puede explorar las secciones de la página antes de completar datos.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Google Shape;274;p13"/>
          <p:cNvSpPr/>
          <p:nvPr/>
        </p:nvSpPr>
        <p:spPr>
          <a:xfrm>
            <a:off x="3264480" y="1234440"/>
            <a:ext cx="2614680" cy="3382920"/>
          </a:xfrm>
          <a:prstGeom prst="roundRect">
            <a:avLst>
              <a:gd name="adj" fmla="val 5827"/>
            </a:avLst>
          </a:prstGeom>
          <a:solidFill>
            <a:srgbClr val="f8fafc"/>
          </a:solidFill>
          <a:ln w="143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Google Shape;275;p13"/>
          <p:cNvSpPr/>
          <p:nvPr/>
        </p:nvSpPr>
        <p:spPr>
          <a:xfrm>
            <a:off x="3416760" y="1353240"/>
            <a:ext cx="2310120" cy="13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1000" spc="-1" strike="noStrike">
                <a:solidFill>
                  <a:srgbClr val="dc3232"/>
                </a:solidFill>
                <a:latin typeface="Nunito Sans ExtraBold"/>
                <a:ea typeface="Nunito Sans ExtraBold"/>
              </a:rPr>
              <a:t>FOCO CIEGO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de formulario y botones tienen CSS 'outline: none;'. No hay anillo visible de foco.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Pérdida de ubicación: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El usuario no sabe en qué campo o enlace se encuentra activo al presionar Tab.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Solución: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Definir regla global :focus-visible con anillo de 2px de alto contraste (#00386e).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Google Shape;276;p13"/>
          <p:cNvSpPr/>
          <p:nvPr/>
        </p:nvSpPr>
        <p:spPr>
          <a:xfrm>
            <a:off x="6071760" y="1234440"/>
            <a:ext cx="2614680" cy="3382920"/>
          </a:xfrm>
          <a:prstGeom prst="roundRect">
            <a:avLst>
              <a:gd name="adj" fmla="val 5827"/>
            </a:avLst>
          </a:prstGeom>
          <a:solidFill>
            <a:srgbClr val="f8fafc"/>
          </a:solidFill>
          <a:ln w="143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Google Shape;277;p13"/>
          <p:cNvSpPr/>
          <p:nvPr/>
        </p:nvSpPr>
        <p:spPr>
          <a:xfrm>
            <a:off x="6224040" y="1353240"/>
            <a:ext cx="2310120" cy="159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1000" spc="-1" strike="noStrike">
                <a:solidFill>
                  <a:srgbClr val="dc3232"/>
                </a:solidFill>
                <a:latin typeface="Nunito Sans ExtraBold"/>
                <a:ea typeface="Nunito Sans ExtraBold"/>
              </a:rPr>
              <a:t>BARRERAS CRÍTICAS </a:t>
            </a:r>
            <a:endParaRPr b="0" lang="es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Checkbox inalcanzable: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Por tener display:none, el consentimiento de WhatsApp es omitido por el teclado.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Trampa en iframes: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Pasos 27 a 34 quedan atrapados en 8 iframes técnicos de mapas y Stripe sin título.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Solución: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Poner tabindex='-1' a iframes invisibles y dar accesibilidad nativa al checkbox.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Google Shape;278;p13"/>
          <p:cNvSpPr/>
          <p:nvPr/>
        </p:nvSpPr>
        <p:spPr>
          <a:xfrm>
            <a:off x="7428960" y="4835880"/>
            <a:ext cx="1530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1200" bIns="612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US" sz="800" spc="-1" strike="noStrike">
                <a:solidFill>
                  <a:srgbClr val="4b86fe"/>
                </a:solidFill>
                <a:latin typeface="IBM Plex Sans"/>
                <a:ea typeface="IBM Plex Sans"/>
              </a:rPr>
              <a:t>t2ó México</a:t>
            </a:r>
            <a:endParaRPr b="0" lang="es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Google Shape;279;p13"/>
          <p:cNvSpPr/>
          <p:nvPr/>
        </p:nvSpPr>
        <p:spPr>
          <a:xfrm>
            <a:off x="8756640" y="4280040"/>
            <a:ext cx="786960" cy="786960"/>
          </a:xfrm>
          <a:prstGeom prst="blockArc">
            <a:avLst>
              <a:gd name="adj1" fmla="val 10800000"/>
              <a:gd name="adj2" fmla="val 16200346"/>
              <a:gd name="adj3" fmla="val 25523"/>
            </a:avLst>
          </a:prstGeom>
          <a:solidFill>
            <a:srgbClr val="4b8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Google Shape;280;p13"/>
          <p:cNvSpPr/>
          <p:nvPr/>
        </p:nvSpPr>
        <p:spPr>
          <a:xfrm rot="10800000">
            <a:off x="8172360" y="4280400"/>
            <a:ext cx="786960" cy="786960"/>
          </a:xfrm>
          <a:prstGeom prst="blockArc">
            <a:avLst>
              <a:gd name="adj1" fmla="val 10800000"/>
              <a:gd name="adj2" fmla="val 16200346"/>
              <a:gd name="adj3" fmla="val 25523"/>
            </a:avLst>
          </a:prstGeom>
          <a:solidFill>
            <a:srgbClr val="4b86fe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285;p14"/>
          <p:cNvSpPr/>
          <p:nvPr/>
        </p:nvSpPr>
        <p:spPr>
          <a:xfrm>
            <a:off x="457200" y="266760"/>
            <a:ext cx="8229240" cy="60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850" spc="-1" strike="noStrike">
                <a:solidFill>
                  <a:srgbClr val="30afb8"/>
                </a:solidFill>
                <a:latin typeface="Nunito Sans ExtraBold"/>
                <a:ea typeface="Nunito Sans ExtraBold"/>
              </a:rPr>
              <a:t>EXPERIENCIA RESPONSIVE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24"/>
              </a:spcBef>
              <a:tabLst>
                <a:tab algn="l" pos="0"/>
              </a:tabLst>
            </a:pPr>
            <a:r>
              <a:rPr b="0" lang="es-US" sz="1700" spc="-1" strike="noStrike">
                <a:solidFill>
                  <a:srgbClr val="0f172a"/>
                </a:solidFill>
                <a:latin typeface="Nunito Sans ExtraBold"/>
                <a:ea typeface="Nunito Sans ExtraBold"/>
              </a:rPr>
              <a:t>Móvil (390×844): Fortalezas observadas y áreas de ajuste</a:t>
            </a:r>
            <a:endParaRPr b="0" lang="es-US" sz="17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s-US" sz="950" spc="-1" strike="noStrike">
                <a:solidFill>
                  <a:srgbClr val="64748b"/>
                </a:solidFill>
                <a:latin typeface="Nunito Sans SemiBold"/>
                <a:ea typeface="Nunito Sans SemiBold"/>
              </a:rPr>
              <a:t>Rigor metodológico: documentamos lo que funciona impecable junto a las fricciones detectadas.</a:t>
            </a:r>
            <a:endParaRPr b="0" lang="es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Google Shape;286;p14"/>
          <p:cNvSpPr/>
          <p:nvPr/>
        </p:nvSpPr>
        <p:spPr>
          <a:xfrm>
            <a:off x="457200" y="1123920"/>
            <a:ext cx="3009600" cy="3524040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 w="143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Google Shape;287;p14"/>
          <p:cNvSpPr/>
          <p:nvPr/>
        </p:nvSpPr>
        <p:spPr>
          <a:xfrm>
            <a:off x="609480" y="1276200"/>
            <a:ext cx="2704680" cy="19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1000" spc="-1" strike="noStrike">
                <a:solidFill>
                  <a:srgbClr val="16a34a"/>
                </a:solidFill>
                <a:latin typeface="Nunito Sans ExtraBold"/>
                <a:ea typeface="Nunito Sans ExtraBold"/>
              </a:rPr>
              <a:t>LO QUE FUNCIONA BIEN</a:t>
            </a:r>
            <a:endParaRPr b="0" lang="es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✔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Cero scroll horizontal: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scrollWidth: 390px == windowWidth: 390px. El viewport no tiene desbordamiento lateral.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5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✔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Cero popups invasivos: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No existen modales bloqueantes, overlays engañosos ni ventanas emergentes al cargar.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5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✔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Carga inicial rápida: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First Contentful Paint (FCP) de 1.8s y TTFB de 1.1s en condiciones estándar.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5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✔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Contraste en CTA principal: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Botón '¡Comenzar!' (#ffffff sobre #00386e) con ratio 11.73:1 (Supera WCAG AAA).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Google Shape;288;p14"/>
          <p:cNvSpPr/>
          <p:nvPr/>
        </p:nvSpPr>
        <p:spPr>
          <a:xfrm>
            <a:off x="3619440" y="1123920"/>
            <a:ext cx="3009600" cy="3524040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 w="143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Google Shape;289;p14"/>
          <p:cNvSpPr/>
          <p:nvPr/>
        </p:nvSpPr>
        <p:spPr>
          <a:xfrm>
            <a:off x="3772080" y="1276200"/>
            <a:ext cx="2704680" cy="16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US" sz="1000" spc="-1" strike="noStrike">
                <a:solidFill>
                  <a:srgbClr val="d97706"/>
                </a:solidFill>
                <a:latin typeface="Nunito Sans ExtraBold"/>
                <a:ea typeface="Nunito Sans ExtraBold"/>
              </a:rPr>
              <a:t>ÁREAS DE AJUSTE MÓVIL</a:t>
            </a:r>
            <a:endParaRPr b="0" lang="es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▲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11 Touch targets &lt; 24px (UX-009):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Enlaces legales y redes en footer tienen solo 20-22 px de alto (falla WCAG 2.2 Criterio 2.5.8).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▲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Scroll excesivo en acreedores: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2,931 px de scroll vertical en el paso 2 con 43 casillas continuas sin agrupar ni colapsar.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▲ </a:t>
            </a:r>
            <a:r>
              <a:rPr b="1" lang="es-US" sz="850" spc="-1" strike="noStrike">
                <a:solidFill>
                  <a:srgbClr val="0f172a"/>
                </a:solidFill>
                <a:latin typeface="Nunito Sans"/>
                <a:ea typeface="Nunito Sans"/>
              </a:rPr>
              <a:t>WhatsApp inaccesible en scroll: </a:t>
            </a:r>
            <a:r>
              <a:rPr b="0" lang="es-US" sz="850" spc="-1" strike="noStrike">
                <a:solidFill>
                  <a:srgbClr val="475569"/>
                </a:solidFill>
                <a:latin typeface="Nunito Sans"/>
                <a:ea typeface="Nunito Sans"/>
              </a:rPr>
              <a:t>No existe botón flotante o persistente de WhatsApp en móvil; queda a 5.4 pantallas de scroll.</a:t>
            </a:r>
            <a:endParaRPr b="0" lang="es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Google Shape;290;p14"/>
          <p:cNvSpPr/>
          <p:nvPr/>
        </p:nvSpPr>
        <p:spPr>
          <a:xfrm>
            <a:off x="7428960" y="4835880"/>
            <a:ext cx="1530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1200" bIns="612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US" sz="800" spc="-1" strike="noStrike">
                <a:solidFill>
                  <a:srgbClr val="4b86fe"/>
                </a:solidFill>
                <a:latin typeface="IBM Plex Sans"/>
                <a:ea typeface="IBM Plex Sans"/>
              </a:rPr>
              <a:t>t2ó México</a:t>
            </a:r>
            <a:endParaRPr b="0" lang="es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Google Shape;291;p14"/>
          <p:cNvSpPr/>
          <p:nvPr/>
        </p:nvSpPr>
        <p:spPr>
          <a:xfrm>
            <a:off x="8756640" y="4280040"/>
            <a:ext cx="786960" cy="786960"/>
          </a:xfrm>
          <a:prstGeom prst="blockArc">
            <a:avLst>
              <a:gd name="adj1" fmla="val 10800000"/>
              <a:gd name="adj2" fmla="val 16200346"/>
              <a:gd name="adj3" fmla="val 25523"/>
            </a:avLst>
          </a:prstGeom>
          <a:solidFill>
            <a:srgbClr val="4b8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Google Shape;292;p14"/>
          <p:cNvSpPr/>
          <p:nvPr/>
        </p:nvSpPr>
        <p:spPr>
          <a:xfrm rot="10800000">
            <a:off x="8172360" y="4280400"/>
            <a:ext cx="786960" cy="786960"/>
          </a:xfrm>
          <a:prstGeom prst="blockArc">
            <a:avLst>
              <a:gd name="adj1" fmla="val 10800000"/>
              <a:gd name="adj2" fmla="val 16200346"/>
              <a:gd name="adj3" fmla="val 25523"/>
            </a:avLst>
          </a:prstGeom>
          <a:solidFill>
            <a:srgbClr val="4b86fe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LibreOffice/24.2.5.2$Windows_X86_64 LibreOffice_project/bffef4ea93e59bebbeaf7f431bb02b1a39ee8a59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2026-09-22T23:31:52Z</dcterms:created>
  <dc:creator>Walnut Exporter</dc:creator>
  <dc:description/>
  <dc:language>es-US</dc:language>
  <cp:lastModifiedBy/>
  <dcterms:modified xsi:type="dcterms:W3CDTF">2026-09-22T17:35:45Z</dcterms:modified>
  <cp:revision>1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