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1b6e6f3261444e" /><Relationship Type="http://schemas.openxmlformats.org/officeDocument/2006/relationships/extended-properties" Target="/docProps/app.xml" Id="Rbe722e82ab974af2" /><Relationship Type="http://schemas.openxmlformats.org/officeDocument/2006/relationships/officeDocument" Target="/ppt/presentation.xml" Id="R2a26719ac267455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0597238ef050477b"/>
  </p:sldMasterIdLst>
  <p:notesMasterIdLst>
    <p:notesMasterId xmlns:r="http://schemas.openxmlformats.org/officeDocument/2006/relationships" r:id="R54aed67443ae4538"/>
  </p:notesMasterIdLst>
  <p:sldIdLst>
    <p:sldId xmlns:r="http://schemas.openxmlformats.org/officeDocument/2006/relationships" id="256" r:id="R860a08432f684609"/>
    <p:sldId xmlns:r="http://schemas.openxmlformats.org/officeDocument/2006/relationships" id="257" r:id="R0b76193a19f940d3"/>
    <p:sldId xmlns:r="http://schemas.openxmlformats.org/officeDocument/2006/relationships" id="258" r:id="R7de0bea72f40490f"/>
    <p:sldId xmlns:r="http://schemas.openxmlformats.org/officeDocument/2006/relationships" id="259" r:id="R360b73278f56486d"/>
    <p:sldId xmlns:r="http://schemas.openxmlformats.org/officeDocument/2006/relationships" id="260" r:id="R59250f3154434d3c"/>
    <p:sldId xmlns:r="http://schemas.openxmlformats.org/officeDocument/2006/relationships" id="261" r:id="R66a2cfbeb09047a3"/>
    <p:sldId xmlns:r="http://schemas.openxmlformats.org/officeDocument/2006/relationships" id="262" r:id="R8996e8f8ba4e4a37"/>
    <p:sldId xmlns:r="http://schemas.openxmlformats.org/officeDocument/2006/relationships" id="263" r:id="Rc834cd6955554e52"/>
    <p:sldId xmlns:r="http://schemas.openxmlformats.org/officeDocument/2006/relationships" id="264" r:id="R5b96cb9ea8f1428e"/>
    <p:sldId xmlns:r="http://schemas.openxmlformats.org/officeDocument/2006/relationships" id="265" r:id="R15a155a00e4848f8"/>
    <p:sldId xmlns:r="http://schemas.openxmlformats.org/officeDocument/2006/relationships" id="266" r:id="R6cac791275f14683"/>
    <p:sldId xmlns:r="http://schemas.openxmlformats.org/officeDocument/2006/relationships" id="267" r:id="R6b9bd86f67314617"/>
  </p:sldIdLst>
  <p:sldSz cx="9144000" cy="5143500"/>
  <p:notesSz cx="6858000" cy="9144000"/>
  <p:embeddedFontLst>
    <p:embeddedFont>
      <p:font typeface="IBM Plex Sans"/>
      <p:regular xmlns:r="http://schemas.openxmlformats.org/officeDocument/2006/relationships" r:id="R73251f3481ad464c"/>
      <p:bold xmlns:r="http://schemas.openxmlformats.org/officeDocument/2006/relationships" r:id="R2538b1a3804a4651"/>
      <p:italic xmlns:r="http://schemas.openxmlformats.org/officeDocument/2006/relationships" r:id="Rc5e043d90a514045"/>
      <p:boldItalic xmlns:r="http://schemas.openxmlformats.org/officeDocument/2006/relationships" r:id="Rccea1d65c3b94693"/>
    </p:embeddedFont>
    <p:embeddedFont>
      <p:font typeface="IBM Plex Sans Light"/>
      <p:regular xmlns:r="http://schemas.openxmlformats.org/officeDocument/2006/relationships" r:id="R9ddbd8738a074670"/>
      <p:bold xmlns:r="http://schemas.openxmlformats.org/officeDocument/2006/relationships" r:id="R681786b60fbd443f"/>
      <p:italic xmlns:r="http://schemas.openxmlformats.org/officeDocument/2006/relationships" r:id="Rb1ec9ea9f20e4f79"/>
      <p:boldItalic xmlns:r="http://schemas.openxmlformats.org/officeDocument/2006/relationships" r:id="R425c1ff5f98145cb"/>
    </p:embeddedFont>
    <p:embeddedFont>
      <p:font typeface="Roboto Mono Light"/>
      <p:regular xmlns:r="http://schemas.openxmlformats.org/officeDocument/2006/relationships" r:id="R289e810f6b374019"/>
      <p:bold xmlns:r="http://schemas.openxmlformats.org/officeDocument/2006/relationships" r:id="R2d10ecd198534254"/>
      <p:italic xmlns:r="http://schemas.openxmlformats.org/officeDocument/2006/relationships" r:id="Rf5e20e5d344d494c"/>
      <p:boldItalic xmlns:r="http://schemas.openxmlformats.org/officeDocument/2006/relationships" r:id="R0ee693f8c25943fa"/>
    </p:embeddedFont>
    <p:embeddedFont>
      <p:font typeface="Nunito Sans SemiBold"/>
      <p:regular xmlns:r="http://schemas.openxmlformats.org/officeDocument/2006/relationships" r:id="Rb827a8a923dd4d34"/>
      <p:bold xmlns:r="http://schemas.openxmlformats.org/officeDocument/2006/relationships" r:id="R33a23e9bbaf54796"/>
      <p:italic xmlns:r="http://schemas.openxmlformats.org/officeDocument/2006/relationships" r:id="R0323c412a9e14260"/>
      <p:boldItalic xmlns:r="http://schemas.openxmlformats.org/officeDocument/2006/relationships" r:id="R8be2d26f22434e16"/>
    </p:embeddedFont>
    <p:embeddedFont>
      <p:font typeface="Nunito Sans ExtraBold"/>
      <p:bold xmlns:r="http://schemas.openxmlformats.org/officeDocument/2006/relationships" r:id="Rfb17ae3ca3a14be3"/>
      <p:boldItalic xmlns:r="http://schemas.openxmlformats.org/officeDocument/2006/relationships" r:id="R3852a1623a5e46cd"/>
    </p:embeddedFont>
    <p:embeddedFont>
      <p:font typeface="IBM Plex Sans SemiBold"/>
      <p:regular xmlns:r="http://schemas.openxmlformats.org/officeDocument/2006/relationships" r:id="R3395060e85aa4c92"/>
      <p:bold xmlns:r="http://schemas.openxmlformats.org/officeDocument/2006/relationships" r:id="Rf5558114dee145d9"/>
      <p:italic xmlns:r="http://schemas.openxmlformats.org/officeDocument/2006/relationships" r:id="Rc055189cb0714123"/>
      <p:boldItalic xmlns:r="http://schemas.openxmlformats.org/officeDocument/2006/relationships" r:id="R483433c12f434569"/>
    </p:embeddedFont>
    <p:embeddedFont>
      <p:font typeface="Nunito Sans"/>
      <p:regular xmlns:r="http://schemas.openxmlformats.org/officeDocument/2006/relationships" r:id="Rfb2248aa495e4d40"/>
      <p:bold xmlns:r="http://schemas.openxmlformats.org/officeDocument/2006/relationships" r:id="R3e3ddfa9dbb546e2"/>
      <p:italic xmlns:r="http://schemas.openxmlformats.org/officeDocument/2006/relationships" r:id="R9dd420e5f8cc40f6"/>
      <p:boldItalic xmlns:r="http://schemas.openxmlformats.org/officeDocument/2006/relationships" r:id="Rc17c7bf674ab4a91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2B5BA032-7E5C-4568-AADC-04072030F0B6}">
  <a:tblStyle styleId="{2B5BA032-7E5C-4568-AADC-04072030F0B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bc563391884024" /><Relationship Type="http://schemas.openxmlformats.org/officeDocument/2006/relationships/slideMaster" Target="/ppt/slideMasters/slideMaster1.xml" Id="R0597238ef050477b" /><Relationship Type="http://schemas.openxmlformats.org/officeDocument/2006/relationships/notesMaster" Target="/ppt/notesMasters/notesMaster1.xml" Id="R54aed67443ae4538" /><Relationship Type="http://schemas.openxmlformats.org/officeDocument/2006/relationships/presProps" Target="/ppt/presProps.xml" Id="R5e145ec9c48e4e42" /><Relationship Type="http://schemas.openxmlformats.org/officeDocument/2006/relationships/viewProps" Target="/ppt/viewProps.xml" Id="R795bed70d4d84476" /><Relationship Type="http://schemas.openxmlformats.org/officeDocument/2006/relationships/tableStyles" Target="/ppt/tableStyles.xml" Id="Ra2690926e4dd41c6" /><Relationship Type="http://schemas.openxmlformats.org/officeDocument/2006/relationships/font" Target="/ppt/fonts/font.dat" Id="R73251f3481ad464c" /><Relationship Type="http://schemas.openxmlformats.org/officeDocument/2006/relationships/font" Target="/ppt/fonts/font2.dat" Id="R2538b1a3804a4651" /><Relationship Type="http://schemas.openxmlformats.org/officeDocument/2006/relationships/font" Target="/ppt/fonts/font3.dat" Id="Rc5e043d90a514045" /><Relationship Type="http://schemas.openxmlformats.org/officeDocument/2006/relationships/font" Target="/ppt/fonts/font4.dat" Id="Rccea1d65c3b94693" /><Relationship Type="http://schemas.openxmlformats.org/officeDocument/2006/relationships/font" Target="/ppt/fonts/font5.dat" Id="R9ddbd8738a074670" /><Relationship Type="http://schemas.openxmlformats.org/officeDocument/2006/relationships/font" Target="/ppt/fonts/font6.dat" Id="R681786b60fbd443f" /><Relationship Type="http://schemas.openxmlformats.org/officeDocument/2006/relationships/font" Target="/ppt/fonts/font7.dat" Id="Rb1ec9ea9f20e4f79" /><Relationship Type="http://schemas.openxmlformats.org/officeDocument/2006/relationships/font" Target="/ppt/fonts/font8.dat" Id="R425c1ff5f98145cb" /><Relationship Type="http://schemas.openxmlformats.org/officeDocument/2006/relationships/font" Target="/ppt/fonts/font9.dat" Id="R289e810f6b374019" /><Relationship Type="http://schemas.openxmlformats.org/officeDocument/2006/relationships/font" Target="/ppt/fonts/font10.dat" Id="R2d10ecd198534254" /><Relationship Type="http://schemas.openxmlformats.org/officeDocument/2006/relationships/font" Target="/ppt/fonts/font11.dat" Id="Rf5e20e5d344d494c" /><Relationship Type="http://schemas.openxmlformats.org/officeDocument/2006/relationships/font" Target="/ppt/fonts/font12.dat" Id="R0ee693f8c25943fa" /><Relationship Type="http://schemas.openxmlformats.org/officeDocument/2006/relationships/font" Target="/ppt/fonts/font13.dat" Id="Rb827a8a923dd4d34" /><Relationship Type="http://schemas.openxmlformats.org/officeDocument/2006/relationships/font" Target="/ppt/fonts/font14.dat" Id="R33a23e9bbaf54796" /><Relationship Type="http://schemas.openxmlformats.org/officeDocument/2006/relationships/font" Target="/ppt/fonts/font15.dat" Id="R0323c412a9e14260" /><Relationship Type="http://schemas.openxmlformats.org/officeDocument/2006/relationships/font" Target="/ppt/fonts/font16.dat" Id="R8be2d26f22434e16" /><Relationship Type="http://schemas.openxmlformats.org/officeDocument/2006/relationships/font" Target="/ppt/fonts/font17.dat" Id="Rfb17ae3ca3a14be3" /><Relationship Type="http://schemas.openxmlformats.org/officeDocument/2006/relationships/font" Target="/ppt/fonts/font18.dat" Id="R3852a1623a5e46cd" /><Relationship Type="http://schemas.openxmlformats.org/officeDocument/2006/relationships/font" Target="/ppt/fonts/font19.dat" Id="R3395060e85aa4c92" /><Relationship Type="http://schemas.openxmlformats.org/officeDocument/2006/relationships/font" Target="/ppt/fonts/font20.dat" Id="Rf5558114dee145d9" /><Relationship Type="http://schemas.openxmlformats.org/officeDocument/2006/relationships/font" Target="/ppt/fonts/font21.dat" Id="Rc055189cb0714123" /><Relationship Type="http://schemas.openxmlformats.org/officeDocument/2006/relationships/font" Target="/ppt/fonts/font22.dat" Id="R483433c12f434569" /><Relationship Type="http://schemas.openxmlformats.org/officeDocument/2006/relationships/font" Target="/ppt/fonts/font23.dat" Id="Rfb2248aa495e4d40" /><Relationship Type="http://schemas.openxmlformats.org/officeDocument/2006/relationships/font" Target="/ppt/fonts/font24.dat" Id="R3e3ddfa9dbb546e2" /><Relationship Type="http://schemas.openxmlformats.org/officeDocument/2006/relationships/font" Target="/ppt/fonts/font25.dat" Id="R9dd420e5f8cc40f6" /><Relationship Type="http://schemas.openxmlformats.org/officeDocument/2006/relationships/font" Target="/ppt/fonts/font26.dat" Id="Rc17c7bf674ab4a91" /><Relationship Type="http://schemas.openxmlformats.org/officeDocument/2006/relationships/slide" Target="/ppt/slides/slide1.xml" Id="R860a08432f684609" /><Relationship Type="http://schemas.openxmlformats.org/officeDocument/2006/relationships/slide" Target="/ppt/slides/slide2.xml" Id="R0b76193a19f940d3" /><Relationship Type="http://schemas.openxmlformats.org/officeDocument/2006/relationships/slide" Target="/ppt/slides/slide3.xml" Id="R7de0bea72f40490f" /><Relationship Type="http://schemas.openxmlformats.org/officeDocument/2006/relationships/slide" Target="/ppt/slides/slide4.xml" Id="R360b73278f56486d" /><Relationship Type="http://schemas.openxmlformats.org/officeDocument/2006/relationships/slide" Target="/ppt/slides/slide5.xml" Id="R59250f3154434d3c" /><Relationship Type="http://schemas.openxmlformats.org/officeDocument/2006/relationships/slide" Target="/ppt/slides/slide6.xml" Id="R66a2cfbeb09047a3" /><Relationship Type="http://schemas.openxmlformats.org/officeDocument/2006/relationships/slide" Target="/ppt/slides/slide7.xml" Id="R8996e8f8ba4e4a37" /><Relationship Type="http://schemas.openxmlformats.org/officeDocument/2006/relationships/slide" Target="/ppt/slides/slide8.xml" Id="Rc834cd6955554e52" /><Relationship Type="http://schemas.openxmlformats.org/officeDocument/2006/relationships/slide" Target="/ppt/slides/slide9.xml" Id="R5b96cb9ea8f1428e" /><Relationship Type="http://schemas.openxmlformats.org/officeDocument/2006/relationships/slide" Target="/ppt/slides/slide10.xml" Id="R15a155a00e4848f8" /><Relationship Type="http://schemas.openxmlformats.org/officeDocument/2006/relationships/slide" Target="/ppt/slides/slide11.xml" Id="R6cac791275f14683" /><Relationship Type="http://schemas.openxmlformats.org/officeDocument/2006/relationships/slide" Target="/ppt/slides/slide12.xml" Id="R6b9bd86f673146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a7805eb3ca47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1db419d1ec4fb0" /><Relationship Type="http://schemas.openxmlformats.org/officeDocument/2006/relationships/notesMaster" Target="/ppt/notesMasters/notesMaster1.xml" Id="R3aa9112d35d649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2d7a04ac974847" /><Relationship Type="http://schemas.openxmlformats.org/officeDocument/2006/relationships/notesMaster" Target="/ppt/notesMasters/notesMaster1.xml" Id="R94a7773b93a443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1f9afe4f204b71" /><Relationship Type="http://schemas.openxmlformats.org/officeDocument/2006/relationships/notesMaster" Target="/ppt/notesMasters/notesMaster1.xml" Id="R18c64afd9d004f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ba396ff26646b3" /><Relationship Type="http://schemas.openxmlformats.org/officeDocument/2006/relationships/notesMaster" Target="/ppt/notesMasters/notesMaster1.xml" Id="Ra8ee69be36b74f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d4bf833d8845d8" /><Relationship Type="http://schemas.openxmlformats.org/officeDocument/2006/relationships/notesMaster" Target="/ppt/notesMasters/notesMaster1.xml" Id="Rea0e52b14f324c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af38c607b94ac4" /><Relationship Type="http://schemas.openxmlformats.org/officeDocument/2006/relationships/notesMaster" Target="/ppt/notesMasters/notesMaster1.xml" Id="R6ddcc0559edf4c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03c3c6a7dd4ce6" /><Relationship Type="http://schemas.openxmlformats.org/officeDocument/2006/relationships/notesMaster" Target="/ppt/notesMasters/notesMaster1.xml" Id="Rfb94c1e565194c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89d25e93b74f94" /><Relationship Type="http://schemas.openxmlformats.org/officeDocument/2006/relationships/notesMaster" Target="/ppt/notesMasters/notesMaster1.xml" Id="Rb379e09e01124d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bd905d94914862" /><Relationship Type="http://schemas.openxmlformats.org/officeDocument/2006/relationships/notesMaster" Target="/ppt/notesMasters/notesMaster1.xml" Id="Rb4d7eccf259c43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1f8a89b33840df" /><Relationship Type="http://schemas.openxmlformats.org/officeDocument/2006/relationships/notesMaster" Target="/ppt/notesMasters/notesMaster1.xml" Id="R08f0029185a449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1a9d7eef864a41" /><Relationship Type="http://schemas.openxmlformats.org/officeDocument/2006/relationships/notesMaster" Target="/ppt/notesMasters/notesMaster1.xml" Id="R049ab1b118b145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74ac18b80d46fa" /><Relationship Type="http://schemas.openxmlformats.org/officeDocument/2006/relationships/notesMaster" Target="/ppt/notesMasters/notesMaster1.xml" Id="R18331b35c6314e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4215b032c04d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fc29a3fb44b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ab1cc2516042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fbf40f1bb048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e3e32574694e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eddae369ed4e9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61a4219704cb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b78197a16445d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a326178f5742b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d5cf640c1644b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92bee26a3d4e6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bba638612411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08d296fafc448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3c9ed1d568465e" 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7">
            <a:extLst xmlns:a="http://schemas.openxmlformats.org/drawingml/2006/main">
              <a:ext uri="{FF2B5EF4-FFF2-40B4-BE49-F238E27FC236}">
                <a16:creationId xmlns:a16="http://schemas.microsoft.com/office/drawing/2014/main" id="{663694B9-210E-4B79-9B48-629E54D59F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Google Shape;13;p27">
            <a:extLst xmlns:a="http://schemas.openxmlformats.org/drawingml/2006/main">
              <a:ext uri="{FF2B5EF4-FFF2-40B4-BE49-F238E27FC236}">
                <a16:creationId xmlns:a16="http://schemas.microsoft.com/office/drawing/2014/main" id="{6305B915-3A2E-4838-8E49-76D381DEA4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27">
            <a:extLst xmlns:a="http://schemas.openxmlformats.org/drawingml/2006/main">
              <a:ext uri="{FF2B5EF4-FFF2-40B4-BE49-F238E27FC236}">
                <a16:creationId xmlns:a16="http://schemas.microsoft.com/office/drawing/2014/main" id="{B70204AB-A0CE-4E70-8FD4-6EA994F67F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Generated (g3fb96aaf8ef_6_0)">
  <p:cSld name="Generated (g3fb96aaf8ef_6_0)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matchingName="Interno 1.2 3 1">
  <p:cSld name="Interno 1.2 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h130340d2a74abf75_1_124">
            <a:extLst xmlns:a="http://schemas.openxmlformats.org/drawingml/2006/main">
              <a:ext uri="{FF2B5EF4-FFF2-40B4-BE49-F238E27FC236}">
                <a16:creationId xmlns:a16="http://schemas.microsoft.com/office/drawing/2014/main" id="{A28A0060-0509-4FCA-948B-35B2214C79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8400" y="255500"/>
            <a:ext cx="8450100" cy="98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 b="0">
                <a:latin typeface="IBM Plex Sans SemiBold"/>
                <a:ea typeface="IBM Plex Sans SemiBold"/>
                <a:cs typeface="IBM Plex Sans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ono Light"/>
                <a:ea typeface="Roboto Mono Light"/>
                <a:cs typeface="Roboto Mono Ligh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ono Light"/>
                <a:ea typeface="Roboto Mono Light"/>
                <a:cs typeface="Roboto Mono Ligh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ono Light"/>
                <a:ea typeface="Roboto Mono Light"/>
                <a:cs typeface="Roboto Mono Ligh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ono Light"/>
                <a:ea typeface="Roboto Mono Light"/>
                <a:cs typeface="Roboto Mono Ligh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ono Light"/>
                <a:ea typeface="Roboto Mono Light"/>
                <a:cs typeface="Roboto Mono Ligh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ono Light"/>
                <a:ea typeface="Roboto Mono Light"/>
                <a:cs typeface="Roboto Mono Ligh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ono Light"/>
                <a:ea typeface="Roboto Mono Light"/>
                <a:cs typeface="Roboto Mono Ligh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Mono Light"/>
                <a:ea typeface="Roboto Mono Light"/>
                <a:cs typeface="Roboto Mono Light"/>
              </a:defRPr>
            </a:lvl9pPr>
          </a:lstStyle>
          <a:p xmlns:a="http://schemas.openxmlformats.org/drawingml/2006/main"/>
        </p:txBody>
      </p:sp>
      <p:sp>
        <p:nvSpPr>
          <p:cNvPr id="18" name="Google Shape;18;h130340d2a74abf75_1_124">
            <a:extLst xmlns:a="http://schemas.openxmlformats.org/drawingml/2006/main">
              <a:ext uri="{FF2B5EF4-FFF2-40B4-BE49-F238E27FC236}">
                <a16:creationId xmlns:a16="http://schemas.microsoft.com/office/drawing/2014/main" id="{0CE02A70-C966-4605-A231-47F7CF8A58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3450" y="895900"/>
            <a:ext cx="8065800" cy="241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Sans Light"/>
              <a:buChar char="●"/>
              <a:defRPr sz="1000">
                <a:latin typeface="IBM Plex Sans Light"/>
                <a:ea typeface="IBM Plex Sans Light"/>
                <a:cs typeface="IBM Plex Sans Light"/>
              </a:defRPr>
            </a:lvl1pPr>
            <a:lvl2pPr marL="9144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marL="18288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marL="22860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Light"/>
              <a:buChar char="○"/>
              <a:defRPr sz="10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</a:defRPr>
            </a:lvl5pPr>
            <a:lvl6pPr marL="27432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</a:defRPr>
            </a:lvl6pPr>
            <a:lvl7pPr marL="32004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marL="36576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Light"/>
              <a:buChar char="○"/>
              <a:defRPr sz="10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</a:defRPr>
            </a:lvl8pPr>
            <a:lvl9pPr marL="411480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matchingName="Interno 1.2 3">
  <p:cSld name="Interno 1.2 (g3e016a1fba4_69_0)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g3fb940bf621_238_135">
            <a:extLst xmlns:a="http://schemas.openxmlformats.org/drawingml/2006/main">
              <a:ext uri="{FF2B5EF4-FFF2-40B4-BE49-F238E27FC236}">
                <a16:creationId xmlns:a16="http://schemas.microsoft.com/office/drawing/2014/main" id="{361737BB-A89D-4CDA-B9B8-6F002F98E5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8400" y="255500"/>
            <a:ext cx="8450100" cy="98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 b="0">
                <a:latin typeface="IBM Plex Sans SemiBold"/>
                <a:ea typeface="IBM Plex Sans SemiBold"/>
                <a:cs typeface="IBM Plex Sans SemiBol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 Mono Light"/>
                <a:ea typeface="Roboto Mono Light"/>
                <a:cs typeface="Roboto Mono Ligh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 Mono Light"/>
                <a:ea typeface="Roboto Mono Light"/>
                <a:cs typeface="Roboto Mono Ligh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 Mono Light"/>
                <a:ea typeface="Roboto Mono Light"/>
                <a:cs typeface="Roboto Mono Ligh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 Mono Light"/>
                <a:ea typeface="Roboto Mono Light"/>
                <a:cs typeface="Roboto Mono Ligh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 Mono Light"/>
                <a:ea typeface="Roboto Mono Light"/>
                <a:cs typeface="Roboto Mono Ligh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 Mono Light"/>
                <a:ea typeface="Roboto Mono Light"/>
                <a:cs typeface="Roboto Mono Ligh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 Mono Light"/>
                <a:ea typeface="Roboto Mono Light"/>
                <a:cs typeface="Roboto Mono Ligh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 Mono Light"/>
                <a:ea typeface="Roboto Mono Light"/>
                <a:cs typeface="Roboto Mono Light"/>
              </a:defRPr>
            </a:lvl9pPr>
          </a:lstStyle>
          <a:p xmlns:a="http://schemas.openxmlformats.org/drawingml/2006/main"/>
        </p:txBody>
      </p:sp>
      <p:sp>
        <p:nvSpPr>
          <p:cNvPr id="21" name="Google Shape;21;g3fb940bf621_238_135">
            <a:extLst xmlns:a="http://schemas.openxmlformats.org/drawingml/2006/main">
              <a:ext uri="{FF2B5EF4-FFF2-40B4-BE49-F238E27FC236}">
                <a16:creationId xmlns:a16="http://schemas.microsoft.com/office/drawing/2014/main" id="{5A8B08F3-DDF4-433F-B64A-84BAA5BBC8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3450" y="895900"/>
            <a:ext cx="8065800" cy="241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921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000"/>
              <a:buFont typeface="IBM Plex Sans Light"/>
              <a:buChar char="•"/>
              <a:defRPr sz="1000">
                <a:latin typeface="IBM Plex Sans Light"/>
                <a:ea typeface="IBM Plex Sans Light"/>
                <a:cs typeface="IBM Plex Sans Light"/>
              </a:defRPr>
            </a:lvl1pPr>
            <a:lvl2pPr marL="914400" indent="-2921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000"/>
              <a:buChar char="–"/>
              <a:defRPr sz="1000"/>
            </a:lvl2pPr>
            <a:lvl3pPr marL="1371600" indent="-2921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chemeClr val="dk1"/>
                </a:solidFill>
              </a:defRPr>
            </a:lvl3pPr>
            <a:lvl4pPr marL="1828800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>
                <a:solidFill>
                  <a:schemeClr val="dk1"/>
                </a:solidFill>
              </a:defRPr>
            </a:lvl4pPr>
            <a:lvl5pPr marL="2286000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Light"/>
              <a:buChar char="»"/>
              <a:defRPr sz="10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</a:defRPr>
            </a:lvl5pPr>
            <a:lvl6pPr marL="2743200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•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</a:defRPr>
            </a:lvl6pPr>
            <a:lvl7pPr marL="3200400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>
                <a:solidFill>
                  <a:schemeClr val="dk1"/>
                </a:solidFill>
              </a:defRPr>
            </a:lvl7pPr>
            <a:lvl8pPr marL="3657600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Light"/>
              <a:buChar char="•"/>
              <a:defRPr sz="1000">
                <a:solidFill>
                  <a:schemeClr val="dk1"/>
                </a:solidFill>
                <a:latin typeface="IBM Plex Sans Light"/>
                <a:ea typeface="IBM Plex Sans Light"/>
                <a:cs typeface="IBM Plex Sans Light"/>
              </a:defRPr>
            </a:lvl8pPr>
            <a:lvl9pPr marL="4114800" indent="-2921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•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28">
            <a:extLst xmlns:a="http://schemas.openxmlformats.org/drawingml/2006/main">
              <a:ext uri="{FF2B5EF4-FFF2-40B4-BE49-F238E27FC236}">
                <a16:creationId xmlns:a16="http://schemas.microsoft.com/office/drawing/2014/main" id="{D3B8448F-0D30-43E8-A943-D5A6FFC950E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4" name="Google Shape;24;p28">
            <a:extLst xmlns:a="http://schemas.openxmlformats.org/drawingml/2006/main">
              <a:ext uri="{FF2B5EF4-FFF2-40B4-BE49-F238E27FC236}">
                <a16:creationId xmlns:a16="http://schemas.microsoft.com/office/drawing/2014/main" id="{54591712-F0C6-41FF-81AB-DFB69967BAA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5" name="Google Shape;25;p28">
            <a:extLst xmlns:a="http://schemas.openxmlformats.org/drawingml/2006/main">
              <a:ext uri="{FF2B5EF4-FFF2-40B4-BE49-F238E27FC236}">
                <a16:creationId xmlns:a16="http://schemas.microsoft.com/office/drawing/2014/main" id="{E8A754FA-B817-4159-8857-A9CB93A9E0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28">
            <a:extLst xmlns:a="http://schemas.openxmlformats.org/drawingml/2006/main">
              <a:ext uri="{FF2B5EF4-FFF2-40B4-BE49-F238E27FC236}">
                <a16:creationId xmlns:a16="http://schemas.microsoft.com/office/drawing/2014/main" id="{BB776263-174F-47A9-BC44-06B9CE14BD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28">
            <a:extLst xmlns:a="http://schemas.openxmlformats.org/drawingml/2006/main">
              <a:ext uri="{FF2B5EF4-FFF2-40B4-BE49-F238E27FC236}">
                <a16:creationId xmlns:a16="http://schemas.microsoft.com/office/drawing/2014/main" id="{6F6A29EC-6543-4478-9A3C-5359904E12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29">
            <a:extLst xmlns:a="http://schemas.openxmlformats.org/drawingml/2006/main">
              <a:ext uri="{FF2B5EF4-FFF2-40B4-BE49-F238E27FC236}">
                <a16:creationId xmlns:a16="http://schemas.microsoft.com/office/drawing/2014/main" id="{6C92933F-DEEF-42C9-8F4D-E42E9CC9F7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0" name="Google Shape;30;p29">
            <a:extLst xmlns:a="http://schemas.openxmlformats.org/drawingml/2006/main">
              <a:ext uri="{FF2B5EF4-FFF2-40B4-BE49-F238E27FC236}">
                <a16:creationId xmlns:a16="http://schemas.microsoft.com/office/drawing/2014/main" id="{8B7291B3-5BC4-47F4-83A2-16DFABCD67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1" name="Google Shape;31;p29">
            <a:extLst xmlns:a="http://schemas.openxmlformats.org/drawingml/2006/main">
              <a:ext uri="{FF2B5EF4-FFF2-40B4-BE49-F238E27FC236}">
                <a16:creationId xmlns:a16="http://schemas.microsoft.com/office/drawing/2014/main" id="{3E7F84B3-8CC3-4CAB-9324-C236BA69C3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29">
            <a:extLst xmlns:a="http://schemas.openxmlformats.org/drawingml/2006/main">
              <a:ext uri="{FF2B5EF4-FFF2-40B4-BE49-F238E27FC236}">
                <a16:creationId xmlns:a16="http://schemas.microsoft.com/office/drawing/2014/main" id="{4369D7FA-3723-4429-830C-7AB750F937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3" name="Google Shape;33;p29">
            <a:extLst xmlns:a="http://schemas.openxmlformats.org/drawingml/2006/main">
              <a:ext uri="{FF2B5EF4-FFF2-40B4-BE49-F238E27FC236}">
                <a16:creationId xmlns:a16="http://schemas.microsoft.com/office/drawing/2014/main" id="{B45476A1-7F0B-4BB6-82BE-715895B17F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30">
            <a:extLst xmlns:a="http://schemas.openxmlformats.org/drawingml/2006/main">
              <a:ext uri="{FF2B5EF4-FFF2-40B4-BE49-F238E27FC236}">
                <a16:creationId xmlns:a16="http://schemas.microsoft.com/office/drawing/2014/main" id="{8650C908-46C8-4B55-85C1-81DEA461DD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6" name="Google Shape;36;p30">
            <a:extLst xmlns:a="http://schemas.openxmlformats.org/drawingml/2006/main">
              <a:ext uri="{FF2B5EF4-FFF2-40B4-BE49-F238E27FC236}">
                <a16:creationId xmlns:a16="http://schemas.microsoft.com/office/drawing/2014/main" id="{14EEBED8-6A80-4986-A077-C4BDC0AF2B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7" name="Google Shape;37;p30">
            <a:extLst xmlns:a="http://schemas.openxmlformats.org/drawingml/2006/main">
              <a:ext uri="{FF2B5EF4-FFF2-40B4-BE49-F238E27FC236}">
                <a16:creationId xmlns:a16="http://schemas.microsoft.com/office/drawing/2014/main" id="{F8CAF66E-FE08-4DF1-8458-64AE628E4F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p30">
            <a:extLst xmlns:a="http://schemas.openxmlformats.org/drawingml/2006/main">
              <a:ext uri="{FF2B5EF4-FFF2-40B4-BE49-F238E27FC236}">
                <a16:creationId xmlns:a16="http://schemas.microsoft.com/office/drawing/2014/main" id="{CB479799-3398-4D52-B258-7238ACA78E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30">
            <a:extLst xmlns:a="http://schemas.openxmlformats.org/drawingml/2006/main">
              <a:ext uri="{FF2B5EF4-FFF2-40B4-BE49-F238E27FC236}">
                <a16:creationId xmlns:a16="http://schemas.microsoft.com/office/drawing/2014/main" id="{6E067106-B9C9-431C-AB21-FBB0921C34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31">
            <a:extLst xmlns:a="http://schemas.openxmlformats.org/drawingml/2006/main">
              <a:ext uri="{FF2B5EF4-FFF2-40B4-BE49-F238E27FC236}">
                <a16:creationId xmlns:a16="http://schemas.microsoft.com/office/drawing/2014/main" id="{89E08B47-283D-4275-ADFF-7D4F1E8723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31">
            <a:extLst xmlns:a="http://schemas.openxmlformats.org/drawingml/2006/main">
              <a:ext uri="{FF2B5EF4-FFF2-40B4-BE49-F238E27FC236}">
                <a16:creationId xmlns:a16="http://schemas.microsoft.com/office/drawing/2014/main" id="{EDC2B433-7181-477F-908B-634ED1CB4B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43" name="Google Shape;43;p31">
            <a:extLst xmlns:a="http://schemas.openxmlformats.org/drawingml/2006/main">
              <a:ext uri="{FF2B5EF4-FFF2-40B4-BE49-F238E27FC236}">
                <a16:creationId xmlns:a16="http://schemas.microsoft.com/office/drawing/2014/main" id="{AFEAF870-E24F-40E3-8B73-5CFB7694C8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44" name="Google Shape;44;p31">
            <a:extLst xmlns:a="http://schemas.openxmlformats.org/drawingml/2006/main">
              <a:ext uri="{FF2B5EF4-FFF2-40B4-BE49-F238E27FC236}">
                <a16:creationId xmlns:a16="http://schemas.microsoft.com/office/drawing/2014/main" id="{FC4B5E69-3175-4F43-AEB2-E1F49B1CA9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5" name="Google Shape;45;p31">
            <a:extLst xmlns:a="http://schemas.openxmlformats.org/drawingml/2006/main">
              <a:ext uri="{FF2B5EF4-FFF2-40B4-BE49-F238E27FC236}">
                <a16:creationId xmlns:a16="http://schemas.microsoft.com/office/drawing/2014/main" id="{EE2D8E7C-5AAB-4D27-B651-0ABDC423D9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6" name="Google Shape;46;p31">
            <a:extLst xmlns:a="http://schemas.openxmlformats.org/drawingml/2006/main">
              <a:ext uri="{FF2B5EF4-FFF2-40B4-BE49-F238E27FC236}">
                <a16:creationId xmlns:a16="http://schemas.microsoft.com/office/drawing/2014/main" id="{0E8D02EC-03A5-4CE8-B31A-9909D1E503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32">
            <a:extLst xmlns:a="http://schemas.openxmlformats.org/drawingml/2006/main">
              <a:ext uri="{FF2B5EF4-FFF2-40B4-BE49-F238E27FC236}">
                <a16:creationId xmlns:a16="http://schemas.microsoft.com/office/drawing/2014/main" id="{26675716-69B3-4902-A5EF-D591E96F64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Google Shape;49;p32">
            <a:extLst xmlns:a="http://schemas.openxmlformats.org/drawingml/2006/main">
              <a:ext uri="{FF2B5EF4-FFF2-40B4-BE49-F238E27FC236}">
                <a16:creationId xmlns:a16="http://schemas.microsoft.com/office/drawing/2014/main" id="{25F4E94E-BA7E-4BE3-9658-9B11C5C052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50" name="Google Shape;50;p32">
            <a:extLst xmlns:a="http://schemas.openxmlformats.org/drawingml/2006/main">
              <a:ext uri="{FF2B5EF4-FFF2-40B4-BE49-F238E27FC236}">
                <a16:creationId xmlns:a16="http://schemas.microsoft.com/office/drawing/2014/main" id="{777B7B5C-B58D-429A-AED6-3BD1E63021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2174875"/>
            <a:ext cx="4040188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51" name="Google Shape;51;p32">
            <a:extLst xmlns:a="http://schemas.openxmlformats.org/drawingml/2006/main">
              <a:ext uri="{FF2B5EF4-FFF2-40B4-BE49-F238E27FC236}">
                <a16:creationId xmlns:a16="http://schemas.microsoft.com/office/drawing/2014/main" id="{B8016C1A-982B-4BBC-BC28-4545A361340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52" name="Google Shape;52;p32">
            <a:extLst xmlns:a="http://schemas.openxmlformats.org/drawingml/2006/main">
              <a:ext uri="{FF2B5EF4-FFF2-40B4-BE49-F238E27FC236}">
                <a16:creationId xmlns:a16="http://schemas.microsoft.com/office/drawing/2014/main" id="{056D79A1-04F6-4E46-B763-6EBCBC7716FC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2174875"/>
            <a:ext cx="4041775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53" name="Google Shape;53;p32">
            <a:extLst xmlns:a="http://schemas.openxmlformats.org/drawingml/2006/main">
              <a:ext uri="{FF2B5EF4-FFF2-40B4-BE49-F238E27FC236}">
                <a16:creationId xmlns:a16="http://schemas.microsoft.com/office/drawing/2014/main" id="{91189981-D29F-4E60-BE8A-B11A4C5692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4" name="Google Shape;54;p32">
            <a:extLst xmlns:a="http://schemas.openxmlformats.org/drawingml/2006/main">
              <a:ext uri="{FF2B5EF4-FFF2-40B4-BE49-F238E27FC236}">
                <a16:creationId xmlns:a16="http://schemas.microsoft.com/office/drawing/2014/main" id="{1C943B27-9476-405D-88F2-77BBD4A319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5" name="Google Shape;55;p32">
            <a:extLst xmlns:a="http://schemas.openxmlformats.org/drawingml/2006/main">
              <a:ext uri="{FF2B5EF4-FFF2-40B4-BE49-F238E27FC236}">
                <a16:creationId xmlns:a16="http://schemas.microsoft.com/office/drawing/2014/main" id="{19B4F291-FF1E-4E2D-943D-6135BC8A26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33">
            <a:extLst xmlns:a="http://schemas.openxmlformats.org/drawingml/2006/main">
              <a:ext uri="{FF2B5EF4-FFF2-40B4-BE49-F238E27FC236}">
                <a16:creationId xmlns:a16="http://schemas.microsoft.com/office/drawing/2014/main" id="{8FB38414-8450-432D-AC77-182E1424FF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8" name="Google Shape;58;p33">
            <a:extLst xmlns:a="http://schemas.openxmlformats.org/drawingml/2006/main">
              <a:ext uri="{FF2B5EF4-FFF2-40B4-BE49-F238E27FC236}">
                <a16:creationId xmlns:a16="http://schemas.microsoft.com/office/drawing/2014/main" id="{16AA28A6-4CE8-4CA0-930B-569EF48491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33">
            <a:extLst xmlns:a="http://schemas.openxmlformats.org/drawingml/2006/main">
              <a:ext uri="{FF2B5EF4-FFF2-40B4-BE49-F238E27FC236}">
                <a16:creationId xmlns:a16="http://schemas.microsoft.com/office/drawing/2014/main" id="{38DA63A2-9085-4434-9A08-FB854900BC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33">
            <a:extLst xmlns:a="http://schemas.openxmlformats.org/drawingml/2006/main">
              <a:ext uri="{FF2B5EF4-FFF2-40B4-BE49-F238E27FC236}">
                <a16:creationId xmlns:a16="http://schemas.microsoft.com/office/drawing/2014/main" id="{201A5397-49BD-4434-97C0-9CE9BB5D83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34">
            <a:extLst xmlns:a="http://schemas.openxmlformats.org/drawingml/2006/main">
              <a:ext uri="{FF2B5EF4-FFF2-40B4-BE49-F238E27FC236}">
                <a16:creationId xmlns:a16="http://schemas.microsoft.com/office/drawing/2014/main" id="{A4633F32-7F2B-4E42-A79E-FEB0459B90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34">
            <a:extLst xmlns:a="http://schemas.openxmlformats.org/drawingml/2006/main">
              <a:ext uri="{FF2B5EF4-FFF2-40B4-BE49-F238E27FC236}">
                <a16:creationId xmlns:a16="http://schemas.microsoft.com/office/drawing/2014/main" id="{3F3047C6-8BA1-4DE8-A9A0-24B7E9C7A4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73050"/>
            <a:ext cx="5111750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64" name="Google Shape;64;p34">
            <a:extLst xmlns:a="http://schemas.openxmlformats.org/drawingml/2006/main">
              <a:ext uri="{FF2B5EF4-FFF2-40B4-BE49-F238E27FC236}">
                <a16:creationId xmlns:a16="http://schemas.microsoft.com/office/drawing/2014/main" id="{46ABB0F0-530F-4B4F-9CAE-A316EF9FCE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5" name="Google Shape;65;p34">
            <a:extLst xmlns:a="http://schemas.openxmlformats.org/drawingml/2006/main">
              <a:ext uri="{FF2B5EF4-FFF2-40B4-BE49-F238E27FC236}">
                <a16:creationId xmlns:a16="http://schemas.microsoft.com/office/drawing/2014/main" id="{772D13C7-9C39-4CCD-B5EA-6420A6D34E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Google Shape;66;p34">
            <a:extLst xmlns:a="http://schemas.openxmlformats.org/drawingml/2006/main">
              <a:ext uri="{FF2B5EF4-FFF2-40B4-BE49-F238E27FC236}">
                <a16:creationId xmlns:a16="http://schemas.microsoft.com/office/drawing/2014/main" id="{7D05E476-63BA-4C6F-8F09-F0E036A839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34">
            <a:extLst xmlns:a="http://schemas.openxmlformats.org/drawingml/2006/main">
              <a:ext uri="{FF2B5EF4-FFF2-40B4-BE49-F238E27FC236}">
                <a16:creationId xmlns:a16="http://schemas.microsoft.com/office/drawing/2014/main" id="{41638BE7-AB5D-47C5-BA3D-C7483530F0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35">
            <a:extLst xmlns:a="http://schemas.openxmlformats.org/drawingml/2006/main">
              <a:ext uri="{FF2B5EF4-FFF2-40B4-BE49-F238E27FC236}">
                <a16:creationId xmlns:a16="http://schemas.microsoft.com/office/drawing/2014/main" id="{363040C9-35F1-49D8-A25C-99B5368B14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35">
            <a:extLst xmlns:a="http://schemas.openxmlformats.org/drawingml/2006/main">
              <a:ext uri="{FF2B5EF4-FFF2-40B4-BE49-F238E27FC236}">
                <a16:creationId xmlns:a16="http://schemas.microsoft.com/office/drawing/2014/main" id="{7341C7C7-7CDD-49E6-B1A1-2BE16C2A7EA7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612775"/>
            <a:ext cx="5486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35">
            <a:extLst xmlns:a="http://schemas.openxmlformats.org/drawingml/2006/main">
              <a:ext uri="{FF2B5EF4-FFF2-40B4-BE49-F238E27FC236}">
                <a16:creationId xmlns:a16="http://schemas.microsoft.com/office/drawing/2014/main" id="{DEA841EA-3D7B-416A-BAE1-4A57216420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5367338"/>
            <a:ext cx="54864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72" name="Google Shape;72;p35">
            <a:extLst xmlns:a="http://schemas.openxmlformats.org/drawingml/2006/main">
              <a:ext uri="{FF2B5EF4-FFF2-40B4-BE49-F238E27FC236}">
                <a16:creationId xmlns:a16="http://schemas.microsoft.com/office/drawing/2014/main" id="{B13C9F4F-014F-4969-B62B-156D195D27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Google Shape;73;p35">
            <a:extLst xmlns:a="http://schemas.openxmlformats.org/drawingml/2006/main">
              <a:ext uri="{FF2B5EF4-FFF2-40B4-BE49-F238E27FC236}">
                <a16:creationId xmlns:a16="http://schemas.microsoft.com/office/drawing/2014/main" id="{32AEC866-C730-4D7D-8DF2-A39F00C7CD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4" name="Google Shape;74;p35">
            <a:extLst xmlns:a="http://schemas.openxmlformats.org/drawingml/2006/main">
              <a:ext uri="{FF2B5EF4-FFF2-40B4-BE49-F238E27FC236}">
                <a16:creationId xmlns:a16="http://schemas.microsoft.com/office/drawing/2014/main" id="{1E1CD573-5258-41A3-BA14-69D5943FF5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Google Shape;76;p36">
            <a:extLst xmlns:a="http://schemas.openxmlformats.org/drawingml/2006/main">
              <a:ext uri="{FF2B5EF4-FFF2-40B4-BE49-F238E27FC236}">
                <a16:creationId xmlns:a16="http://schemas.microsoft.com/office/drawing/2014/main" id="{867E64A3-F128-4348-B8FE-1DF404C3C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36">
            <a:extLst xmlns:a="http://schemas.openxmlformats.org/drawingml/2006/main">
              <a:ext uri="{FF2B5EF4-FFF2-40B4-BE49-F238E27FC236}">
                <a16:creationId xmlns:a16="http://schemas.microsoft.com/office/drawing/2014/main" id="{1EC955CE-E8BF-4743-9ADA-EE0ECEA676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309019" y="-251618"/>
            <a:ext cx="4525963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8" name="Google Shape;78;p36">
            <a:extLst xmlns:a="http://schemas.openxmlformats.org/drawingml/2006/main">
              <a:ext uri="{FF2B5EF4-FFF2-40B4-BE49-F238E27FC236}">
                <a16:creationId xmlns:a16="http://schemas.microsoft.com/office/drawing/2014/main" id="{CE62429B-B9E7-40ED-BE19-E382296E86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Google Shape;79;p36">
            <a:extLst xmlns:a="http://schemas.openxmlformats.org/drawingml/2006/main">
              <a:ext uri="{FF2B5EF4-FFF2-40B4-BE49-F238E27FC236}">
                <a16:creationId xmlns:a16="http://schemas.microsoft.com/office/drawing/2014/main" id="{98324FE8-B088-45E4-97DD-0A82D955B1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0" name="Google Shape;80;p36">
            <a:extLst xmlns:a="http://schemas.openxmlformats.org/drawingml/2006/main">
              <a:ext uri="{FF2B5EF4-FFF2-40B4-BE49-F238E27FC236}">
                <a16:creationId xmlns:a16="http://schemas.microsoft.com/office/drawing/2014/main" id="{1597F6F1-E12F-4216-A0F9-5AADDAF7FE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37">
            <a:extLst xmlns:a="http://schemas.openxmlformats.org/drawingml/2006/main">
              <a:ext uri="{FF2B5EF4-FFF2-40B4-BE49-F238E27FC236}">
                <a16:creationId xmlns:a16="http://schemas.microsoft.com/office/drawing/2014/main" id="{0D913BFD-1707-4444-9367-6ED7A527CE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4732338" y="2171701"/>
            <a:ext cx="58515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3" name="Google Shape;83;p37">
            <a:extLst xmlns:a="http://schemas.openxmlformats.org/drawingml/2006/main">
              <a:ext uri="{FF2B5EF4-FFF2-40B4-BE49-F238E27FC236}">
                <a16:creationId xmlns:a16="http://schemas.microsoft.com/office/drawing/2014/main" id="{711E43E1-5F1B-490F-AD06-4679A0FAD5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541338" y="190500"/>
            <a:ext cx="5851525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84" name="Google Shape;84;p37">
            <a:extLst xmlns:a="http://schemas.openxmlformats.org/drawingml/2006/main">
              <a:ext uri="{FF2B5EF4-FFF2-40B4-BE49-F238E27FC236}">
                <a16:creationId xmlns:a16="http://schemas.microsoft.com/office/drawing/2014/main" id="{4375B742-0C45-4FE1-AA67-CAE382454E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5" name="Google Shape;85;p37">
            <a:extLst xmlns:a="http://schemas.openxmlformats.org/drawingml/2006/main">
              <a:ext uri="{FF2B5EF4-FFF2-40B4-BE49-F238E27FC236}">
                <a16:creationId xmlns:a16="http://schemas.microsoft.com/office/drawing/2014/main" id="{941107A7-8290-4424-B0E7-CD24CBC814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86" name="Google Shape;86;p37">
            <a:extLst xmlns:a="http://schemas.openxmlformats.org/drawingml/2006/main">
              <a:ext uri="{FF2B5EF4-FFF2-40B4-BE49-F238E27FC236}">
                <a16:creationId xmlns:a16="http://schemas.microsoft.com/office/drawing/2014/main" id="{724694D0-5E9E-4FC4-B700-D232E67102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9071d31f134ff3" /><Relationship Type="http://schemas.openxmlformats.org/officeDocument/2006/relationships/slideLayout" Target="/ppt/slideLayouts/slideLayout1.xml" Id="R3b529e3ab1724763" /><Relationship Type="http://schemas.openxmlformats.org/officeDocument/2006/relationships/slideLayout" Target="/ppt/slideLayouts/slideLayout2.xml" Id="Raf86b3e07f2c4b03" /><Relationship Type="http://schemas.openxmlformats.org/officeDocument/2006/relationships/slideLayout" Target="/ppt/slideLayouts/slideLayout3.xml" Id="R7daa87038bf34b74" /><Relationship Type="http://schemas.openxmlformats.org/officeDocument/2006/relationships/slideLayout" Target="/ppt/slideLayouts/slideLayout4.xml" Id="Rf284886a5a824420" /><Relationship Type="http://schemas.openxmlformats.org/officeDocument/2006/relationships/slideLayout" Target="/ppt/slideLayouts/slideLayout5.xml" Id="R4fc255828fc845d2" /><Relationship Type="http://schemas.openxmlformats.org/officeDocument/2006/relationships/slideLayout" Target="/ppt/slideLayouts/slideLayout6.xml" Id="Rda9a30c8253144e3" /><Relationship Type="http://schemas.openxmlformats.org/officeDocument/2006/relationships/slideLayout" Target="/ppt/slideLayouts/slideLayout7.xml" Id="R5e70c30f8d514df8" /><Relationship Type="http://schemas.openxmlformats.org/officeDocument/2006/relationships/slideLayout" Target="/ppt/slideLayouts/slideLayout8.xml" Id="R72a9fbf8341f4b0f" /><Relationship Type="http://schemas.openxmlformats.org/officeDocument/2006/relationships/slideLayout" Target="/ppt/slideLayouts/slideLayout9.xml" Id="R50246d3ae2b64687" /><Relationship Type="http://schemas.openxmlformats.org/officeDocument/2006/relationships/slideLayout" Target="/ppt/slideLayouts/slideLayout10.xml" Id="R33c1baacf35e4a8a" /><Relationship Type="http://schemas.openxmlformats.org/officeDocument/2006/relationships/slideLayout" Target="/ppt/slideLayouts/slideLayout11.xml" Id="R9d9761f8537145b6" /><Relationship Type="http://schemas.openxmlformats.org/officeDocument/2006/relationships/slideLayout" Target="/ppt/slideLayouts/slideLayout12.xml" Id="R04f091d6f3524291" /><Relationship Type="http://schemas.openxmlformats.org/officeDocument/2006/relationships/slideLayout" Target="/ppt/slideLayouts/slideLayout13.xml" Id="Rd568658a857d49d5" /><Relationship Type="http://schemas.openxmlformats.org/officeDocument/2006/relationships/slideLayout" Target="/ppt/slideLayouts/slideLayout14.xml" Id="Rc7f17f936c23451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26">
            <a:extLst xmlns:a="http://schemas.openxmlformats.org/drawingml/2006/main">
              <a:ext uri="{FF2B5EF4-FFF2-40B4-BE49-F238E27FC236}">
                <a16:creationId xmlns:a16="http://schemas.microsoft.com/office/drawing/2014/main" id="{44F98BC1-CDB1-4280-BC94-D9A456147E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7" name="Google Shape;7;p26">
            <a:extLst xmlns:a="http://schemas.openxmlformats.org/drawingml/2006/main">
              <a:ext uri="{FF2B5EF4-FFF2-40B4-BE49-F238E27FC236}">
                <a16:creationId xmlns:a16="http://schemas.microsoft.com/office/drawing/2014/main" id="{6F998DF3-A016-458F-A163-4F7D7E648A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8" name="Google Shape;8;p26">
            <a:extLst xmlns:a="http://schemas.openxmlformats.org/drawingml/2006/main">
              <a:ext uri="{FF2B5EF4-FFF2-40B4-BE49-F238E27FC236}">
                <a16:creationId xmlns:a16="http://schemas.microsoft.com/office/drawing/2014/main" id="{0CB431DB-BBD0-412B-89F4-D3CEA7A7F1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9" name="Google Shape;9;p26">
            <a:extLst xmlns:a="http://schemas.openxmlformats.org/drawingml/2006/main">
              <a:ext uri="{FF2B5EF4-FFF2-40B4-BE49-F238E27FC236}">
                <a16:creationId xmlns:a16="http://schemas.microsoft.com/office/drawing/2014/main" id="{A8AB586C-9101-483B-B5E1-2FF2EB43AE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0" name="Google Shape;10;p26">
            <a:extLst xmlns:a="http://schemas.openxmlformats.org/drawingml/2006/main">
              <a:ext uri="{FF2B5EF4-FFF2-40B4-BE49-F238E27FC236}">
                <a16:creationId xmlns:a16="http://schemas.microsoft.com/office/drawing/2014/main" id="{051B9BBB-4108-45AA-816F-38D2A4896C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529e3ab1724763"/>
    <p:sldLayoutId xmlns:r="http://schemas.openxmlformats.org/officeDocument/2006/relationships" id="2147483650" r:id="Raf86b3e07f2c4b03"/>
    <p:sldLayoutId xmlns:r="http://schemas.openxmlformats.org/officeDocument/2006/relationships" id="2147483651" r:id="R7daa87038bf34b74"/>
    <p:sldLayoutId xmlns:r="http://schemas.openxmlformats.org/officeDocument/2006/relationships" id="2147483652" r:id="Rf284886a5a824420"/>
    <p:sldLayoutId xmlns:r="http://schemas.openxmlformats.org/officeDocument/2006/relationships" id="2147483653" r:id="R4fc255828fc845d2"/>
    <p:sldLayoutId xmlns:r="http://schemas.openxmlformats.org/officeDocument/2006/relationships" id="2147483654" r:id="Rda9a30c8253144e3"/>
    <p:sldLayoutId xmlns:r="http://schemas.openxmlformats.org/officeDocument/2006/relationships" id="2147483655" r:id="R5e70c30f8d514df8"/>
    <p:sldLayoutId xmlns:r="http://schemas.openxmlformats.org/officeDocument/2006/relationships" id="2147483656" r:id="R72a9fbf8341f4b0f"/>
    <p:sldLayoutId xmlns:r="http://schemas.openxmlformats.org/officeDocument/2006/relationships" id="2147483657" r:id="R50246d3ae2b64687"/>
    <p:sldLayoutId xmlns:r="http://schemas.openxmlformats.org/officeDocument/2006/relationships" id="2147483658" r:id="R33c1baacf35e4a8a"/>
    <p:sldLayoutId xmlns:r="http://schemas.openxmlformats.org/officeDocument/2006/relationships" id="2147483659" r:id="R9d9761f8537145b6"/>
    <p:sldLayoutId xmlns:r="http://schemas.openxmlformats.org/officeDocument/2006/relationships" id="2147483660" r:id="R04f091d6f3524291"/>
    <p:sldLayoutId xmlns:r="http://schemas.openxmlformats.org/officeDocument/2006/relationships" id="2147483661" r:id="Rd568658a857d49d5"/>
    <p:sldLayoutId xmlns:r="http://schemas.openxmlformats.org/officeDocument/2006/relationships" id="2147483662" r:id="Rc7f17f936c23451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9ea6009e342cf" /><Relationship Type="http://schemas.openxmlformats.org/officeDocument/2006/relationships/notesSlide" Target="/ppt/notesSlides/notesSlide1.xml" Id="Rc156cd73a99f40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f49b4caef48a3" /><Relationship Type="http://schemas.openxmlformats.org/officeDocument/2006/relationships/image" Target="/ppt/media/image.png" Id="Rda639057079f48d6" /><Relationship Type="http://schemas.openxmlformats.org/officeDocument/2006/relationships/notesSlide" Target="/ppt/notesSlides/notesSlide2.xml" Id="Rbccfe734232146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fe2840b094ab8" /><Relationship Type="http://schemas.openxmlformats.org/officeDocument/2006/relationships/notesSlide" Target="/ppt/notesSlides/notesSlide3.xml" Id="R27df760bd1ef47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2668f79f54479" /><Relationship Type="http://schemas.openxmlformats.org/officeDocument/2006/relationships/image" Target="/ppt/media/image.png" Id="Rb76b9e90574b4e1f" /><Relationship Type="http://schemas.openxmlformats.org/officeDocument/2006/relationships/image" Target="/ppt/media/image2.png" Id="R09b15b65049e4c9a" /><Relationship Type="http://schemas.openxmlformats.org/officeDocument/2006/relationships/notesSlide" Target="/ppt/notesSlides/notesSlide4.xml" Id="Rba069d755f8c4e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c614b80d343fb" /><Relationship Type="http://schemas.openxmlformats.org/officeDocument/2006/relationships/image" Target="/ppt/media/image.png" Id="R7b39070eed154bed" /><Relationship Type="http://schemas.openxmlformats.org/officeDocument/2006/relationships/notesSlide" Target="/ppt/notesSlides/notesSlide5.xml" Id="Rbbf8457676cb4d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76e975b3b4b12" /><Relationship Type="http://schemas.openxmlformats.org/officeDocument/2006/relationships/image" Target="/ppt/media/image.png" Id="R2d6b599f13204739" /><Relationship Type="http://schemas.openxmlformats.org/officeDocument/2006/relationships/image" Target="/ppt/media/image3.png" Id="Rfb47356a7ed54ccf" /><Relationship Type="http://schemas.openxmlformats.org/officeDocument/2006/relationships/notesSlide" Target="/ppt/notesSlides/notesSlide6.xml" Id="R805e7d1e45b340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2a51b877740bd" /><Relationship Type="http://schemas.openxmlformats.org/officeDocument/2006/relationships/image" Target="/ppt/media/image.png" Id="Rb46c77fc56ac4507" /><Relationship Type="http://schemas.openxmlformats.org/officeDocument/2006/relationships/notesSlide" Target="/ppt/notesSlides/notesSlide7.xml" Id="Rc48712e3bdd343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eecfcb24e461d" /><Relationship Type="http://schemas.openxmlformats.org/officeDocument/2006/relationships/image" Target="/ppt/media/image.png" Id="Rf7be639ddb86430c" /><Relationship Type="http://schemas.openxmlformats.org/officeDocument/2006/relationships/notesSlide" Target="/ppt/notesSlides/notesSlide8.xml" Id="R79757f2671f94a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46785605749a9" /><Relationship Type="http://schemas.openxmlformats.org/officeDocument/2006/relationships/image" Target="/ppt/media/image.png" Id="R3ce39ec1bc98451f" /><Relationship Type="http://schemas.openxmlformats.org/officeDocument/2006/relationships/notesSlide" Target="/ppt/notesSlides/notesSlide9.xml" Id="R2277e561444f4f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2e6f4b28054ae5" /><Relationship Type="http://schemas.openxmlformats.org/officeDocument/2006/relationships/image" Target="/ppt/media/image.png" Id="R88b79c29ae4c4ac6" /><Relationship Type="http://schemas.openxmlformats.org/officeDocument/2006/relationships/notesSlide" Target="/ppt/notesSlides/notesSlide10.xml" Id="R0b344caf730c43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c57c99198452d" /><Relationship Type="http://schemas.openxmlformats.org/officeDocument/2006/relationships/image" Target="/ppt/media/image.png" Id="R1dcc42abf1de4248" /><Relationship Type="http://schemas.openxmlformats.org/officeDocument/2006/relationships/notesSlide" Target="/ppt/notesSlides/notesSlide11.xml" Id="R87a71281e0014f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c6fcc2e9e4dac" /><Relationship Type="http://schemas.openxmlformats.org/officeDocument/2006/relationships/image" Target="/ppt/media/image.png" Id="Rb76629de669a4ae3" /><Relationship Type="http://schemas.openxmlformats.org/officeDocument/2006/relationships/notesSlide" Target="/ppt/notesSlides/notesSlide12.xml" Id="R5000a6e8a4634d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A3E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g3fb940bf621_2_4392">
            <a:extLst xmlns:a="http://schemas.openxmlformats.org/drawingml/2006/main">
              <a:ext uri="{FF2B5EF4-FFF2-40B4-BE49-F238E27FC236}">
                <a16:creationId xmlns:a16="http://schemas.microsoft.com/office/drawing/2014/main" id="{99BC15AA-4C3D-4ABA-B001-6C23B6F8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822960"/>
            <a:ext cx="3657600" cy="2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1" i="0" u="none" cap="none">
                <a:solidFill>
                  <a:srgbClr val="30AFB8"/>
                </a:solidFill>
                <a:latin typeface="Arial"/>
                <a:ea typeface="Arial"/>
                <a:cs typeface="Arial"/>
              </a:rPr>
              <a:t>t2ó México  ·  Digital Growth &amp; Tech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Google Shape;101;g3fb940bf621_2_4392">
            <a:extLst xmlns:a="http://schemas.openxmlformats.org/drawingml/2006/main">
              <a:ext uri="{FF2B5EF4-FFF2-40B4-BE49-F238E27FC236}">
                <a16:creationId xmlns:a16="http://schemas.microsoft.com/office/drawing/2014/main" id="{B3B9052F-691E-433C-9543-0C12C781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0"/>
            <a:ext cx="7680900" cy="11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sz="360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AUDITORÍA UX &amp; CRO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42BCE2"/>
                </a:solidFill>
                <a:latin typeface="Arial"/>
                <a:ea typeface="Arial"/>
                <a:cs typeface="Arial"/>
              </a:rPr>
              <a:t>Evaluación Integral de Conversión, Accesibilidad y Privacidad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rgbClr val="CBD5E1"/>
                </a:solidFill>
                <a:latin typeface="Arial"/>
                <a:ea typeface="Arial"/>
                <a:cs typeface="Arial"/>
              </a:rPr>
              <a:t>Sitio: mejoraburo.com.mx  ·  Razón social: Baui Solutions S.A. de C.V.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Google Shape;102;g3fb940bf621_2_4392">
            <a:extLst xmlns:a="http://schemas.openxmlformats.org/drawingml/2006/main">
              <a:ext uri="{FF2B5EF4-FFF2-40B4-BE49-F238E27FC236}">
                <a16:creationId xmlns:a16="http://schemas.microsoft.com/office/drawing/2014/main" id="{A250D7FC-219F-4442-A409-772A8E59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4608"/>
            <a:ext cx="8229600" cy="1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0" i="0" u="none" cap="none">
                <a:solidFill>
                  <a:srgbClr val="94A3B8"/>
                </a:solidFill>
                <a:latin typeface="Arial"/>
                <a:ea typeface="Arial"/>
                <a:cs typeface="Arial"/>
              </a:rPr>
              <a:t>t2ó × Mejora Buró — Confidencial, uso interno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9240911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a639057079f48d6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g3fb940bf621_2_1792">
            <a:extLst xmlns:a="http://schemas.openxmlformats.org/drawingml/2006/main">
              <a:ext uri="{FF2B5EF4-FFF2-40B4-BE49-F238E27FC236}">
                <a16:creationId xmlns:a16="http://schemas.microsoft.com/office/drawing/2014/main" id="{E4842A5B-11C5-460C-AB39-B99741DD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8229600" cy="4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059669"/>
                </a:solidFill>
                <a:latin typeface="Nunito Sans ExtraBold"/>
                <a:ea typeface="Nunito Sans ExtraBold"/>
                <a:cs typeface="Nunito Sans ExtraBold"/>
              </a:rPr>
              <a:t>AUDITORÍA UX</a:t>
            </a:r>
            <a:endParaRPr sz="900" b="0" i="0" u="none" cap="none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i="0" u="none" cap="none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</a:rPr>
              <a:t>Objetivo de la intervención</a:t>
            </a:r>
            <a:endParaRPr sz="2000" b="0" i="0" u="none" cap="none">
              <a:solidFill>
                <a:srgbClr val="0F172A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108" name="Google Shape;108;g3fb940bf621_2_1792">
            <a:extLst xmlns:a="http://schemas.openxmlformats.org/drawingml/2006/main">
              <a:ext uri="{FF2B5EF4-FFF2-40B4-BE49-F238E27FC236}">
                <a16:creationId xmlns:a16="http://schemas.microsoft.com/office/drawing/2014/main" id="{2DA91C43-7F26-4EAC-B1DF-DF1E1301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8229600" cy="1571700"/>
          </a:xfrm>
          <a:prstGeom xmlns:a="http://schemas.openxmlformats.org/drawingml/2006/main" prst="roundRect">
            <a:avLst>
              <a:gd name="adj" fmla="val 727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 cmpd="sng">
            <a:solidFill>
              <a:srgbClr val="E2E8F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9" name="Google Shape;109;g3fb940bf621_2_1792">
            <a:extLst xmlns:a="http://schemas.openxmlformats.org/drawingml/2006/main">
              <a:ext uri="{FF2B5EF4-FFF2-40B4-BE49-F238E27FC236}">
                <a16:creationId xmlns:a16="http://schemas.microsoft.com/office/drawing/2014/main" id="{5D1EDC2F-294C-4889-AE30-4B9EA9B8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8229600" cy="144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28600" tIns="190500" rIns="228600" bIns="19050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sz="1150" b="0" i="0" u="none" cap="none">
                <a:solidFill>
                  <a:srgbClr val="334155"/>
                </a:solidFill>
                <a:latin typeface="Nunito Sans"/>
                <a:ea typeface="Nunito Sans"/>
                <a:cs typeface="Nunito Sans"/>
              </a:rPr>
              <a:t>Realizar un diagnóstico exhaustivo e interdisciplinario sobre el sitio </a:t>
            </a:r>
            <a:r>
              <a:rPr sz="1150" b="1" i="0" u="none" cap="none">
                <a:solidFill>
                  <a:srgbClr val="0284C7"/>
                </a:solidFill>
                <a:latin typeface="Nunito Sans"/>
                <a:ea typeface="Nunito Sans"/>
                <a:cs typeface="Nunito Sans"/>
              </a:rPr>
              <a:t>mejoraburo.com.mx</a:t>
            </a:r>
            <a:r>
              <a:rPr sz="1150" b="0" i="0" u="none" cap="none">
                <a:solidFill>
                  <a:srgbClr val="334155"/>
                </a:solidFill>
                <a:latin typeface="Nunito Sans"/>
                <a:ea typeface="Nunito Sans"/>
                <a:cs typeface="Nunito Sans"/>
              </a:rPr>
              <a:t> que nos permita </a:t>
            </a:r>
            <a:r>
              <a:rPr sz="11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identificar fricciones de conversión, vulnerabilidades de cumplimiento y riesgos de confianza en el embudo de captación de prospectos</a:t>
            </a:r>
            <a:r>
              <a:rPr sz="1150" b="0" i="0" u="none" cap="none">
                <a:solidFill>
                  <a:srgbClr val="334155"/>
                </a:solidFill>
                <a:latin typeface="Nunito Sans"/>
                <a:ea typeface="Nunito Sans"/>
                <a:cs typeface="Nunito Sans"/>
              </a:rPr>
              <a:t>. A partir de una lectura cruzada entre </a:t>
            </a:r>
            <a:r>
              <a:rPr sz="1150" b="1" i="0" u="none" cap="none">
                <a:solidFill>
                  <a:srgbClr val="059669"/>
                </a:solidFill>
                <a:latin typeface="Nunito Sans"/>
                <a:ea typeface="Nunito Sans"/>
                <a:cs typeface="Nunito Sans"/>
              </a:rPr>
              <a:t>diseño de producto, accesibilidad WCAG 2.2, protección de datos personales y rendimiento percibido</a:t>
            </a:r>
            <a:r>
              <a:rPr sz="1150" b="0" i="0" u="none" cap="none">
                <a:solidFill>
                  <a:srgbClr val="334155"/>
                </a:solidFill>
                <a:latin typeface="Nunito Sans"/>
                <a:ea typeface="Nunito Sans"/>
                <a:cs typeface="Nunito Sans"/>
              </a:rPr>
              <a:t>, buscamos destrabar las barreras críticas de captación, salvaguardar la legitimidad de la marca y trazar un roadmap de optimización con </a:t>
            </a:r>
            <a:r>
              <a:rPr sz="1150" b="1" i="0" u="none" cap="none">
                <a:solidFill>
                  <a:srgbClr val="6A3EE8"/>
                </a:solidFill>
                <a:latin typeface="Nunito Sans"/>
                <a:ea typeface="Nunito Sans"/>
                <a:cs typeface="Nunito Sans"/>
              </a:rPr>
              <a:t>mayor tasa de conversión, menor exposición regulatoria y máxima transparencia hacia el usuario</a:t>
            </a:r>
            <a:r>
              <a:rPr sz="1150" b="0" i="0" u="none" cap="none">
                <a:solidFill>
                  <a:srgbClr val="334155"/>
                </a:solidFill>
                <a:latin typeface="Nunito Sans"/>
                <a:ea typeface="Nunito Sans"/>
                <a:cs typeface="Nunito Sans"/>
              </a:rPr>
              <a:t>.</a:t>
            </a:r>
            <a:endParaRPr sz="1150" b="0" i="0" u="none" cap="none">
              <a:solidFill>
                <a:srgbClr val="334155"/>
              </a:solidFill>
              <a:latin typeface="Nunito Sans"/>
              <a:ea typeface="Nunito Sans"/>
              <a:cs typeface="Nunito Sans"/>
            </a:endParaRPr>
          </a:p>
        </p:txBody>
      </p:sp>
      <p:sp>
        <p:nvSpPr>
          <p:cNvPr id="110" name="Google Shape;110;g3fb940bf621_2_1792">
            <a:extLst xmlns:a="http://schemas.openxmlformats.org/drawingml/2006/main">
              <a:ext uri="{FF2B5EF4-FFF2-40B4-BE49-F238E27FC236}">
                <a16:creationId xmlns:a16="http://schemas.microsoft.com/office/drawing/2014/main" id="{E85A5EE5-AA85-439D-A85F-5A7C87D1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8229600" cy="2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64748B"/>
                </a:solidFill>
                <a:latin typeface="Nunito Sans ExtraBold"/>
                <a:ea typeface="Nunito Sans ExtraBold"/>
                <a:cs typeface="Nunito Sans ExtraBold"/>
              </a:rPr>
              <a:t>FOCOS ESTRATÉGICOS DEL DIAGNÓSTICO</a:t>
            </a:r>
            <a:endParaRPr sz="900" b="0" i="0" u="none" cap="none">
              <a:solidFill>
                <a:srgbClr val="64748B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112" name="Google Shape;112;g3fb940bf621_2_1792">
            <a:extLst xmlns:a="http://schemas.openxmlformats.org/drawingml/2006/main">
              <a:ext uri="{FF2B5EF4-FFF2-40B4-BE49-F238E27FC236}">
                <a16:creationId xmlns:a16="http://schemas.microsoft.com/office/drawing/2014/main" id="{2D9C4438-0C2B-4376-88A4-1C21E23D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52750"/>
            <a:ext cx="2590800" cy="16668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 cmpd="sng">
            <a:solidFill>
              <a:srgbClr val="E2E8F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Google Shape;113;g3fb940bf621_2_1792">
            <a:extLst xmlns:a="http://schemas.openxmlformats.org/drawingml/2006/main">
              <a:ext uri="{FF2B5EF4-FFF2-40B4-BE49-F238E27FC236}">
                <a16:creationId xmlns:a16="http://schemas.microsoft.com/office/drawing/2014/main" id="{F94A9E0B-381A-450B-8F07-6DD03D73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52750"/>
            <a:ext cx="2590800" cy="477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284C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4" name="Google Shape;114;g3fb940bf621_2_1792">
            <a:extLst xmlns:a="http://schemas.openxmlformats.org/drawingml/2006/main">
              <a:ext uri="{FF2B5EF4-FFF2-40B4-BE49-F238E27FC236}">
                <a16:creationId xmlns:a16="http://schemas.microsoft.com/office/drawing/2014/main" id="{D470D7C3-ED8E-4CF7-ACBF-5FB2F3C6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200" y="2952750"/>
            <a:ext cx="2590800" cy="16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52400" tIns="171450" rIns="152400" bIns="1714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rgbClr val="0284C7"/>
                </a:solidFill>
                <a:latin typeface="Nunito Sans ExtraBold"/>
                <a:ea typeface="Nunito Sans ExtraBold"/>
                <a:cs typeface="Nunito Sans ExtraBold"/>
              </a:rPr>
              <a:t>1. Conversión (CRO)</a:t>
            </a:r>
            <a:endParaRPr sz="1100" b="0" i="0" u="none" cap="none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1E293B"/>
                </a:solidFill>
                <a:latin typeface="Nunito Sans"/>
                <a:ea typeface="Nunito Sans"/>
                <a:cs typeface="Nunito Sans"/>
              </a:rPr>
              <a:t>Detección de puntos de fuga</a:t>
            </a:r>
            <a:endParaRPr sz="950" b="1" i="0" u="none" cap="none">
              <a:solidFill>
                <a:srgbClr val="1E293B"/>
              </a:solidFill>
              <a:latin typeface="Nunito Sans"/>
              <a:ea typeface="Nunito Sans"/>
              <a:cs typeface="Nunito Sans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Análisis en el flujo de 2 pasos y fricción en captura de datos.</a:t>
            </a:r>
            <a:endParaRPr sz="900" b="0" i="0" u="none" cap="none">
              <a:solidFill>
                <a:srgbClr val="475569"/>
              </a:solidFill>
              <a:latin typeface="Nunito Sans"/>
              <a:ea typeface="Nunito Sans"/>
              <a:cs typeface="Nunito Sans"/>
            </a:endParaRPr>
          </a:p>
        </p:txBody>
      </p:sp>
      <p:sp>
        <p:nvSpPr>
          <p:cNvPr id="116" name="Google Shape;116;g3fb940bf621_2_1792">
            <a:extLst xmlns:a="http://schemas.openxmlformats.org/drawingml/2006/main">
              <a:ext uri="{FF2B5EF4-FFF2-40B4-BE49-F238E27FC236}">
                <a16:creationId xmlns:a16="http://schemas.microsoft.com/office/drawing/2014/main" id="{7053463F-B7C9-4AAA-9E43-20590C2E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6600" y="2952750"/>
            <a:ext cx="2590800" cy="16668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 cmpd="sng">
            <a:solidFill>
              <a:srgbClr val="E2E8F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Google Shape;117;g3fb940bf621_2_1792">
            <a:extLst xmlns:a="http://schemas.openxmlformats.org/drawingml/2006/main">
              <a:ext uri="{FF2B5EF4-FFF2-40B4-BE49-F238E27FC236}">
                <a16:creationId xmlns:a16="http://schemas.microsoft.com/office/drawing/2014/main" id="{5696EC49-7355-4EAC-BDEE-EB75FA27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6600" y="2952750"/>
            <a:ext cx="2590800" cy="477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A3EE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Google Shape;118;g3fb940bf621_2_1792">
            <a:extLst xmlns:a="http://schemas.openxmlformats.org/drawingml/2006/main">
              <a:ext uri="{FF2B5EF4-FFF2-40B4-BE49-F238E27FC236}">
                <a16:creationId xmlns:a16="http://schemas.microsoft.com/office/drawing/2014/main" id="{49B79114-80EC-4837-8759-9C34740B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76600" y="2952750"/>
            <a:ext cx="2590800" cy="16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52400" tIns="171450" rIns="152400" bIns="1714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</a:rPr>
              <a:t>2. Gobernanza &amp; Legal</a:t>
            </a:r>
            <a:endParaRPr sz="110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1E293B"/>
                </a:solidFill>
                <a:latin typeface="Nunito Sans"/>
                <a:ea typeface="Nunito Sans"/>
                <a:cs typeface="Nunito Sans"/>
              </a:rPr>
              <a:t>Cumplimiento &amp; Privacidad</a:t>
            </a:r>
            <a:endParaRPr sz="950" b="1" i="0" u="none" cap="none">
              <a:solidFill>
                <a:srgbClr val="1E293B"/>
              </a:solidFill>
              <a:latin typeface="Nunito Sans"/>
              <a:ea typeface="Nunito Sans"/>
              <a:cs typeface="Nunito Sans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Auditoría de consentimiento LFPDPPP, manejo de PII en frontend y términos.</a:t>
            </a:r>
            <a:endParaRPr sz="900" b="0" i="0" u="none" cap="none">
              <a:solidFill>
                <a:srgbClr val="475569"/>
              </a:solidFill>
              <a:latin typeface="Nunito Sans"/>
              <a:ea typeface="Nunito Sans"/>
              <a:cs typeface="Nunito Sans"/>
            </a:endParaRPr>
          </a:p>
        </p:txBody>
      </p:sp>
      <p:sp>
        <p:nvSpPr>
          <p:cNvPr id="120" name="Google Shape;120;g3fb940bf621_2_1792">
            <a:extLst xmlns:a="http://schemas.openxmlformats.org/drawingml/2006/main">
              <a:ext uri="{FF2B5EF4-FFF2-40B4-BE49-F238E27FC236}">
                <a16:creationId xmlns:a16="http://schemas.microsoft.com/office/drawing/2014/main" id="{036E3E30-6992-4470-8CDB-DB399149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0" y="2952750"/>
            <a:ext cx="2590800" cy="16668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 cmpd="sng">
            <a:solidFill>
              <a:srgbClr val="E2E8F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Google Shape;121;g3fb940bf621_2_1792">
            <a:extLst xmlns:a="http://schemas.openxmlformats.org/drawingml/2006/main">
              <a:ext uri="{FF2B5EF4-FFF2-40B4-BE49-F238E27FC236}">
                <a16:creationId xmlns:a16="http://schemas.microsoft.com/office/drawing/2014/main" id="{27B3B82B-BCBB-41D8-801B-94398C1E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0" y="2952750"/>
            <a:ext cx="2590800" cy="477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Google Shape;122;g3fb940bf621_2_1792">
            <a:extLst xmlns:a="http://schemas.openxmlformats.org/drawingml/2006/main">
              <a:ext uri="{FF2B5EF4-FFF2-40B4-BE49-F238E27FC236}">
                <a16:creationId xmlns:a16="http://schemas.microsoft.com/office/drawing/2014/main" id="{A60B62A8-C1A1-43A1-A606-81D55236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6000" y="2952750"/>
            <a:ext cx="2590800" cy="16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52400" tIns="171450" rIns="152400" bIns="1714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sz="1100" b="0" i="0" u="none" cap="none">
                <a:solidFill>
                  <a:srgbClr val="D97706"/>
                </a:solidFill>
                <a:latin typeface="Nunito Sans ExtraBold"/>
                <a:ea typeface="Nunito Sans ExtraBold"/>
                <a:cs typeface="Nunito Sans ExtraBold"/>
              </a:rPr>
              <a:t>3. Accesibilidad (a11y)</a:t>
            </a:r>
            <a:endParaRPr sz="1100" b="0" i="0" u="none" cap="none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1E293B"/>
                </a:solidFill>
                <a:latin typeface="Nunito Sans"/>
                <a:ea typeface="Nunito Sans"/>
                <a:cs typeface="Nunito Sans"/>
              </a:rPr>
              <a:t>Inclusión &amp; Usabilidad</a:t>
            </a:r>
            <a:endParaRPr sz="950" b="1" i="0" u="none" cap="none">
              <a:solidFill>
                <a:srgbClr val="1E293B"/>
              </a:solidFill>
              <a:latin typeface="Nunito Sans"/>
              <a:ea typeface="Nunito Sans"/>
              <a:cs typeface="Nunito Sans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Evaluación WCAG 2.2 para garantizar inclusión y usabilidad en desktop y móvil.</a:t>
            </a:r>
            <a:endParaRPr sz="900" b="0" i="0" u="none" cap="none">
              <a:solidFill>
                <a:srgbClr val="475569"/>
              </a:solidFill>
              <a:latin typeface="Nunito Sans"/>
              <a:ea typeface="Nunito Sans"/>
              <a:cs typeface="Nunito Sans"/>
            </a:endParaRPr>
          </a:p>
        </p:txBody>
      </p:sp>
      <p:sp>
        <p:nvSpPr>
          <p:cNvPr id="123" name="Google Shape;123;g3fb940bf621_2_1792">
            <a:extLst xmlns:a="http://schemas.openxmlformats.org/drawingml/2006/main">
              <a:ext uri="{FF2B5EF4-FFF2-40B4-BE49-F238E27FC236}">
                <a16:creationId xmlns:a16="http://schemas.microsoft.com/office/drawing/2014/main" id="{5DE649B4-BC89-46EB-A042-82713FB8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825" y="4835700"/>
            <a:ext cx="15306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rgbClr val="4B86FE"/>
                </a:solidFill>
                <a:latin typeface="IBM Plex Sans"/>
                <a:ea typeface="IBM Plex Sans"/>
                <a:cs typeface="IBM Plex Sans"/>
              </a:rPr>
              <a:t>t2ó México</a:t>
            </a:r>
            <a:endParaRPr sz="800" b="1" i="0" u="none" cap="none">
              <a:solidFill>
                <a:srgbClr val="4B86F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24" name="Google Shape;124;g3fb940bf621_2_1792">
            <a:extLst xmlns:a="http://schemas.openxmlformats.org/drawingml/2006/main">
              <a:ext uri="{FF2B5EF4-FFF2-40B4-BE49-F238E27FC236}">
                <a16:creationId xmlns:a16="http://schemas.microsoft.com/office/drawing/2014/main" id="{EFD39E82-2C5B-453B-8CE2-2818108E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732" y="4280100"/>
            <a:ext cx="787200" cy="787200"/>
          </a:xfrm>
          <a:prstGeom xmlns:a="http://schemas.openxmlformats.org/drawingml/2006/main" prst="blockArc">
            <a:avLst>
              <a:gd name="adj1" fmla="val 10800000"/>
              <a:gd name="adj2" fmla="val 16200346"/>
              <a:gd name="adj3" fmla="val 25523"/>
            </a:avLst>
          </a:prstGeom>
          <a:solidFill xmlns:a="http://schemas.openxmlformats.org/drawingml/2006/main">
            <a:srgbClr val="4B86F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oboto Mono Light"/>
              <a:ea typeface="Roboto Mono Light"/>
              <a:cs typeface="Roboto Mono Light"/>
            </a:endParaRPr>
          </a:p>
        </p:txBody>
      </p:sp>
      <p:sp>
        <p:nvSpPr>
          <p:cNvPr id="125" name="Google Shape;125;g3fb940bf621_2_1792">
            <a:extLst xmlns:a="http://schemas.openxmlformats.org/drawingml/2006/main">
              <a:ext uri="{FF2B5EF4-FFF2-40B4-BE49-F238E27FC236}">
                <a16:creationId xmlns:a16="http://schemas.microsoft.com/office/drawing/2014/main" id="{0A8424E1-8091-4C88-80E1-342595A4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172237" y="4280000"/>
            <a:ext cx="787200" cy="787200"/>
          </a:xfrm>
          <a:prstGeom xmlns:a="http://schemas.openxmlformats.org/drawingml/2006/main" prst="blockArc">
            <a:avLst>
              <a:gd name="adj1" fmla="val 10800000"/>
              <a:gd name="adj2" fmla="val 16200346"/>
              <a:gd name="adj3" fmla="val 25523"/>
            </a:avLst>
          </a:prstGeom>
          <a:solidFill xmlns:a="http://schemas.openxmlformats.org/drawingml/2006/main">
            <a:srgbClr val="4B86FE">
              <a:alpha val="49804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oboto Mono Light"/>
              <a:ea typeface="Roboto Mono Light"/>
              <a:cs typeface="Roboto Mono Light"/>
            </a:endParaRPr>
          </a:p>
        </p:txBody>
      </p:sp>
    </p:spTree>
    <p:extLst>
      <p:ext uri="{BB962C8B-B14F-4D97-AF65-F5344CB8AC3E}">
        <p14:creationId xmlns:p14="http://schemas.microsoft.com/office/powerpoint/2010/main" val="2003003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Google Shape;130;p4">
            <a:extLst xmlns:a="http://schemas.openxmlformats.org/drawingml/2006/main">
              <a:ext uri="{FF2B5EF4-FFF2-40B4-BE49-F238E27FC236}">
                <a16:creationId xmlns:a16="http://schemas.microsoft.com/office/drawing/2014/main" id="{4D8F1083-88C0-44C3-99BE-BDAD87ED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8229600" cy="63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34D399"/>
                </a:solidFill>
                <a:latin typeface="Nunito Sans ExtraBold"/>
                <a:ea typeface="Nunito Sans ExtraBold"/>
                <a:cs typeface="Nunito Sans ExtraBold"/>
              </a:rPr>
              <a:t>SÍNTESIS EJECUTIVA</a:t>
            </a:r>
            <a:endParaRPr sz="900" b="0" i="0" u="none" cap="none">
              <a:solidFill>
                <a:srgbClr val="34D399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i="0" u="none" cap="none">
                <a:solidFill>
                  <a:schemeClr val="dk1"/>
                </a:solidFill>
                <a:latin typeface="Nunito Sans ExtraBold"/>
                <a:ea typeface="Nunito Sans ExtraBold"/>
                <a:cs typeface="Nunito Sans ExtraBold"/>
              </a:rPr>
              <a:t>5 conclusiones críticas sobre el estado actual del sitio</a:t>
            </a:r>
            <a:endParaRPr sz="900" b="0" i="0" u="none" cap="none">
              <a:solidFill>
                <a:schemeClr val="dk1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sz="950" b="0" i="0" u="none" cap="none">
                <a:solidFill>
                  <a:srgbClr val="8154F0"/>
                </a:solidFill>
                <a:latin typeface="Nunito Sans"/>
                <a:ea typeface="Nunito Sans"/>
                <a:cs typeface="Nunito Sans"/>
              </a:rPr>
              <a:t>Los hallazgos de mayor impacto que definen la viabilidad comercial y legal del embudo.</a:t>
            </a:r>
            <a:endParaRPr sz="900" b="0" i="0" u="none" cap="none">
              <a:solidFill>
                <a:srgbClr val="8154F0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131" name="Google Shape;131;p4">
            <a:extLst xmlns:a="http://schemas.openxmlformats.org/drawingml/2006/main">
              <a:ext uri="{FF2B5EF4-FFF2-40B4-BE49-F238E27FC236}">
                <a16:creationId xmlns:a16="http://schemas.microsoft.com/office/drawing/2014/main" id="{D1506DE0-7929-49C9-879C-04EEEC23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8229600" cy="647700"/>
          </a:xfrm>
          <a:prstGeom xmlns:a="http://schemas.openxmlformats.org/drawingml/2006/main" prst="roundRect">
            <a:avLst>
              <a:gd name="adj" fmla="val 147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Google Shape;132;p4">
            <a:extLst xmlns:a="http://schemas.openxmlformats.org/drawingml/2006/main">
              <a:ext uri="{FF2B5EF4-FFF2-40B4-BE49-F238E27FC236}">
                <a16:creationId xmlns:a16="http://schemas.microsoft.com/office/drawing/2014/main" id="{84CBABFC-A4E2-4C0B-8B1F-9274CAEE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419100" cy="23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</a:rPr>
              <a:t>01</a:t>
            </a:r>
            <a:endParaRPr sz="150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133" name="Google Shape;133;p4">
            <a:extLst xmlns:a="http://schemas.openxmlformats.org/drawingml/2006/main">
              <a:ext uri="{FF2B5EF4-FFF2-40B4-BE49-F238E27FC236}">
                <a16:creationId xmlns:a16="http://schemas.microsoft.com/office/drawing/2014/main" id="{4FDA8B20-4815-410E-B33F-B60CA5E3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162050"/>
            <a:ext cx="7429500" cy="16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sz="10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Consentimiento inexistente en el formulario</a:t>
            </a:r>
            <a:endParaRPr sz="1050" b="1" i="0" u="none" cap="none">
              <a:solidFill>
                <a:srgbClr val="0F172A"/>
              </a:solidFill>
              <a:latin typeface="Nunito Sans"/>
              <a:ea typeface="Nunito Sans"/>
              <a:cs typeface="Nunito Sans"/>
            </a:endParaRPr>
          </a:p>
        </p:txBody>
      </p:sp>
      <p:sp>
        <p:nvSpPr>
          <p:cNvPr id="134" name="Google Shape;134;p4">
            <a:extLst xmlns:a="http://schemas.openxmlformats.org/drawingml/2006/main">
              <a:ext uri="{FF2B5EF4-FFF2-40B4-BE49-F238E27FC236}">
                <a16:creationId xmlns:a16="http://schemas.microsoft.com/office/drawing/2014/main" id="{A04A7E69-915A-4A56-8D64-5EF90303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71600"/>
            <a:ext cx="7429500" cy="26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La casilla que autoriza el contacto por WhatsApp tiene 'display:none' (0×0 px) y no es obligatoria. El 100% de los leads se envían y contactan sin registrar consentimiento demostrable bajo LFPDPPP.</a:t>
            </a:r>
            <a:endParaRPr sz="850" b="0" i="0" u="none" cap="none">
              <a:solidFill>
                <a:srgbClr val="475569"/>
              </a:solidFill>
              <a:latin typeface="Nunito Sans"/>
              <a:ea typeface="Nunito Sans"/>
              <a:cs typeface="Nunito Sans"/>
            </a:endParaRPr>
          </a:p>
        </p:txBody>
      </p:sp>
      <p:sp>
        <p:nvSpPr>
          <p:cNvPr id="135" name="Google Shape;135;p4">
            <a:extLst xmlns:a="http://schemas.openxmlformats.org/drawingml/2006/main">
              <a:ext uri="{FF2B5EF4-FFF2-40B4-BE49-F238E27FC236}">
                <a16:creationId xmlns:a16="http://schemas.microsoft.com/office/drawing/2014/main" id="{7DD4B7A0-F6AF-4731-A4F0-627E0B52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8229600" cy="647700"/>
          </a:xfrm>
          <a:prstGeom xmlns:a="http://schemas.openxmlformats.org/drawingml/2006/main" prst="roundRect">
            <a:avLst>
              <a:gd name="adj" fmla="val 147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Google Shape;136;p4">
            <a:extLst xmlns:a="http://schemas.openxmlformats.org/drawingml/2006/main">
              <a:ext uri="{FF2B5EF4-FFF2-40B4-BE49-F238E27FC236}">
                <a16:creationId xmlns:a16="http://schemas.microsoft.com/office/drawing/2014/main" id="{F5C57FDA-AAC6-4C5B-A510-3CA4ABA7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419100" cy="23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</a:rPr>
              <a:t>02</a:t>
            </a:r>
            <a:endParaRPr sz="150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137" name="Google Shape;137;p4">
            <a:extLst xmlns:a="http://schemas.openxmlformats.org/drawingml/2006/main">
              <a:ext uri="{FF2B5EF4-FFF2-40B4-BE49-F238E27FC236}">
                <a16:creationId xmlns:a16="http://schemas.microsoft.com/office/drawing/2014/main" id="{0197C73B-2ABE-4431-A82B-5930759F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85950"/>
            <a:ext cx="7429500" cy="16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sz="10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El embudo real tiene un Paso 2 oculto</a:t>
            </a:r>
            <a:endParaRPr sz="1050" b="1" i="0" u="none" cap="none">
              <a:solidFill>
                <a:srgbClr val="0F172A"/>
              </a:solidFill>
              <a:latin typeface="Nunito Sans"/>
              <a:ea typeface="Nunito Sans"/>
              <a:cs typeface="Nunito Sans"/>
            </a:endParaRPr>
          </a:p>
        </p:txBody>
      </p:sp>
      <p:sp>
        <p:nvSpPr>
          <p:cNvPr id="138" name="Google Shape;138;p4">
            <a:extLst xmlns:a="http://schemas.openxmlformats.org/drawingml/2006/main">
              <a:ext uri="{FF2B5EF4-FFF2-40B4-BE49-F238E27FC236}">
                <a16:creationId xmlns:a16="http://schemas.microsoft.com/office/drawing/2014/main" id="{9A877407-2D89-432A-86A5-B91A7E9F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95500"/>
            <a:ext cx="7429500" cy="26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Tras captar 4 datos iniciales, el usuario es redirigido sin aviso a '/acreedores-homepage/' con 43 casillas de deudas nominales y compras de cartera, provocando abandono no medido.</a:t>
            </a:r>
            <a:endParaRPr sz="850" b="0" i="0" u="none" cap="none">
              <a:solidFill>
                <a:srgbClr val="475569"/>
              </a:solidFill>
              <a:latin typeface="Nunito Sans"/>
              <a:ea typeface="Nunito Sans"/>
              <a:cs typeface="Nunito Sans"/>
            </a:endParaRPr>
          </a:p>
        </p:txBody>
      </p:sp>
      <p:sp>
        <p:nvSpPr>
          <p:cNvPr id="139" name="Google Shape;139;p4">
            <a:extLst xmlns:a="http://schemas.openxmlformats.org/drawingml/2006/main">
              <a:ext uri="{FF2B5EF4-FFF2-40B4-BE49-F238E27FC236}">
                <a16:creationId xmlns:a16="http://schemas.microsoft.com/office/drawing/2014/main" id="{BF617949-77AB-44DE-9164-2CE8D35E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8229600" cy="647700"/>
          </a:xfrm>
          <a:prstGeom xmlns:a="http://schemas.openxmlformats.org/drawingml/2006/main" prst="roundRect">
            <a:avLst>
              <a:gd name="adj" fmla="val 147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Google Shape;140;p4">
            <a:extLst xmlns:a="http://schemas.openxmlformats.org/drawingml/2006/main">
              <a:ext uri="{FF2B5EF4-FFF2-40B4-BE49-F238E27FC236}">
                <a16:creationId xmlns:a16="http://schemas.microsoft.com/office/drawing/2014/main" id="{75D54BE9-5CF0-4FC3-B72C-76CB89DD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419100" cy="23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</a:rPr>
              <a:t>03</a:t>
            </a:r>
            <a:endParaRPr sz="150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141" name="Google Shape;141;p4">
            <a:extLst xmlns:a="http://schemas.openxmlformats.org/drawingml/2006/main">
              <a:ext uri="{FF2B5EF4-FFF2-40B4-BE49-F238E27FC236}">
                <a16:creationId xmlns:a16="http://schemas.microsoft.com/office/drawing/2014/main" id="{C0C2D8C7-06F6-4C0E-9D93-58FCE00B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7429500" cy="16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sz="10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Exposición de PII en cookies y redes de afiliados</a:t>
            </a:r>
            <a:endParaRPr sz="1050" b="1" i="0" u="none" cap="none">
              <a:solidFill>
                <a:srgbClr val="0F172A"/>
              </a:solidFill>
              <a:latin typeface="Nunito Sans"/>
              <a:ea typeface="Nunito Sans"/>
              <a:cs typeface="Nunito Sans"/>
            </a:endParaRPr>
          </a:p>
        </p:txBody>
      </p:sp>
      <p:sp>
        <p:nvSpPr>
          <p:cNvPr id="142" name="Google Shape;142;p4">
            <a:extLst xmlns:a="http://schemas.openxmlformats.org/drawingml/2006/main">
              <a:ext uri="{FF2B5EF4-FFF2-40B4-BE49-F238E27FC236}">
                <a16:creationId xmlns:a16="http://schemas.microsoft.com/office/drawing/2014/main" id="{0F37D1F5-BF96-4A85-AF2C-27CDF690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7429500" cy="26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Cookie 'vik_user_data' almacena nombre, teléfono y deudas en JSON plano accesible por ~70 scripts de terceros. Además, la PII se envía en URLs a redes de afiliados CPL (Doaff/Keitaro).</a:t>
            </a:r>
            <a:endParaRPr sz="850" b="0" i="0" u="none" cap="none">
              <a:solidFill>
                <a:srgbClr val="475569"/>
              </a:solidFill>
              <a:latin typeface="Nunito Sans"/>
              <a:ea typeface="Nunito Sans"/>
              <a:cs typeface="Nunito Sans"/>
            </a:endParaRPr>
          </a:p>
        </p:txBody>
      </p:sp>
      <p:sp>
        <p:nvSpPr>
          <p:cNvPr id="143" name="Google Shape;143;p4">
            <a:extLst xmlns:a="http://schemas.openxmlformats.org/drawingml/2006/main">
              <a:ext uri="{FF2B5EF4-FFF2-40B4-BE49-F238E27FC236}">
                <a16:creationId xmlns:a16="http://schemas.microsoft.com/office/drawing/2014/main" id="{65C1DF1E-6B60-4277-B804-AA01BF4D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8229600" cy="647700"/>
          </a:xfrm>
          <a:prstGeom xmlns:a="http://schemas.openxmlformats.org/drawingml/2006/main" prst="roundRect">
            <a:avLst>
              <a:gd name="adj" fmla="val 147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Google Shape;144;p4">
            <a:extLst xmlns:a="http://schemas.openxmlformats.org/drawingml/2006/main">
              <a:ext uri="{FF2B5EF4-FFF2-40B4-BE49-F238E27FC236}">
                <a16:creationId xmlns:a16="http://schemas.microsoft.com/office/drawing/2014/main" id="{10885903-F77D-4D5F-9B2B-1802C8D2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419100" cy="23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</a:rPr>
              <a:t>04</a:t>
            </a:r>
            <a:endParaRPr sz="150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145" name="Google Shape;145;p4">
            <a:extLst xmlns:a="http://schemas.openxmlformats.org/drawingml/2006/main">
              <a:ext uri="{FF2B5EF4-FFF2-40B4-BE49-F238E27FC236}">
                <a16:creationId xmlns:a16="http://schemas.microsoft.com/office/drawing/2014/main" id="{E07F5E14-88AC-4916-86B1-0C47DFA0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7429500" cy="16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sz="10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Prueba social y credibilidad jurídica rotas</a:t>
            </a:r>
            <a:endParaRPr sz="1050" b="1" i="0" u="none" cap="none">
              <a:solidFill>
                <a:srgbClr val="0F172A"/>
              </a:solidFill>
              <a:latin typeface="Nunito Sans"/>
              <a:ea typeface="Nunito Sans"/>
              <a:cs typeface="Nunito Sans"/>
            </a:endParaRPr>
          </a:p>
        </p:txBody>
      </p:sp>
      <p:sp>
        <p:nvSpPr>
          <p:cNvPr id="146" name="Google Shape;146;p4">
            <a:extLst xmlns:a="http://schemas.openxmlformats.org/drawingml/2006/main">
              <a:ext uri="{FF2B5EF4-FFF2-40B4-BE49-F238E27FC236}">
                <a16:creationId xmlns:a16="http://schemas.microsoft.com/office/drawing/2014/main" id="{855DAF09-5F85-4AAF-928D-75EFAE42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43300"/>
            <a:ext cx="7429500" cy="26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La sección de testimoniales está totalmente vacía por un widget de Trustindex roto; los Términos y Condiciones corresponden a un marketplace de compraventa entre terceros ajeno a finanzas.</a:t>
            </a:r>
            <a:endParaRPr sz="850" b="0" i="0" u="none" cap="none">
              <a:solidFill>
                <a:srgbClr val="475569"/>
              </a:solidFill>
              <a:latin typeface="Nunito Sans"/>
              <a:ea typeface="Nunito Sans"/>
              <a:cs typeface="Nunito Sans"/>
            </a:endParaRPr>
          </a:p>
        </p:txBody>
      </p:sp>
      <p:sp>
        <p:nvSpPr>
          <p:cNvPr id="147" name="Google Shape;147;p4">
            <a:extLst xmlns:a="http://schemas.openxmlformats.org/drawingml/2006/main">
              <a:ext uri="{FF2B5EF4-FFF2-40B4-BE49-F238E27FC236}">
                <a16:creationId xmlns:a16="http://schemas.microsoft.com/office/drawing/2014/main" id="{E7718C60-3747-4140-8344-7C4CFA74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8229600" cy="647700"/>
          </a:xfrm>
          <a:prstGeom xmlns:a="http://schemas.openxmlformats.org/drawingml/2006/main" prst="roundRect">
            <a:avLst>
              <a:gd name="adj" fmla="val 147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Google Shape;148;p4">
            <a:extLst xmlns:a="http://schemas.openxmlformats.org/drawingml/2006/main">
              <a:ext uri="{FF2B5EF4-FFF2-40B4-BE49-F238E27FC236}">
                <a16:creationId xmlns:a16="http://schemas.microsoft.com/office/drawing/2014/main" id="{1F3D1332-D954-437C-8F18-22714678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419100" cy="23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sz="1500" b="0" i="0" u="none" cap="none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</a:rPr>
              <a:t>05</a:t>
            </a:r>
            <a:endParaRPr sz="150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149" name="Google Shape;149;p4">
            <a:extLst xmlns:a="http://schemas.openxmlformats.org/drawingml/2006/main">
              <a:ext uri="{FF2B5EF4-FFF2-40B4-BE49-F238E27FC236}">
                <a16:creationId xmlns:a16="http://schemas.microsoft.com/office/drawing/2014/main" id="{067B36EE-B137-43D0-9639-CE961920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7429500" cy="16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sz="10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Barreras severas de accesibilidad y foco</a:t>
            </a:r>
            <a:endParaRPr sz="1050" b="1" i="0" u="none" cap="none">
              <a:solidFill>
                <a:srgbClr val="0F172A"/>
              </a:solidFill>
              <a:latin typeface="Nunito Sans"/>
              <a:ea typeface="Nunito Sans"/>
              <a:cs typeface="Nunito Sans"/>
            </a:endParaRPr>
          </a:p>
        </p:txBody>
      </p:sp>
      <p:sp>
        <p:nvSpPr>
          <p:cNvPr id="150" name="Google Shape;150;p4">
            <a:extLst xmlns:a="http://schemas.openxmlformats.org/drawingml/2006/main">
              <a:ext uri="{FF2B5EF4-FFF2-40B4-BE49-F238E27FC236}">
                <a16:creationId xmlns:a16="http://schemas.microsoft.com/office/drawing/2014/main" id="{B81AE78B-E8CB-4575-8498-59CB8603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7429500" cy="26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7 violaciones normativas axe-core (select sin label); tabulación de teclado invertida que enfoca el formulario antes del menú, y 36 de 39 controles interactivos sin foco visual.</a:t>
            </a:r>
            <a:endParaRPr sz="850" b="0" i="0" u="none" cap="none">
              <a:solidFill>
                <a:srgbClr val="475569"/>
              </a:solidFill>
              <a:latin typeface="Nunito Sans"/>
              <a:ea typeface="Nunito Sans"/>
              <a:cs typeface="Nunito Sans"/>
            </a:endParaRPr>
          </a:p>
        </p:txBody>
      </p:sp>
      <p:sp>
        <p:nvSpPr>
          <p:cNvPr id="151" name="Google Shape;151;p4">
            <a:extLst xmlns:a="http://schemas.openxmlformats.org/drawingml/2006/main">
              <a:ext uri="{FF2B5EF4-FFF2-40B4-BE49-F238E27FC236}">
                <a16:creationId xmlns:a16="http://schemas.microsoft.com/office/drawing/2014/main" id="{E50609AB-607A-4C1C-B387-FED446DA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825" y="4835700"/>
            <a:ext cx="15306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rgbClr val="4B86FE"/>
                </a:solidFill>
                <a:latin typeface="IBM Plex Sans"/>
                <a:ea typeface="IBM Plex Sans"/>
                <a:cs typeface="IBM Plex Sans"/>
              </a:rPr>
              <a:t>t2ó México</a:t>
            </a:r>
            <a:endParaRPr sz="800" b="1" i="0" u="none" cap="none">
              <a:solidFill>
                <a:srgbClr val="4B86F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52" name="Google Shape;152;p4">
            <a:extLst xmlns:a="http://schemas.openxmlformats.org/drawingml/2006/main">
              <a:ext uri="{FF2B5EF4-FFF2-40B4-BE49-F238E27FC236}">
                <a16:creationId xmlns:a16="http://schemas.microsoft.com/office/drawing/2014/main" id="{FE39D9D4-8D38-47A3-8064-47D06594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732" y="4280100"/>
            <a:ext cx="787200" cy="787200"/>
          </a:xfrm>
          <a:prstGeom xmlns:a="http://schemas.openxmlformats.org/drawingml/2006/main" prst="blockArc">
            <a:avLst>
              <a:gd name="adj1" fmla="val 10800000"/>
              <a:gd name="adj2" fmla="val 16200346"/>
              <a:gd name="adj3" fmla="val 25523"/>
            </a:avLst>
          </a:prstGeom>
          <a:solidFill xmlns:a="http://schemas.openxmlformats.org/drawingml/2006/main">
            <a:srgbClr val="4B86F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oboto Mono Light"/>
              <a:ea typeface="Roboto Mono Light"/>
              <a:cs typeface="Roboto Mono Light"/>
            </a:endParaRPr>
          </a:p>
        </p:txBody>
      </p:sp>
      <p:sp>
        <p:nvSpPr>
          <p:cNvPr id="153" name="Google Shape;153;p4">
            <a:extLst xmlns:a="http://schemas.openxmlformats.org/drawingml/2006/main">
              <a:ext uri="{FF2B5EF4-FFF2-40B4-BE49-F238E27FC236}">
                <a16:creationId xmlns:a16="http://schemas.microsoft.com/office/drawing/2014/main" id="{361BA76D-4EE1-4B65-AA7D-F3D9407B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172237" y="4280000"/>
            <a:ext cx="787200" cy="787200"/>
          </a:xfrm>
          <a:prstGeom xmlns:a="http://schemas.openxmlformats.org/drawingml/2006/main" prst="blockArc">
            <a:avLst>
              <a:gd name="adj1" fmla="val 10800000"/>
              <a:gd name="adj2" fmla="val 16200346"/>
              <a:gd name="adj3" fmla="val 25523"/>
            </a:avLst>
          </a:prstGeom>
          <a:solidFill xmlns:a="http://schemas.openxmlformats.org/drawingml/2006/main">
            <a:srgbClr val="4B86FE">
              <a:alpha val="49804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oboto Mono Light"/>
              <a:ea typeface="Roboto Mono Light"/>
              <a:cs typeface="Roboto Mono Light"/>
            </a:endParaRPr>
          </a:p>
        </p:txBody>
      </p:sp>
    </p:spTree>
    <p:extLst>
      <p:ext uri="{BB962C8B-B14F-4D97-AF65-F5344CB8AC3E}">
        <p14:creationId xmlns:p14="http://schemas.microsoft.com/office/powerpoint/2010/main" val="1096435107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76b9e90574b4e1f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5" name="Google Shape;165;p6">
            <a:extLst xmlns:a="http://schemas.openxmlformats.org/drawingml/2006/main">
              <a:ext uri="{FF2B5EF4-FFF2-40B4-BE49-F238E27FC236}">
                <a16:creationId xmlns:a16="http://schemas.microsoft.com/office/drawing/2014/main" id="{830AF72F-2E2C-4366-843D-61189483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8229600" cy="64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059669"/>
                </a:solidFill>
                <a:latin typeface="Nunito Sans ExtraBold"/>
                <a:ea typeface="Nunito Sans ExtraBold"/>
                <a:cs typeface="Nunito Sans ExtraBold"/>
              </a:rPr>
              <a:t>EL EMBUDO DE CONVERSIÓN</a:t>
            </a:r>
            <a:endParaRPr sz="900" b="0" i="0" u="none" cap="none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0" i="0" u="none" cap="none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</a:rPr>
              <a:t>El embudo real: 2 pasos y el segundo estaba oculto</a:t>
            </a:r>
            <a:endParaRPr sz="2000" b="0" i="0" u="none" cap="none">
              <a:solidFill>
                <a:srgbClr val="0F172A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sz="950" b="0" i="0" u="none" cap="none">
                <a:solidFill>
                  <a:srgbClr val="8154F0"/>
                </a:solidFill>
                <a:latin typeface="Nunito Sans"/>
                <a:ea typeface="Nunito Sans"/>
                <a:cs typeface="Nunito Sans"/>
              </a:rPr>
              <a:t>El usuario cree completar un contacto rápido y es redirigido a un inventario exhaustivo de acreedores.</a:t>
            </a:r>
            <a:endParaRPr sz="950" b="0" i="0" u="none" cap="none">
              <a:solidFill>
                <a:srgbClr val="8154F0"/>
              </a:solidFill>
              <a:latin typeface="Nunito Sans"/>
              <a:ea typeface="Nunito Sans"/>
              <a:cs typeface="Nunito Sans"/>
            </a:endParaRPr>
          </a:p>
        </p:txBody>
      </p:sp>
      <p:pic>
        <p:nvPicPr>
          <p:cNvPr id="174" name="Google Shape;166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b15b65049e4c9a">
            <a:alphaModFix/>
          </a:blip>
          <a:srcRect xmlns:a="http://schemas.openxmlformats.org/drawingml/2006/main" l="40" t="0" r="40" b="0"/>
          <a:stretch xmlns:a="http://schemas.openxmlformats.org/drawingml/2006/main"/>
        </p:blipFill>
        <p:spPr>
          <a:xfrm xmlns:a="http://schemas.openxmlformats.org/drawingml/2006/main">
            <a:off x="457200" y="1162050"/>
            <a:ext cx="4191000" cy="2457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7" name="Google Shape;167;p6">
            <a:extLst xmlns:a="http://schemas.openxmlformats.org/drawingml/2006/main">
              <a:ext uri="{FF2B5EF4-FFF2-40B4-BE49-F238E27FC236}">
                <a16:creationId xmlns:a16="http://schemas.microsoft.com/office/drawing/2014/main" id="{F32694F9-3BDD-415B-B0CF-4A659E6E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143000"/>
            <a:ext cx="3886200" cy="3476700"/>
          </a:xfrm>
          <a:prstGeom xmlns:a="http://schemas.openxmlformats.org/drawingml/2006/main" prst="roundRect">
            <a:avLst>
              <a:gd name="adj" fmla="val 328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300" cmpd="sng">
            <a:solidFill>
              <a:srgbClr val="E2E8F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Google Shape;168;p6">
            <a:extLst xmlns:a="http://schemas.openxmlformats.org/drawingml/2006/main">
              <a:ext uri="{FF2B5EF4-FFF2-40B4-BE49-F238E27FC236}">
                <a16:creationId xmlns:a16="http://schemas.microsoft.com/office/drawing/2014/main" id="{03690DD4-C801-432F-AB02-39D83231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276350"/>
            <a:ext cx="3543300" cy="213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sz="1050" b="0" i="0" u="none" cap="none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</a:rPr>
              <a:t>ANATOMÍA DE LA FRICCIÓN </a:t>
            </a:r>
            <a:r>
              <a:rPr sz="850" b="1" i="0" u="none" cap="none">
                <a:solidFill>
                  <a:srgbClr val="DC2626"/>
                </a:solidFill>
                <a:latin typeface="Nunito Sans"/>
                <a:ea typeface="Nunito Sans"/>
                <a:cs typeface="Nunito Sans"/>
              </a:rPr>
              <a:t>(UX-134 / UX-135)</a:t>
            </a:r>
            <a:endParaRPr sz="10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Paso 1 (Home):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Capta 4 datos personales bajo la apariencia de una consulta rápida sin compromiso.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Paso 2 (/acreedores-homepage/):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Redirección inmediata sin aviso previo. Exige seleccionar entre 43 casillas de bancos, fintechs y compras de cartera.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Escalada de sensibilidad: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Pasa de un rango aproximado de ingresos a una radiografía patrimonial completa de quién le está cobrando.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Sin progreso ni salida </a:t>
            </a:r>
            <a:r>
              <a:rPr sz="850" b="1" i="0" u="none" cap="none">
                <a:solidFill>
                  <a:srgbClr val="DC2626"/>
                </a:solidFill>
                <a:latin typeface="Nunito Sans"/>
                <a:ea typeface="Nunito Sans"/>
                <a:cs typeface="Nunito Sans"/>
              </a:rPr>
              <a:t>(UX-137)</a:t>
            </a: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No indica 'Paso 2 de 2', no tiene buscador y obliga a un scroll móvil de 2,931 px (~3.5 pantallas).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Vulnerabilidad de enlace </a:t>
            </a:r>
            <a:r>
              <a:rPr sz="850" b="1" i="0" u="none" cap="none">
                <a:solidFill>
                  <a:srgbClr val="DC2626"/>
                </a:solidFill>
                <a:latin typeface="Nunito Sans"/>
                <a:ea typeface="Nunito Sans"/>
                <a:cs typeface="Nunito Sans"/>
              </a:rPr>
              <a:t>(UX-139)</a:t>
            </a: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La relación depende de la cookie 'vik_user_data'. En modo incógnito o si se borran cookies, el paso 2 se desvincula en silencio.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169" name="Google Shape;169;p6">
            <a:extLst xmlns:a="http://schemas.openxmlformats.org/drawingml/2006/main">
              <a:ext uri="{FF2B5EF4-FFF2-40B4-BE49-F238E27FC236}">
                <a16:creationId xmlns:a16="http://schemas.microsoft.com/office/drawing/2014/main" id="{C53BA415-4E84-41B0-AD00-364E9CCB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825" y="4835700"/>
            <a:ext cx="15306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rgbClr val="4B86FE"/>
                </a:solidFill>
                <a:latin typeface="IBM Plex Sans"/>
                <a:ea typeface="IBM Plex Sans"/>
                <a:cs typeface="IBM Plex Sans"/>
              </a:rPr>
              <a:t>t2ó México</a:t>
            </a:r>
            <a:endParaRPr sz="800" b="1" i="0" u="none" cap="none">
              <a:solidFill>
                <a:srgbClr val="4B86F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70" name="Google Shape;170;p6">
            <a:extLst xmlns:a="http://schemas.openxmlformats.org/drawingml/2006/main">
              <a:ext uri="{FF2B5EF4-FFF2-40B4-BE49-F238E27FC236}">
                <a16:creationId xmlns:a16="http://schemas.microsoft.com/office/drawing/2014/main" id="{8D82D6F8-CD12-4F74-B2B2-60BE099D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732" y="4280100"/>
            <a:ext cx="787200" cy="787200"/>
          </a:xfrm>
          <a:prstGeom xmlns:a="http://schemas.openxmlformats.org/drawingml/2006/main" prst="blockArc">
            <a:avLst>
              <a:gd name="adj1" fmla="val 10800000"/>
              <a:gd name="adj2" fmla="val 16200346"/>
              <a:gd name="adj3" fmla="val 25523"/>
            </a:avLst>
          </a:prstGeom>
          <a:solidFill xmlns:a="http://schemas.openxmlformats.org/drawingml/2006/main">
            <a:srgbClr val="4B86F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oboto Mono Light"/>
              <a:ea typeface="Roboto Mono Light"/>
              <a:cs typeface="Roboto Mono Light"/>
            </a:endParaRPr>
          </a:p>
        </p:txBody>
      </p:sp>
      <p:sp>
        <p:nvSpPr>
          <p:cNvPr id="171" name="Google Shape;171;p6">
            <a:extLst xmlns:a="http://schemas.openxmlformats.org/drawingml/2006/main">
              <a:ext uri="{FF2B5EF4-FFF2-40B4-BE49-F238E27FC236}">
                <a16:creationId xmlns:a16="http://schemas.microsoft.com/office/drawing/2014/main" id="{B16C95A5-5763-431D-B5BB-4B9D8E0D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172237" y="4280000"/>
            <a:ext cx="787200" cy="787200"/>
          </a:xfrm>
          <a:prstGeom xmlns:a="http://schemas.openxmlformats.org/drawingml/2006/main" prst="blockArc">
            <a:avLst>
              <a:gd name="adj1" fmla="val 10800000"/>
              <a:gd name="adj2" fmla="val 16200346"/>
              <a:gd name="adj3" fmla="val 25523"/>
            </a:avLst>
          </a:prstGeom>
          <a:solidFill xmlns:a="http://schemas.openxmlformats.org/drawingml/2006/main">
            <a:srgbClr val="4B86FE">
              <a:alpha val="49804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oboto Mono Light"/>
              <a:ea typeface="Roboto Mono Light"/>
              <a:cs typeface="Roboto Mono Light"/>
            </a:endParaRPr>
          </a:p>
        </p:txBody>
      </p:sp>
    </p:spTree>
    <p:extLst>
      <p:ext uri="{BB962C8B-B14F-4D97-AF65-F5344CB8AC3E}">
        <p14:creationId xmlns:p14="http://schemas.microsoft.com/office/powerpoint/2010/main" val="1347126578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7b39070eed154be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7" name="Google Shape;187;p8">
            <a:extLst xmlns:a="http://schemas.openxmlformats.org/drawingml/2006/main">
              <a:ext uri="{FF2B5EF4-FFF2-40B4-BE49-F238E27FC236}">
                <a16:creationId xmlns:a16="http://schemas.microsoft.com/office/drawing/2014/main" id="{F25FEC84-6912-4144-90C0-5F332838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229600" cy="63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059669"/>
                </a:solidFill>
                <a:latin typeface="Nunito Sans ExtraBold"/>
                <a:ea typeface="Nunito Sans ExtraBold"/>
                <a:cs typeface="Nunito Sans ExtraBold"/>
              </a:rPr>
              <a:t>FORMULARIO &amp; CAPTACIÓN</a:t>
            </a:r>
            <a:endParaRPr sz="900" b="0" i="0" u="none" cap="none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</a:rPr>
              <a:t>4 campos obligatorios sin contexto ni aviso contiguo</a:t>
            </a:r>
            <a:endParaRPr sz="900" b="0" i="0" u="none" cap="none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sz="950" b="0" i="0" u="none" cap="none">
                <a:solidFill>
                  <a:srgbClr val="6366F1"/>
                </a:solidFill>
                <a:latin typeface="Nunito Sans SemiBold"/>
                <a:ea typeface="Nunito Sans SemiBold"/>
                <a:cs typeface="Nunito Sans SemiBold"/>
              </a:rPr>
              <a:t>Discrepancia entre la hipótesis preliminar de 1 campo y la recolección real en pantalla.</a:t>
            </a:r>
            <a:endParaRPr sz="900" b="0" i="0" u="none" cap="none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188" name="Google Shape;188;p8">
            <a:extLst xmlns:a="http://schemas.openxmlformats.org/drawingml/2006/main">
              <a:ext uri="{FF2B5EF4-FFF2-40B4-BE49-F238E27FC236}">
                <a16:creationId xmlns:a16="http://schemas.microsoft.com/office/drawing/2014/main" id="{10F84B71-62A9-4044-A47C-01AB883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2615100" cy="3383400"/>
          </a:xfrm>
          <a:prstGeom xmlns:a="http://schemas.openxmlformats.org/drawingml/2006/main" prst="roundRect">
            <a:avLst>
              <a:gd name="adj" fmla="val 582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300" cmpd="sng">
            <a:solidFill>
              <a:srgbClr val="E2E8F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Google Shape;189;p8">
            <a:extLst xmlns:a="http://schemas.openxmlformats.org/drawingml/2006/main">
              <a:ext uri="{FF2B5EF4-FFF2-40B4-BE49-F238E27FC236}">
                <a16:creationId xmlns:a16="http://schemas.microsoft.com/office/drawing/2014/main" id="{AAC84E0C-A491-4EAB-918A-02B0201A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2343300" cy="187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sz="1050" b="0" i="0" u="none" cap="none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</a:rPr>
              <a:t>INPUT / CAPTURA REAL</a:t>
            </a:r>
            <a:endParaRPr sz="10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Nombre completo (*):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Campo de texto obligatorio.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Correo electrónico (*):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Obligatorio (propósito no aclarado si el contacto es vía WhatsApp).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WhatsApp (+52) (*):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Obligatorio con prefijo telefónico fijo.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Rango aproximado (*):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Selector con 6 rangos de ingresos mensuales ($0-$20k hasta &gt;$250k).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190" name="Google Shape;190;p8">
            <a:extLst xmlns:a="http://schemas.openxmlformats.org/drawingml/2006/main">
              <a:ext uri="{FF2B5EF4-FFF2-40B4-BE49-F238E27FC236}">
                <a16:creationId xmlns:a16="http://schemas.microsoft.com/office/drawing/2014/main" id="{CD4D7FD7-1B9B-4EC0-93AB-DE185A02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200150"/>
            <a:ext cx="2615100" cy="3383400"/>
          </a:xfrm>
          <a:prstGeom xmlns:a="http://schemas.openxmlformats.org/drawingml/2006/main" prst="roundRect">
            <a:avLst>
              <a:gd name="adj" fmla="val 582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300" cmpd="sng">
            <a:solidFill>
              <a:srgbClr val="E2E8F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Google Shape;191;p8">
            <a:extLst xmlns:a="http://schemas.openxmlformats.org/drawingml/2006/main">
              <a:ext uri="{FF2B5EF4-FFF2-40B4-BE49-F238E27FC236}">
                <a16:creationId xmlns:a16="http://schemas.microsoft.com/office/drawing/2014/main" id="{3E40594E-9E84-4746-A907-6E770F47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758" y="1352550"/>
            <a:ext cx="2343300" cy="174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sz="1050" b="0" i="0" u="none" cap="none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</a:rPr>
              <a:t>DEFECTOS DE USABILIDAD &amp; A11Y</a:t>
            </a:r>
            <a:endParaRPr sz="10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Violación axe select-name: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El elemento &lt;select id='amount'&gt; no tiene etiqueta &lt;label&gt; ni aria-label.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Aviso de privacidad ausente: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Ningún enlace contiguo al formulario (UX-004); solo en el footer a &gt;2,000 px.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Temor en público endeudado: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El usuario asume riesgo de ser exhibido en su empleo si entrega correo sin garantías.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192" name="Google Shape;192;p8">
            <a:extLst xmlns:a="http://schemas.openxmlformats.org/drawingml/2006/main">
              <a:ext uri="{FF2B5EF4-FFF2-40B4-BE49-F238E27FC236}">
                <a16:creationId xmlns:a16="http://schemas.microsoft.com/office/drawing/2014/main" id="{EB92F692-C2D7-4362-BDF0-FD53C269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200150"/>
            <a:ext cx="2615100" cy="3383400"/>
          </a:xfrm>
          <a:prstGeom xmlns:a="http://schemas.openxmlformats.org/drawingml/2006/main" prst="roundRect">
            <a:avLst>
              <a:gd name="adj" fmla="val 582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300" cmpd="sng">
            <a:solidFill>
              <a:srgbClr val="E2E8F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Google Shape;193;p8">
            <a:extLst xmlns:a="http://schemas.openxmlformats.org/drawingml/2006/main">
              <a:ext uri="{FF2B5EF4-FFF2-40B4-BE49-F238E27FC236}">
                <a16:creationId xmlns:a16="http://schemas.microsoft.com/office/drawing/2014/main" id="{963DEDE0-E73C-4C00-9665-D21A8FAB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966" y="1352550"/>
            <a:ext cx="2343300" cy="174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sz="1050" b="0" i="0" u="none" cap="none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</a:rPr>
              <a:t>POR QUÉ FUNCIONA EL REDISEÑO</a:t>
            </a:r>
            <a:endParaRPr sz="10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Reducción de fricción: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Hacer opcional el correo y justificar la necesidad del rango de ingresos eleva la conversión.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Aviso simplificado visible: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Mostrar 'Tus datos están protegidos bajo nuestro Aviso de Privacidad' genera certidumbre.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Labels semánticos accesibles: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Permiten que tecnologías de asistencia identifiquen cada campo sin ambigüedad.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194" name="Google Shape;194;p8">
            <a:extLst xmlns:a="http://schemas.openxmlformats.org/drawingml/2006/main">
              <a:ext uri="{FF2B5EF4-FFF2-40B4-BE49-F238E27FC236}">
                <a16:creationId xmlns:a16="http://schemas.microsoft.com/office/drawing/2014/main" id="{17A25B66-B0D1-42FE-8453-2013FBB0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825" y="4835700"/>
            <a:ext cx="15306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rgbClr val="4B86FE"/>
                </a:solidFill>
                <a:latin typeface="IBM Plex Sans"/>
                <a:ea typeface="IBM Plex Sans"/>
                <a:cs typeface="IBM Plex Sans"/>
              </a:rPr>
              <a:t>t2ó México</a:t>
            </a:r>
            <a:endParaRPr sz="800" b="1" i="0" u="none" cap="none">
              <a:solidFill>
                <a:srgbClr val="4B86F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95" name="Google Shape;195;p8">
            <a:extLst xmlns:a="http://schemas.openxmlformats.org/drawingml/2006/main">
              <a:ext uri="{FF2B5EF4-FFF2-40B4-BE49-F238E27FC236}">
                <a16:creationId xmlns:a16="http://schemas.microsoft.com/office/drawing/2014/main" id="{2532F65F-E24F-4763-AAA7-A7D049DA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732" y="4280100"/>
            <a:ext cx="787200" cy="787200"/>
          </a:xfrm>
          <a:prstGeom xmlns:a="http://schemas.openxmlformats.org/drawingml/2006/main" prst="blockArc">
            <a:avLst>
              <a:gd name="adj1" fmla="val 10800000"/>
              <a:gd name="adj2" fmla="val 16200346"/>
              <a:gd name="adj3" fmla="val 25523"/>
            </a:avLst>
          </a:prstGeom>
          <a:solidFill xmlns:a="http://schemas.openxmlformats.org/drawingml/2006/main">
            <a:srgbClr val="4B86F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oboto Mono Light"/>
              <a:ea typeface="Roboto Mono Light"/>
              <a:cs typeface="Roboto Mono Light"/>
            </a:endParaRPr>
          </a:p>
        </p:txBody>
      </p:sp>
      <p:sp>
        <p:nvSpPr>
          <p:cNvPr id="196" name="Google Shape;196;p8">
            <a:extLst xmlns:a="http://schemas.openxmlformats.org/drawingml/2006/main">
              <a:ext uri="{FF2B5EF4-FFF2-40B4-BE49-F238E27FC236}">
                <a16:creationId xmlns:a16="http://schemas.microsoft.com/office/drawing/2014/main" id="{D51216AA-2569-46BB-AB6F-BD9D7A19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172237" y="4280000"/>
            <a:ext cx="787200" cy="787200"/>
          </a:xfrm>
          <a:prstGeom xmlns:a="http://schemas.openxmlformats.org/drawingml/2006/main" prst="blockArc">
            <a:avLst>
              <a:gd name="adj1" fmla="val 10800000"/>
              <a:gd name="adj2" fmla="val 16200346"/>
              <a:gd name="adj3" fmla="val 25523"/>
            </a:avLst>
          </a:prstGeom>
          <a:solidFill xmlns:a="http://schemas.openxmlformats.org/drawingml/2006/main">
            <a:srgbClr val="4B86FE">
              <a:alpha val="49804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oboto Mono Light"/>
              <a:ea typeface="Roboto Mono Light"/>
              <a:cs typeface="Roboto Mono Light"/>
            </a:endParaRPr>
          </a:p>
        </p:txBody>
      </p:sp>
    </p:spTree>
    <p:extLst>
      <p:ext uri="{BB962C8B-B14F-4D97-AF65-F5344CB8AC3E}">
        <p14:creationId xmlns:p14="http://schemas.microsoft.com/office/powerpoint/2010/main" val="55173737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d6b599f13204739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1" name="Google Shape;201;p9">
            <a:extLst xmlns:a="http://schemas.openxmlformats.org/drawingml/2006/main">
              <a:ext uri="{FF2B5EF4-FFF2-40B4-BE49-F238E27FC236}">
                <a16:creationId xmlns:a16="http://schemas.microsoft.com/office/drawing/2014/main" id="{874BF27F-92C7-41B8-B3B3-0D63976F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229600" cy="6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059669"/>
                </a:solidFill>
                <a:latin typeface="Nunito Sans ExtraBold"/>
                <a:ea typeface="Nunito Sans ExtraBold"/>
                <a:cs typeface="Nunito Sans ExtraBold"/>
              </a:rPr>
              <a:t>CONFIANZA &amp; PRUEBA SOCIAL</a:t>
            </a:r>
            <a:endParaRPr sz="900" b="0" i="0" u="none" cap="none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</a:rPr>
              <a:t>Prueba social vacía: testimoniales rotos e insignia sin link</a:t>
            </a:r>
            <a:endParaRPr sz="900" b="0" i="0" u="none" cap="none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sz="950" b="0" i="0" u="none" cap="none">
                <a:solidFill>
                  <a:srgbClr val="6366F1"/>
                </a:solidFill>
                <a:latin typeface="Nunito Sans SemiBold"/>
                <a:ea typeface="Nunito Sans SemiBold"/>
                <a:cs typeface="Nunito Sans SemiBold"/>
              </a:rPr>
              <a:t>En servicios de reparación de deuda, la prueba social es el factor #1 para vencer el escepticismo.</a:t>
            </a:r>
            <a:endParaRPr sz="900" b="0" i="0" u="none" cap="none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pic>
        <p:nvPicPr>
          <p:cNvPr id="210" name="Google Shape;202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47356a7ed54cc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1525" y="1234450"/>
            <a:ext cx="1730705" cy="334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3" name="Google Shape;203;p9">
            <a:extLst xmlns:a="http://schemas.openxmlformats.org/drawingml/2006/main">
              <a:ext uri="{FF2B5EF4-FFF2-40B4-BE49-F238E27FC236}">
                <a16:creationId xmlns:a16="http://schemas.microsoft.com/office/drawing/2014/main" id="{E84C31D2-2885-4755-9C73-6B483040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1200150"/>
            <a:ext cx="5577900" cy="3383400"/>
          </a:xfrm>
          <a:prstGeom xmlns:a="http://schemas.openxmlformats.org/drawingml/2006/main" prst="roundRect">
            <a:avLst>
              <a:gd name="adj" fmla="val 337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300" cmpd="sng">
            <a:solidFill>
              <a:srgbClr val="E2E8F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" name="Google Shape;204;p9">
            <a:extLst xmlns:a="http://schemas.openxmlformats.org/drawingml/2006/main">
              <a:ext uri="{FF2B5EF4-FFF2-40B4-BE49-F238E27FC236}">
                <a16:creationId xmlns:a16="http://schemas.microsoft.com/office/drawing/2014/main" id="{25E9381E-C1A2-4CC8-9EDE-755B4BDA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333500"/>
            <a:ext cx="5212200" cy="224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sz="1050" b="0" i="0" u="none" cap="none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</a:rPr>
              <a:t>DIAGNÓSTICO DE CREDIBILIDAD</a:t>
            </a:r>
            <a:endParaRPr sz="10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Sección de testimoniales desierta: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El bloque '#testimoniales' promete '¡Nuestros clientes no dejan de hablar de nosotros!'. Sin embargo, el script de Trustindex falla con errores 404 e inyecta un simple &lt;div&gt;&lt;/div&gt; vacío. El visitante solo ve un fondo azul sin reseñas.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Insignia de Google sin verificar: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En el Hero se muestra un badge que dice 'Google ★★★★★ 4910 reseñas &gt;'. La inspección confirmó que tiene href: null; no es interactivo ni conduce a Google Maps o Google Business Profile.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Badges de Trustindex en footer: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Insignias de 'SSL Seguro' y 'Certificado Seguro' sin hipervínculos de validación criptográfica.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Impacto psicológico en el lead: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Un usuario con estrés financiero busca testimonios de personas reales con montos de quita comprobables. Un bloque roto genera sospecha inmediata de estafa o abandono.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Recomendación inmediata: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Reparar el widget de Trustindex o implementar un carrusel estático con casos de éxito reales (nombre de pila, deuda inicial, ahorro logrado y tiempo de resolución).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205" name="Google Shape;205;p9">
            <a:extLst xmlns:a="http://schemas.openxmlformats.org/drawingml/2006/main">
              <a:ext uri="{FF2B5EF4-FFF2-40B4-BE49-F238E27FC236}">
                <a16:creationId xmlns:a16="http://schemas.microsoft.com/office/drawing/2014/main" id="{E61CC73C-8F65-4182-9CDD-ACE88B9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825" y="4835700"/>
            <a:ext cx="15306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rgbClr val="4B86FE"/>
                </a:solidFill>
                <a:latin typeface="IBM Plex Sans"/>
                <a:ea typeface="IBM Plex Sans"/>
                <a:cs typeface="IBM Plex Sans"/>
              </a:rPr>
              <a:t>t2ó México</a:t>
            </a:r>
            <a:endParaRPr sz="800" b="1" i="0" u="none" cap="none">
              <a:solidFill>
                <a:srgbClr val="4B86F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06" name="Google Shape;206;p9">
            <a:extLst xmlns:a="http://schemas.openxmlformats.org/drawingml/2006/main">
              <a:ext uri="{FF2B5EF4-FFF2-40B4-BE49-F238E27FC236}">
                <a16:creationId xmlns:a16="http://schemas.microsoft.com/office/drawing/2014/main" id="{D7CF6747-FB5D-4CE4-87D0-64B0085E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732" y="4280100"/>
            <a:ext cx="787200" cy="787200"/>
          </a:xfrm>
          <a:prstGeom xmlns:a="http://schemas.openxmlformats.org/drawingml/2006/main" prst="blockArc">
            <a:avLst>
              <a:gd name="adj1" fmla="val 10800000"/>
              <a:gd name="adj2" fmla="val 16200346"/>
              <a:gd name="adj3" fmla="val 25523"/>
            </a:avLst>
          </a:prstGeom>
          <a:solidFill xmlns:a="http://schemas.openxmlformats.org/drawingml/2006/main">
            <a:srgbClr val="4B86F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oboto Mono Light"/>
              <a:ea typeface="Roboto Mono Light"/>
              <a:cs typeface="Roboto Mono Light"/>
            </a:endParaRPr>
          </a:p>
        </p:txBody>
      </p:sp>
      <p:sp>
        <p:nvSpPr>
          <p:cNvPr id="207" name="Google Shape;207;p9">
            <a:extLst xmlns:a="http://schemas.openxmlformats.org/drawingml/2006/main">
              <a:ext uri="{FF2B5EF4-FFF2-40B4-BE49-F238E27FC236}">
                <a16:creationId xmlns:a16="http://schemas.microsoft.com/office/drawing/2014/main" id="{E58CFFEA-B43F-4B59-AA49-7099C674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172237" y="4280000"/>
            <a:ext cx="787200" cy="787200"/>
          </a:xfrm>
          <a:prstGeom xmlns:a="http://schemas.openxmlformats.org/drawingml/2006/main" prst="blockArc">
            <a:avLst>
              <a:gd name="adj1" fmla="val 10800000"/>
              <a:gd name="adj2" fmla="val 16200346"/>
              <a:gd name="adj3" fmla="val 25523"/>
            </a:avLst>
          </a:prstGeom>
          <a:solidFill xmlns:a="http://schemas.openxmlformats.org/drawingml/2006/main">
            <a:srgbClr val="4B86FE">
              <a:alpha val="49804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oboto Mono Light"/>
              <a:ea typeface="Roboto Mono Light"/>
              <a:cs typeface="Roboto Mono Light"/>
            </a:endParaRPr>
          </a:p>
        </p:txBody>
      </p:sp>
    </p:spTree>
    <p:extLst>
      <p:ext uri="{BB962C8B-B14F-4D97-AF65-F5344CB8AC3E}">
        <p14:creationId xmlns:p14="http://schemas.microsoft.com/office/powerpoint/2010/main" val="90344650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46c77fc56ac4507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2" name="Google Shape;212;p10">
            <a:extLst xmlns:a="http://schemas.openxmlformats.org/drawingml/2006/main">
              <a:ext uri="{FF2B5EF4-FFF2-40B4-BE49-F238E27FC236}">
                <a16:creationId xmlns:a16="http://schemas.microsoft.com/office/drawing/2014/main" id="{D1864537-BADA-4813-B3A7-0EC59D25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229600" cy="60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0" i="0" u="none" cap="none">
                <a:solidFill>
                  <a:srgbClr val="059669"/>
                </a:solidFill>
                <a:latin typeface="Nunito Sans ExtraBold"/>
                <a:ea typeface="Nunito Sans ExtraBold"/>
                <a:cs typeface="Nunito Sans ExtraBold"/>
              </a:rPr>
              <a:t>PROPUESTA DE VALOR &amp; TRANSPARENCIA</a:t>
            </a:r>
            <a:endParaRPr sz="850" b="0" i="0" u="none" cap="none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</a:rPr>
              <a:t>Promesa agresiva en Hero vs. Servicio educativo en FAQ</a:t>
            </a:r>
            <a:endParaRPr sz="850" b="0" i="0" u="none" cap="none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sz="950" b="0" i="0" u="none" cap="none">
                <a:solidFill>
                  <a:srgbClr val="6366F1"/>
                </a:solidFill>
                <a:latin typeface="Nunito Sans SemiBold"/>
                <a:ea typeface="Nunito Sans SemiBold"/>
                <a:cs typeface="Nunito Sans SemiBold"/>
              </a:rPr>
              <a:t>Disparidad de expectativas y ausencia de precios orientativos antes de capturar el contacto.</a:t>
            </a:r>
            <a:endParaRPr sz="850" b="0" i="0" u="none" cap="none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213" name="Google Shape;213;p10">
            <a:extLst xmlns:a="http://schemas.openxmlformats.org/drawingml/2006/main">
              <a:ext uri="{FF2B5EF4-FFF2-40B4-BE49-F238E27FC236}">
                <a16:creationId xmlns:a16="http://schemas.microsoft.com/office/drawing/2014/main" id="{5BA2718A-70C1-48D9-95C1-FEB96D47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3977700" cy="3383400"/>
          </a:xfrm>
          <a:prstGeom xmlns:a="http://schemas.openxmlformats.org/drawingml/2006/main" prst="roundRect">
            <a:avLst>
              <a:gd name="adj" fmla="val 450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300" cmpd="sng">
            <a:solidFill>
              <a:srgbClr val="E2E8F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4" name="Google Shape;214;p10">
            <a:extLst xmlns:a="http://schemas.openxmlformats.org/drawingml/2006/main">
              <a:ext uri="{FF2B5EF4-FFF2-40B4-BE49-F238E27FC236}">
                <a16:creationId xmlns:a16="http://schemas.microsoft.com/office/drawing/2014/main" id="{C628D1C1-049C-4E1D-ACCF-9496378D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3672900" cy="19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</a:rPr>
              <a:t>LA PROMESA EN EL HERO</a:t>
            </a:r>
            <a:endParaRPr sz="100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Titular emocional llamativo: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'Pagar menos al mes para olvidarse del estrés. ¡La educación financiera es todo!'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Expectativa generada: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El visitante infiere una reducción directa, reestructura con quita o refinanciamiento de sus mensualidades.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La realidad en FAQ: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En '¿Qué hacemos?' se define únicamente como 'educación y herramientas para organizar su panorama y tomar decisiones informadas'.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Riesgo de frustración: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Si el servicio es reparación de crédito mediante negociación de quitas, debe explicarse con claridad. Disfrazarlo de educación confunde al prospecto.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215" name="Google Shape;215;p10">
            <a:extLst xmlns:a="http://schemas.openxmlformats.org/drawingml/2006/main">
              <a:ext uri="{FF2B5EF4-FFF2-40B4-BE49-F238E27FC236}">
                <a16:creationId xmlns:a16="http://schemas.microsoft.com/office/drawing/2014/main" id="{DCE39B79-5149-46EC-8A7F-AA880904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200150"/>
            <a:ext cx="3977700" cy="3383400"/>
          </a:xfrm>
          <a:prstGeom xmlns:a="http://schemas.openxmlformats.org/drawingml/2006/main" prst="roundRect">
            <a:avLst>
              <a:gd name="adj" fmla="val 450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300" cmpd="sng">
            <a:solidFill>
              <a:srgbClr val="E2E8F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Google Shape;216;p10">
            <a:extLst xmlns:a="http://schemas.openxmlformats.org/drawingml/2006/main">
              <a:ext uri="{FF2B5EF4-FFF2-40B4-BE49-F238E27FC236}">
                <a16:creationId xmlns:a16="http://schemas.microsoft.com/office/drawing/2014/main" id="{24AFD2C9-63D9-477B-BB15-164A44D6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560" y="1333500"/>
            <a:ext cx="3672900" cy="19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</a:rPr>
              <a:t>OPACIDAD EN COSTOS</a:t>
            </a:r>
            <a:endParaRPr sz="100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Sin precios ni rangos publicados: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La respuesta en FAQ afirma que 'los costos pueden variar según el perfil y los servicios que se elijan'.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Asesoría inicial gratuita: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Se declara sin costo, pero no se informa el esquema posterior (¿comisión sobre monto ahorrado? ¿cuota fija mensual?).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Fricción comercial innecesaria: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Obliga a una conversación por WhatsApp para conocer si el servicio es asequible, provocando abandono tardío del lead calificado.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Recomendación: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Publicar esquema orientativo de honorarios (ej. 'Cobramos un % únicamente sobre el descuento negociado') para precalificar prospectos.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217" name="Google Shape;217;p10">
            <a:extLst xmlns:a="http://schemas.openxmlformats.org/drawingml/2006/main">
              <a:ext uri="{FF2B5EF4-FFF2-40B4-BE49-F238E27FC236}">
                <a16:creationId xmlns:a16="http://schemas.microsoft.com/office/drawing/2014/main" id="{BCE16B02-A453-4387-8C7B-3BF7283F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825" y="4835700"/>
            <a:ext cx="15306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rgbClr val="4B86FE"/>
                </a:solidFill>
                <a:latin typeface="IBM Plex Sans"/>
                <a:ea typeface="IBM Plex Sans"/>
                <a:cs typeface="IBM Plex Sans"/>
              </a:rPr>
              <a:t>t2ó México</a:t>
            </a:r>
            <a:endParaRPr sz="800" b="1" i="0" u="none" cap="none">
              <a:solidFill>
                <a:srgbClr val="4B86F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8" name="Google Shape;218;p10">
            <a:extLst xmlns:a="http://schemas.openxmlformats.org/drawingml/2006/main">
              <a:ext uri="{FF2B5EF4-FFF2-40B4-BE49-F238E27FC236}">
                <a16:creationId xmlns:a16="http://schemas.microsoft.com/office/drawing/2014/main" id="{3BBB4763-3781-496A-B49A-24734B6D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732" y="4280100"/>
            <a:ext cx="787200" cy="787200"/>
          </a:xfrm>
          <a:prstGeom xmlns:a="http://schemas.openxmlformats.org/drawingml/2006/main" prst="blockArc">
            <a:avLst>
              <a:gd name="adj1" fmla="val 10800000"/>
              <a:gd name="adj2" fmla="val 16200346"/>
              <a:gd name="adj3" fmla="val 25523"/>
            </a:avLst>
          </a:prstGeom>
          <a:solidFill xmlns:a="http://schemas.openxmlformats.org/drawingml/2006/main">
            <a:srgbClr val="4B86F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oboto Mono Light"/>
              <a:ea typeface="Roboto Mono Light"/>
              <a:cs typeface="Roboto Mono Light"/>
            </a:endParaRPr>
          </a:p>
        </p:txBody>
      </p:sp>
      <p:sp>
        <p:nvSpPr>
          <p:cNvPr id="219" name="Google Shape;219;p10">
            <a:extLst xmlns:a="http://schemas.openxmlformats.org/drawingml/2006/main">
              <a:ext uri="{FF2B5EF4-FFF2-40B4-BE49-F238E27FC236}">
                <a16:creationId xmlns:a16="http://schemas.microsoft.com/office/drawing/2014/main" id="{445C821E-6BD4-4297-BF60-B3165328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172237" y="4280000"/>
            <a:ext cx="787200" cy="787200"/>
          </a:xfrm>
          <a:prstGeom xmlns:a="http://schemas.openxmlformats.org/drawingml/2006/main" prst="blockArc">
            <a:avLst>
              <a:gd name="adj1" fmla="val 10800000"/>
              <a:gd name="adj2" fmla="val 16200346"/>
              <a:gd name="adj3" fmla="val 25523"/>
            </a:avLst>
          </a:prstGeom>
          <a:solidFill xmlns:a="http://schemas.openxmlformats.org/drawingml/2006/main">
            <a:srgbClr val="4B86FE">
              <a:alpha val="49804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oboto Mono Light"/>
              <a:ea typeface="Roboto Mono Light"/>
              <a:cs typeface="Roboto Mono Light"/>
            </a:endParaRPr>
          </a:p>
        </p:txBody>
      </p:sp>
    </p:spTree>
    <p:extLst>
      <p:ext uri="{BB962C8B-B14F-4D97-AF65-F5344CB8AC3E}">
        <p14:creationId xmlns:p14="http://schemas.microsoft.com/office/powerpoint/2010/main" val="2014721753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7be639ddb86430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4" name="Google Shape;224;g3fb940bf621_237_513">
            <a:extLst xmlns:a="http://schemas.openxmlformats.org/drawingml/2006/main">
              <a:ext uri="{FF2B5EF4-FFF2-40B4-BE49-F238E27FC236}">
                <a16:creationId xmlns:a16="http://schemas.microsoft.com/office/drawing/2014/main" id="{DA3A87A2-0B52-4035-8BF5-899A8873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229600" cy="63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900" b="0" i="0" u="none" cap="none">
                <a:solidFill>
                  <a:srgbClr val="059669"/>
                </a:solidFill>
                <a:latin typeface="Nunito Sans ExtraBold"/>
                <a:ea typeface="Nunito Sans ExtraBold"/>
                <a:cs typeface="Nunito Sans ExtraBold"/>
              </a:rPr>
              <a:t>CONTENIDO &amp; PÚBLICO OBJETIVO</a:t>
            </a:r>
            <a:endParaRPr sz="900" b="0" i="0" u="none" cap="none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sz="1800" b="0" i="0" u="none" cap="none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</a:rPr>
              <a:t>El sitio le habla a su cliente en un idioma que no es el suyo</a:t>
            </a:r>
            <a:endParaRPr sz="900" b="0" i="0" u="none" cap="none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sz="950" b="0" i="0" u="none" cap="none">
                <a:solidFill>
                  <a:srgbClr val="6366F1"/>
                </a:solidFill>
                <a:latin typeface="Nunito Sans SemiBold"/>
                <a:ea typeface="Nunito Sans SemiBold"/>
                <a:cs typeface="Nunito Sans SemiBold"/>
              </a:rPr>
              <a:t>El nivel de lectura del contenido no corresponde al perfil de público que definió el cliente.</a:t>
            </a:r>
            <a:endParaRPr sz="900" b="0" i="0" u="none" cap="none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225" name="Google Shape;225;g3fb940bf621_237_513">
            <a:extLst xmlns:a="http://schemas.openxmlformats.org/drawingml/2006/main">
              <a:ext uri="{FF2B5EF4-FFF2-40B4-BE49-F238E27FC236}">
                <a16:creationId xmlns:a16="http://schemas.microsoft.com/office/drawing/2014/main" id="{E8D07A7A-7712-4AE9-B1C5-FFCEE4F9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2615100" cy="3383400"/>
          </a:xfrm>
          <a:prstGeom xmlns:a="http://schemas.openxmlformats.org/drawingml/2006/main" prst="roundRect">
            <a:avLst>
              <a:gd name="adj" fmla="val 582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300" cmpd="sng">
            <a:solidFill>
              <a:srgbClr val="E2E8F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Google Shape;226;g3fb940bf621_237_513">
            <a:extLst xmlns:a="http://schemas.openxmlformats.org/drawingml/2006/main">
              <a:ext uri="{FF2B5EF4-FFF2-40B4-BE49-F238E27FC236}">
                <a16:creationId xmlns:a16="http://schemas.microsoft.com/office/drawing/2014/main" id="{884B1751-D50B-4592-875E-837CC3A7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2343300" cy="187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sz="1050" b="0" i="0" u="none" cap="none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</a:rPr>
              <a:t>CÓMO ESTÁ ESCRITO HOY</a:t>
            </a:r>
            <a:endParaRPr sz="10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El 58% de las páginas exige nivel universitario: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para leerse con fluidez, según la medición estándar de legibilidad.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Otro 38% está todavía un escalón arriba: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en el rango más difícil de la escala.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La causa: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frases largas y palabras del mundo financiero que nadie usa al hablar.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No es el mensaje principal: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es todo el contenido publicado, incluido el blog.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227" name="Google Shape;227;g3fb940bf621_237_513">
            <a:extLst xmlns:a="http://schemas.openxmlformats.org/drawingml/2006/main">
              <a:ext uri="{FF2B5EF4-FFF2-40B4-BE49-F238E27FC236}">
                <a16:creationId xmlns:a16="http://schemas.microsoft.com/office/drawing/2014/main" id="{ED7B7852-A954-498E-BE8C-9DFB69D0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200150"/>
            <a:ext cx="2615100" cy="3383400"/>
          </a:xfrm>
          <a:prstGeom xmlns:a="http://schemas.openxmlformats.org/drawingml/2006/main" prst="roundRect">
            <a:avLst>
              <a:gd name="adj" fmla="val 582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300" cmpd="sng">
            <a:solidFill>
              <a:srgbClr val="E2E8F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8" name="Google Shape;228;g3fb940bf621_237_513">
            <a:extLst xmlns:a="http://schemas.openxmlformats.org/drawingml/2006/main">
              <a:ext uri="{FF2B5EF4-FFF2-40B4-BE49-F238E27FC236}">
                <a16:creationId xmlns:a16="http://schemas.microsoft.com/office/drawing/2014/main" id="{FEAE08F4-15BE-4CF8-AF60-8C7BC81F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758" y="1352550"/>
            <a:ext cx="2343300" cy="174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sz="1050" b="0" i="0" u="none" cap="none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</a:rPr>
              <a:t>A QUIÉN LE ESTÁ HABLANDO</a:t>
            </a:r>
            <a:endParaRPr sz="10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El cliente definió su público: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nivel socioeconómico C+ a C−, según el briefing del 14 de septiembre.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Y lo describió así: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personas que batallan con sus pagos justamente por falta de educación financiera.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Ahí está la contradicción: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se vende educación financiera escribiendo como si el lector ya la tuviera.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229" name="Google Shape;229;g3fb940bf621_237_513">
            <a:extLst xmlns:a="http://schemas.openxmlformats.org/drawingml/2006/main">
              <a:ext uri="{FF2B5EF4-FFF2-40B4-BE49-F238E27FC236}">
                <a16:creationId xmlns:a16="http://schemas.microsoft.com/office/drawing/2014/main" id="{350BBBC0-0C60-47BD-838B-4E759CF6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200150"/>
            <a:ext cx="2615100" cy="3383400"/>
          </a:xfrm>
          <a:prstGeom xmlns:a="http://schemas.openxmlformats.org/drawingml/2006/main" prst="roundRect">
            <a:avLst>
              <a:gd name="adj" fmla="val 582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300" cmpd="sng">
            <a:solidFill>
              <a:srgbClr val="E2E8F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0" name="Google Shape;230;g3fb940bf621_237_513">
            <a:extLst xmlns:a="http://schemas.openxmlformats.org/drawingml/2006/main">
              <a:ext uri="{FF2B5EF4-FFF2-40B4-BE49-F238E27FC236}">
                <a16:creationId xmlns:a16="http://schemas.microsoft.com/office/drawing/2014/main" id="{28863E19-8DA0-4D97-89F0-D5D30264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966" y="1352550"/>
            <a:ext cx="2343300" cy="14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sz="1050" b="0" i="0" u="none" cap="none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</a:rPr>
              <a:t>QUÉ HACER</a:t>
            </a:r>
            <a:endParaRPr sz="10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Reescribir tres lugares: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el mensaje principal, las preguntas frecuentes y la pantalla de acreedores.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Frases cortas y palabras de todos los días: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en vez de tecnicismos financieros sin traducir.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Poner un nivel de lectura como requisito: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que ningún texto se publique sin pasar ese filtro.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231" name="Google Shape;231;g3fb940bf621_237_513">
            <a:extLst xmlns:a="http://schemas.openxmlformats.org/drawingml/2006/main">
              <a:ext uri="{FF2B5EF4-FFF2-40B4-BE49-F238E27FC236}">
                <a16:creationId xmlns:a16="http://schemas.microsoft.com/office/drawing/2014/main" id="{050CE3F1-C520-4957-89C0-1B9B0383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825" y="4835700"/>
            <a:ext cx="15306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rgbClr val="4B86FE"/>
                </a:solidFill>
                <a:latin typeface="IBM Plex Sans"/>
                <a:ea typeface="IBM Plex Sans"/>
                <a:cs typeface="IBM Plex Sans"/>
              </a:rPr>
              <a:t>t2ó México</a:t>
            </a:r>
            <a:endParaRPr sz="800" b="1" i="0" u="none" cap="none">
              <a:solidFill>
                <a:srgbClr val="4B86F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32" name="Google Shape;232;g3fb940bf621_237_513">
            <a:extLst xmlns:a="http://schemas.openxmlformats.org/drawingml/2006/main">
              <a:ext uri="{FF2B5EF4-FFF2-40B4-BE49-F238E27FC236}">
                <a16:creationId xmlns:a16="http://schemas.microsoft.com/office/drawing/2014/main" id="{C6657A0B-9D6B-475F-8641-1021A735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732" y="4280100"/>
            <a:ext cx="787200" cy="787200"/>
          </a:xfrm>
          <a:prstGeom xmlns:a="http://schemas.openxmlformats.org/drawingml/2006/main" prst="blockArc">
            <a:avLst>
              <a:gd name="adj1" fmla="val 10800000"/>
              <a:gd name="adj2" fmla="val 16200346"/>
              <a:gd name="adj3" fmla="val 25523"/>
            </a:avLst>
          </a:prstGeom>
          <a:solidFill xmlns:a="http://schemas.openxmlformats.org/drawingml/2006/main">
            <a:srgbClr val="4B86F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oboto Mono Light"/>
              <a:ea typeface="Roboto Mono Light"/>
              <a:cs typeface="Roboto Mono Light"/>
            </a:endParaRPr>
          </a:p>
        </p:txBody>
      </p:sp>
      <p:sp>
        <p:nvSpPr>
          <p:cNvPr id="233" name="Google Shape;233;g3fb940bf621_237_513">
            <a:extLst xmlns:a="http://schemas.openxmlformats.org/drawingml/2006/main">
              <a:ext uri="{FF2B5EF4-FFF2-40B4-BE49-F238E27FC236}">
                <a16:creationId xmlns:a16="http://schemas.microsoft.com/office/drawing/2014/main" id="{2BBF9156-B506-456D-93DC-93C5B5EE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172237" y="4280000"/>
            <a:ext cx="787200" cy="787200"/>
          </a:xfrm>
          <a:prstGeom xmlns:a="http://schemas.openxmlformats.org/drawingml/2006/main" prst="blockArc">
            <a:avLst>
              <a:gd name="adj1" fmla="val 10800000"/>
              <a:gd name="adj2" fmla="val 16200346"/>
              <a:gd name="adj3" fmla="val 25523"/>
            </a:avLst>
          </a:prstGeom>
          <a:solidFill xmlns:a="http://schemas.openxmlformats.org/drawingml/2006/main">
            <a:srgbClr val="4B86FE">
              <a:alpha val="49804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oboto Mono Light"/>
              <a:ea typeface="Roboto Mono Light"/>
              <a:cs typeface="Roboto Mono Light"/>
            </a:endParaRPr>
          </a:p>
        </p:txBody>
      </p:sp>
    </p:spTree>
    <p:extLst>
      <p:ext uri="{BB962C8B-B14F-4D97-AF65-F5344CB8AC3E}">
        <p14:creationId xmlns:p14="http://schemas.microsoft.com/office/powerpoint/2010/main" val="1454928694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3ce39ec1bc98451f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5" name="Google Shape;245;p12">
            <a:extLst xmlns:a="http://schemas.openxmlformats.org/drawingml/2006/main">
              <a:ext uri="{FF2B5EF4-FFF2-40B4-BE49-F238E27FC236}">
                <a16:creationId xmlns:a16="http://schemas.microsoft.com/office/drawing/2014/main" id="{505EF347-F745-4D40-A63C-D5940FD3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229600" cy="60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0" i="0" u="none" cap="none">
                <a:solidFill>
                  <a:srgbClr val="059669"/>
                </a:solidFill>
                <a:latin typeface="Nunito Sans ExtraBold"/>
                <a:ea typeface="Nunito Sans ExtraBold"/>
                <a:cs typeface="Nunito Sans ExtraBold"/>
              </a:rPr>
              <a:t>ACCESIBILIDAD WCAG 2.2</a:t>
            </a:r>
            <a:endParaRPr sz="850" b="0" i="0" u="none" cap="none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</a:rPr>
              <a:t>axe-core 4.10.2: 7 violaciones normativas detectadas</a:t>
            </a:r>
            <a:endParaRPr sz="850" b="0" i="0" u="none" cap="none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sz="950" b="0" i="0" u="none" cap="none">
                <a:solidFill>
                  <a:srgbClr val="6366F1"/>
                </a:solidFill>
                <a:latin typeface="Nunito Sans SemiBold"/>
                <a:ea typeface="Nunito Sans SemiBold"/>
                <a:cs typeface="Nunito Sans SemiBold"/>
              </a:rPr>
              <a:t>Evaluación automatizada y asistida por Chromium Headless. Estado: No conforme con WCAG 2.2 nivel AA.</a:t>
            </a:r>
            <a:endParaRPr sz="850" b="0" i="0" u="none" cap="none">
              <a:solidFill>
                <a:srgbClr val="059669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246" name="Google Shape;246;p12">
            <a:extLst xmlns:a="http://schemas.openxmlformats.org/drawingml/2006/main">
              <a:ext uri="{FF2B5EF4-FFF2-40B4-BE49-F238E27FC236}">
                <a16:creationId xmlns:a16="http://schemas.microsoft.com/office/drawing/2014/main" id="{259F55E6-39F0-46BB-90CB-A6EBEBA7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2377500" cy="3383400"/>
          </a:xfrm>
          <a:prstGeom xmlns:a="http://schemas.openxmlformats.org/drawingml/2006/main" prst="roundRect">
            <a:avLst>
              <a:gd name="adj" fmla="val 64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300" cmpd="sng">
            <a:solidFill>
              <a:srgbClr val="E2E8F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7" name="Google Shape;247;p12">
            <a:extLst xmlns:a="http://schemas.openxmlformats.org/drawingml/2006/main">
              <a:ext uri="{FF2B5EF4-FFF2-40B4-BE49-F238E27FC236}">
                <a16:creationId xmlns:a16="http://schemas.microsoft.com/office/drawing/2014/main" id="{41DD0528-FDC2-4D89-8984-0DB29661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2072700" cy="162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</a:rPr>
              <a:t>DISTRIBUCIÓN AXE</a:t>
            </a:r>
            <a:endParaRPr sz="100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rgbClr val="DC3232"/>
                </a:solidFill>
                <a:latin typeface="Nunito Sans ExtraBold"/>
                <a:ea typeface="Nunito Sans ExtraBold"/>
                <a:cs typeface="Nunito Sans ExtraBold"/>
              </a:rPr>
              <a:t>2 Críticas</a:t>
            </a:r>
            <a:endParaRPr sz="100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rgbClr val="D97706"/>
                </a:solidFill>
                <a:latin typeface="Nunito Sans ExtraBold"/>
                <a:ea typeface="Nunito Sans ExtraBold"/>
                <a:cs typeface="Nunito Sans ExtraBold"/>
              </a:rPr>
              <a:t>3 Serias</a:t>
            </a:r>
            <a:endParaRPr sz="100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 i="0" u="none" cap="none">
                <a:solidFill>
                  <a:srgbClr val="0284C7"/>
                </a:solidFill>
                <a:latin typeface="Nunito Sans ExtraBold"/>
                <a:ea typeface="Nunito Sans ExtraBold"/>
                <a:cs typeface="Nunito Sans ExtraBold"/>
              </a:rPr>
              <a:t>2 Moderadas</a:t>
            </a:r>
            <a:endParaRPr sz="100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0" i="0" u="none" cap="none">
                <a:solidFill>
                  <a:srgbClr val="475569"/>
                </a:solidFill>
                <a:latin typeface="Nunito Sans SemiBold"/>
                <a:ea typeface="Nunito Sans SemiBold"/>
                <a:cs typeface="Nunito Sans SemiBold"/>
              </a:rPr>
              <a:t>Total: 7 reglas violadas</a:t>
            </a:r>
            <a:br>
              <a:rPr sz="850" b="0" i="0" u="none" cap="none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</a:rPr>
            </a:br>
            <a:r>
              <a:rPr sz="850" b="0" i="0" u="none" cap="none">
                <a:solidFill>
                  <a:srgbClr val="64748B"/>
                </a:solidFill>
                <a:latin typeface="Nunito Sans"/>
                <a:ea typeface="Nunito Sans"/>
                <a:cs typeface="Nunito Sans"/>
              </a:rPr>
              <a:t>Nodos afectados: &gt;22 elementos en DOM.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248" name="Google Shape;248;p12">
            <a:extLst xmlns:a="http://schemas.openxmlformats.org/drawingml/2006/main">
              <a:ext uri="{FF2B5EF4-FFF2-40B4-BE49-F238E27FC236}">
                <a16:creationId xmlns:a16="http://schemas.microsoft.com/office/drawing/2014/main" id="{9E102308-B22A-41E0-A90C-B602E91F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200150"/>
            <a:ext cx="5669400" cy="3383400"/>
          </a:xfrm>
          <a:prstGeom xmlns:a="http://schemas.openxmlformats.org/drawingml/2006/main" prst="roundRect">
            <a:avLst>
              <a:gd name="adj" fmla="val 450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300" cmpd="sng">
            <a:solidFill>
              <a:srgbClr val="E2E8F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9" name="Google Shape;249;p12">
            <a:extLst xmlns:a="http://schemas.openxmlformats.org/drawingml/2006/main">
              <a:ext uri="{FF2B5EF4-FFF2-40B4-BE49-F238E27FC236}">
                <a16:creationId xmlns:a16="http://schemas.microsoft.com/office/drawing/2014/main" id="{8971B519-F4DD-401F-A05E-3C70FC6D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1333500"/>
            <a:ext cx="5364600" cy="236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6A3EE8"/>
                </a:solidFill>
                <a:latin typeface="Nunito Sans ExtraBold"/>
                <a:ea typeface="Nunito Sans ExtraBold"/>
                <a:cs typeface="Nunito Sans ExtraBold"/>
              </a:rPr>
              <a:t>DESGLOSE DE REGLAS INCUMPLIDAS</a:t>
            </a:r>
            <a:endParaRPr sz="100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select-name [Crítica]: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El elemento &lt;select id='amount'&gt; no cuenta con &lt;label&gt; ni aria-label asociado. Lector de pantalla no anuncia su función.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image-alt [Crítica]: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Imágenes clave carecen de texto alternativo alt descriptivo (ej. brand-logos.png con alt='').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color-contrast [Seria]: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15 nodos con contraste insuficiente (&lt;4.5:1). Enlaces del menú principal (#797984 sobre blanco) tienen ratio 4.3:1 (UX-010).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link-name [Seria]: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Enlaces en la secuencia de tabulación carecen de texto discernible (enlace del logo y botones).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frame-title [Seria]: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Múltiples elementos &lt;iframe&gt; técnicos y de mapas no tienen atributo title accesible (UX-013).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• page-has-heading-one [Moderada]: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La portada carece de un encabezado &lt;h1&gt; estructural; el hero usa jerarquías h2 o divs (UX-011).</a:t>
            </a:r>
            <a:endParaRPr sz="850" b="0" i="0" u="none" cap="none">
              <a:solidFill>
                <a:srgbClr val="6A3EE8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250" name="Google Shape;250;p12">
            <a:extLst xmlns:a="http://schemas.openxmlformats.org/drawingml/2006/main">
              <a:ext uri="{FF2B5EF4-FFF2-40B4-BE49-F238E27FC236}">
                <a16:creationId xmlns:a16="http://schemas.microsoft.com/office/drawing/2014/main" id="{BF96093E-41C6-4DF7-A9AB-46F003DB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825" y="4835700"/>
            <a:ext cx="15306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rgbClr val="4B86FE"/>
                </a:solidFill>
                <a:latin typeface="IBM Plex Sans"/>
                <a:ea typeface="IBM Plex Sans"/>
                <a:cs typeface="IBM Plex Sans"/>
              </a:rPr>
              <a:t>t2ó México</a:t>
            </a:r>
            <a:endParaRPr sz="800" b="1" i="0" u="none" cap="none">
              <a:solidFill>
                <a:srgbClr val="4B86F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51" name="Google Shape;251;p12">
            <a:extLst xmlns:a="http://schemas.openxmlformats.org/drawingml/2006/main">
              <a:ext uri="{FF2B5EF4-FFF2-40B4-BE49-F238E27FC236}">
                <a16:creationId xmlns:a16="http://schemas.microsoft.com/office/drawing/2014/main" id="{512C945D-2CF2-4112-B989-6F0D49A5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732" y="4280100"/>
            <a:ext cx="787200" cy="787200"/>
          </a:xfrm>
          <a:prstGeom xmlns:a="http://schemas.openxmlformats.org/drawingml/2006/main" prst="blockArc">
            <a:avLst>
              <a:gd name="adj1" fmla="val 10800000"/>
              <a:gd name="adj2" fmla="val 16200346"/>
              <a:gd name="adj3" fmla="val 25523"/>
            </a:avLst>
          </a:prstGeom>
          <a:solidFill xmlns:a="http://schemas.openxmlformats.org/drawingml/2006/main">
            <a:srgbClr val="4B86F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oboto Mono Light"/>
              <a:ea typeface="Roboto Mono Light"/>
              <a:cs typeface="Roboto Mono Light"/>
            </a:endParaRPr>
          </a:p>
        </p:txBody>
      </p:sp>
      <p:sp>
        <p:nvSpPr>
          <p:cNvPr id="252" name="Google Shape;252;p12">
            <a:extLst xmlns:a="http://schemas.openxmlformats.org/drawingml/2006/main">
              <a:ext uri="{FF2B5EF4-FFF2-40B4-BE49-F238E27FC236}">
                <a16:creationId xmlns:a16="http://schemas.microsoft.com/office/drawing/2014/main" id="{0388EC10-2996-4327-BE20-CEEEE2A3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172237" y="4280000"/>
            <a:ext cx="787200" cy="787200"/>
          </a:xfrm>
          <a:prstGeom xmlns:a="http://schemas.openxmlformats.org/drawingml/2006/main" prst="blockArc">
            <a:avLst>
              <a:gd name="adj1" fmla="val 10800000"/>
              <a:gd name="adj2" fmla="val 16200346"/>
              <a:gd name="adj3" fmla="val 25523"/>
            </a:avLst>
          </a:prstGeom>
          <a:solidFill xmlns:a="http://schemas.openxmlformats.org/drawingml/2006/main">
            <a:srgbClr val="4B86FE">
              <a:alpha val="49804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oboto Mono Light"/>
              <a:ea typeface="Roboto Mono Light"/>
              <a:cs typeface="Roboto Mono Light"/>
            </a:endParaRPr>
          </a:p>
        </p:txBody>
      </p:sp>
    </p:spTree>
    <p:extLst>
      <p:ext uri="{BB962C8B-B14F-4D97-AF65-F5344CB8AC3E}">
        <p14:creationId xmlns:p14="http://schemas.microsoft.com/office/powerpoint/2010/main" val="1380021103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88b79c29ae4c4ac6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7" name="Google Shape;257;g3fb940bf621_237_335">
            <a:extLst xmlns:a="http://schemas.openxmlformats.org/drawingml/2006/main">
              <a:ext uri="{FF2B5EF4-FFF2-40B4-BE49-F238E27FC236}">
                <a16:creationId xmlns:a16="http://schemas.microsoft.com/office/drawing/2014/main" id="{D7E2F246-FC5E-4EDF-9E5B-552B1C9A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8229600" cy="60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0" i="0" u="none" cap="none">
                <a:solidFill>
                  <a:srgbClr val="30AFB8"/>
                </a:solidFill>
                <a:latin typeface="Nunito Sans ExtraBold"/>
                <a:ea typeface="Nunito Sans ExtraBold"/>
                <a:cs typeface="Nunito Sans ExtraBold"/>
              </a:rPr>
              <a:t>ALCANCE REAL DEL PROBLEMA</a:t>
            </a:r>
            <a:endParaRPr sz="850" b="0" i="0" u="none" cap="none">
              <a:solidFill>
                <a:srgbClr val="30AFB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</a:rPr>
              <a:t>Un mismo error, repetido en las 486 páginas del sitio</a:t>
            </a:r>
            <a:endParaRPr sz="850" b="0" i="0" u="none" cap="none">
              <a:solidFill>
                <a:srgbClr val="30AFB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sz="950" b="0" i="0" u="none" cap="none">
                <a:solidFill>
                  <a:srgbClr val="64748B"/>
                </a:solidFill>
                <a:latin typeface="Nunito Sans SemiBold"/>
                <a:ea typeface="Nunito Sans SemiBold"/>
                <a:cs typeface="Nunito Sans SemiBold"/>
              </a:rPr>
              <a:t>Los problemas que encontramos en la portada no son de la portada: son de la plantilla.</a:t>
            </a:r>
            <a:endParaRPr sz="850" b="0" i="0" u="none" cap="none">
              <a:solidFill>
                <a:srgbClr val="30AFB8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258" name="Google Shape;258;g3fb940bf621_237_335">
            <a:extLst xmlns:a="http://schemas.openxmlformats.org/drawingml/2006/main">
              <a:ext uri="{FF2B5EF4-FFF2-40B4-BE49-F238E27FC236}">
                <a16:creationId xmlns:a16="http://schemas.microsoft.com/office/drawing/2014/main" id="{E1163CE5-4028-4B6D-9A57-9AB8EBA6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2615100" cy="3383400"/>
          </a:xfrm>
          <a:prstGeom xmlns:a="http://schemas.openxmlformats.org/drawingml/2006/main" prst="roundRect">
            <a:avLst>
              <a:gd name="adj" fmla="val 582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300" cmpd="sng">
            <a:solidFill>
              <a:srgbClr val="E2E8F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Google Shape;259;g3fb940bf621_237_335">
            <a:extLst xmlns:a="http://schemas.openxmlformats.org/drawingml/2006/main">
              <a:ext uri="{FF2B5EF4-FFF2-40B4-BE49-F238E27FC236}">
                <a16:creationId xmlns:a16="http://schemas.microsoft.com/office/drawing/2014/main" id="{37A7CB8C-CDD6-43C2-BB9C-02234BD1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3312"/>
            <a:ext cx="2310300" cy="174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D97706"/>
                </a:solidFill>
                <a:latin typeface="Nunito Sans ExtraBold"/>
                <a:ea typeface="Nunito Sans ExtraBold"/>
                <a:cs typeface="Nunito Sans ExtraBold"/>
              </a:rPr>
              <a:t>QUÉ LE PASA AL USUARIO</a:t>
            </a:r>
            <a:endParaRPr sz="1000" b="0" i="0" u="none" cap="none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Texto que cuesta leer: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en todas las páginas hay textos cuyo color casi se confunde con el fondo.</a:t>
            </a:r>
            <a:endParaRPr sz="850" b="0" i="0" u="none" cap="none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Enlaces que una persona ciega no puede usar: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su lector de pantalla los anuncia como 'enlace', sin decir a dónde llevan.</a:t>
            </a:r>
            <a:endParaRPr sz="850" b="0" i="0" u="none" cap="none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Ventanas incrustadas sin nombre: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mapas y formularios embebidos por los que el teclado pasa sin avisar dónde está uno.</a:t>
            </a:r>
            <a:endParaRPr sz="850" b="0" i="0" u="none" cap="none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260" name="Google Shape;260;g3fb940bf621_237_335">
            <a:extLst xmlns:a="http://schemas.openxmlformats.org/drawingml/2006/main">
              <a:ext uri="{FF2B5EF4-FFF2-40B4-BE49-F238E27FC236}">
                <a16:creationId xmlns:a16="http://schemas.microsoft.com/office/drawing/2014/main" id="{F7BC9DBB-011D-4CDD-9205-F4A75C43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234440"/>
            <a:ext cx="2615100" cy="3383400"/>
          </a:xfrm>
          <a:prstGeom xmlns:a="http://schemas.openxmlformats.org/drawingml/2006/main" prst="roundRect">
            <a:avLst>
              <a:gd name="adj" fmla="val 582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300" cmpd="sng">
            <a:solidFill>
              <a:srgbClr val="E2E8F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Google Shape;261;g3fb940bf621_237_335">
            <a:extLst xmlns:a="http://schemas.openxmlformats.org/drawingml/2006/main">
              <a:ext uri="{FF2B5EF4-FFF2-40B4-BE49-F238E27FC236}">
                <a16:creationId xmlns:a16="http://schemas.microsoft.com/office/drawing/2014/main" id="{9EF51CCF-A54A-4CEC-B2A0-352351D9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808" y="1353312"/>
            <a:ext cx="2310300" cy="176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DC3232"/>
                </a:solidFill>
                <a:latin typeface="Nunito Sans ExtraBold"/>
                <a:ea typeface="Nunito Sans ExtraBold"/>
                <a:cs typeface="Nunito Sans ExtraBold"/>
              </a:rPr>
              <a:t>DOS REVISIONES, EL MISMO RESULTADO</a:t>
            </a:r>
            <a:endParaRPr sz="1000" b="0" i="0" u="none" cap="none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Nosotros revisamos la portada a mano: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con herramientas de accesibilidad y navegando solo con teclado.</a:t>
            </a:r>
            <a:endParaRPr sz="850" b="0" i="0" u="none" cap="none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Un rastreo automático revisó las 486 páginas: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es una herramienta distinta, con otro método.</a:t>
            </a:r>
            <a:endParaRPr sz="850" b="0" i="0" u="none" cap="none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Coinciden en todo: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cuando dos revisiones independientes encuentran lo mismo, el hallazgo deja de ser opinión.</a:t>
            </a:r>
            <a:endParaRPr sz="850" b="0" i="0" u="none" cap="none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262" name="Google Shape;262;g3fb940bf621_237_335">
            <a:extLst xmlns:a="http://schemas.openxmlformats.org/drawingml/2006/main">
              <a:ext uri="{FF2B5EF4-FFF2-40B4-BE49-F238E27FC236}">
                <a16:creationId xmlns:a16="http://schemas.microsoft.com/office/drawing/2014/main" id="{D8360E3E-7B54-4036-AED5-67034384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234440"/>
            <a:ext cx="2615100" cy="3383400"/>
          </a:xfrm>
          <a:prstGeom xmlns:a="http://schemas.openxmlformats.org/drawingml/2006/main" prst="roundRect">
            <a:avLst>
              <a:gd name="adj" fmla="val 582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300" cmpd="sng">
            <a:solidFill>
              <a:srgbClr val="E2E8F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3" name="Google Shape;263;g3fb940bf621_237_335">
            <a:extLst xmlns:a="http://schemas.openxmlformats.org/drawingml/2006/main">
              <a:ext uri="{FF2B5EF4-FFF2-40B4-BE49-F238E27FC236}">
                <a16:creationId xmlns:a16="http://schemas.microsoft.com/office/drawing/2014/main" id="{F20D4E9E-2040-40CF-9A36-31DBBFC4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016" y="1353312"/>
            <a:ext cx="2310300" cy="148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DC3232"/>
                </a:solidFill>
                <a:latin typeface="Nunito Sans ExtraBold"/>
                <a:ea typeface="Nunito Sans ExtraBold"/>
                <a:cs typeface="Nunito Sans ExtraBold"/>
              </a:rPr>
              <a:t>Y AQUÍ VIENE LO BUENO</a:t>
            </a:r>
            <a:endParaRPr sz="1000" b="0" i="0" u="none" cap="none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No hay que arreglar 486 páginas: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hay que arreglar una plantilla. El error está en el molde, no en cada copia.</a:t>
            </a:r>
            <a:endParaRPr sz="850" b="0" i="0" u="none" cap="none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Un solo cambio corrige el sitio entero: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es de los pocos arreglos con ese nivel de retorno.</a:t>
            </a:r>
            <a:endParaRPr sz="850" b="0" i="0" u="none" cap="none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Por eso va primero: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cualquier mejora página por página se pierde si la plantilla sigue igual.</a:t>
            </a:r>
            <a:endParaRPr sz="850" b="0" i="0" u="none" cap="none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264" name="Google Shape;264;g3fb940bf621_237_335">
            <a:extLst xmlns:a="http://schemas.openxmlformats.org/drawingml/2006/main">
              <a:ext uri="{FF2B5EF4-FFF2-40B4-BE49-F238E27FC236}">
                <a16:creationId xmlns:a16="http://schemas.microsoft.com/office/drawing/2014/main" id="{FF40D941-9E23-42E1-A4F7-A6D51DEF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825" y="4835700"/>
            <a:ext cx="15306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rgbClr val="4B86FE"/>
                </a:solidFill>
                <a:latin typeface="IBM Plex Sans"/>
                <a:ea typeface="IBM Plex Sans"/>
                <a:cs typeface="IBM Plex Sans"/>
              </a:rPr>
              <a:t>t2ó México</a:t>
            </a:r>
            <a:endParaRPr sz="800" b="1" i="0" u="none" cap="none">
              <a:solidFill>
                <a:srgbClr val="4B86F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65" name="Google Shape;265;g3fb940bf621_237_335">
            <a:extLst xmlns:a="http://schemas.openxmlformats.org/drawingml/2006/main">
              <a:ext uri="{FF2B5EF4-FFF2-40B4-BE49-F238E27FC236}">
                <a16:creationId xmlns:a16="http://schemas.microsoft.com/office/drawing/2014/main" id="{D8E56A71-4338-48CB-A855-BB805991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732" y="4280100"/>
            <a:ext cx="787200" cy="787200"/>
          </a:xfrm>
          <a:prstGeom xmlns:a="http://schemas.openxmlformats.org/drawingml/2006/main" prst="blockArc">
            <a:avLst>
              <a:gd name="adj1" fmla="val 10800000"/>
              <a:gd name="adj2" fmla="val 16200346"/>
              <a:gd name="adj3" fmla="val 25523"/>
            </a:avLst>
          </a:prstGeom>
          <a:solidFill xmlns:a="http://schemas.openxmlformats.org/drawingml/2006/main">
            <a:srgbClr val="4B86F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oboto Mono Light"/>
              <a:ea typeface="Roboto Mono Light"/>
              <a:cs typeface="Roboto Mono Light"/>
            </a:endParaRPr>
          </a:p>
        </p:txBody>
      </p:sp>
      <p:sp>
        <p:nvSpPr>
          <p:cNvPr id="266" name="Google Shape;266;g3fb940bf621_237_335">
            <a:extLst xmlns:a="http://schemas.openxmlformats.org/drawingml/2006/main">
              <a:ext uri="{FF2B5EF4-FFF2-40B4-BE49-F238E27FC236}">
                <a16:creationId xmlns:a16="http://schemas.microsoft.com/office/drawing/2014/main" id="{23982F39-6BE2-4566-A3BF-EB1E55EE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172237" y="4280000"/>
            <a:ext cx="787200" cy="787200"/>
          </a:xfrm>
          <a:prstGeom xmlns:a="http://schemas.openxmlformats.org/drawingml/2006/main" prst="blockArc">
            <a:avLst>
              <a:gd name="adj1" fmla="val 10800000"/>
              <a:gd name="adj2" fmla="val 16200346"/>
              <a:gd name="adj3" fmla="val 25523"/>
            </a:avLst>
          </a:prstGeom>
          <a:solidFill xmlns:a="http://schemas.openxmlformats.org/drawingml/2006/main">
            <a:srgbClr val="4B86FE">
              <a:alpha val="49804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oboto Mono Light"/>
              <a:ea typeface="Roboto Mono Light"/>
              <a:cs typeface="Roboto Mono Light"/>
            </a:endParaRPr>
          </a:p>
        </p:txBody>
      </p:sp>
    </p:spTree>
    <p:extLst>
      <p:ext uri="{BB962C8B-B14F-4D97-AF65-F5344CB8AC3E}">
        <p14:creationId xmlns:p14="http://schemas.microsoft.com/office/powerpoint/2010/main" val="1660634118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1dcc42abf1de4248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1" name="Google Shape;271;p13">
            <a:extLst xmlns:a="http://schemas.openxmlformats.org/drawingml/2006/main">
              <a:ext uri="{FF2B5EF4-FFF2-40B4-BE49-F238E27FC236}">
                <a16:creationId xmlns:a16="http://schemas.microsoft.com/office/drawing/2014/main" id="{8ABDE127-2412-4E8A-861B-00BA19F6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8229600" cy="60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0" i="0" u="none" cap="none">
                <a:solidFill>
                  <a:srgbClr val="30AFB8"/>
                </a:solidFill>
                <a:latin typeface="Nunito Sans ExtraBold"/>
                <a:ea typeface="Nunito Sans ExtraBold"/>
                <a:cs typeface="Nunito Sans ExtraBold"/>
              </a:rPr>
              <a:t>ACCESIBILIDAD &amp; OPERABILIDAD</a:t>
            </a:r>
            <a:endParaRPr sz="850" b="0" i="0" u="none" cap="none">
              <a:solidFill>
                <a:srgbClr val="30AFB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</a:rPr>
              <a:t>Navegación con teclado: 39 pasos, foco invertido y ciego</a:t>
            </a:r>
            <a:endParaRPr sz="850" b="0" i="0" u="none" cap="none">
              <a:solidFill>
                <a:srgbClr val="30AFB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sz="950" b="0" i="0" u="none" cap="none">
                <a:solidFill>
                  <a:srgbClr val="64748B"/>
                </a:solidFill>
                <a:latin typeface="Nunito Sans SemiBold"/>
                <a:ea typeface="Nunito Sans SemiBold"/>
                <a:cs typeface="Nunito Sans SemiBold"/>
              </a:rPr>
              <a:t>Evaluación paso a paso de navegación sin ratón mediante emulación interactiva de la tecla Tab.</a:t>
            </a:r>
            <a:endParaRPr sz="850" b="0" i="0" u="none" cap="none">
              <a:solidFill>
                <a:srgbClr val="30AFB8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272" name="Google Shape;272;p13">
            <a:extLst xmlns:a="http://schemas.openxmlformats.org/drawingml/2006/main">
              <a:ext uri="{FF2B5EF4-FFF2-40B4-BE49-F238E27FC236}">
                <a16:creationId xmlns:a16="http://schemas.microsoft.com/office/drawing/2014/main" id="{19A40F23-DBB7-462C-9EE1-3048E83D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4440"/>
            <a:ext cx="2615100" cy="3383400"/>
          </a:xfrm>
          <a:prstGeom xmlns:a="http://schemas.openxmlformats.org/drawingml/2006/main" prst="roundRect">
            <a:avLst>
              <a:gd name="adj" fmla="val 582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300" cmpd="sng">
            <a:solidFill>
              <a:srgbClr val="E2E8F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3" name="Google Shape;273;p13">
            <a:extLst xmlns:a="http://schemas.openxmlformats.org/drawingml/2006/main">
              <a:ext uri="{FF2B5EF4-FFF2-40B4-BE49-F238E27FC236}">
                <a16:creationId xmlns:a16="http://schemas.microsoft.com/office/drawing/2014/main" id="{3969D634-3E75-4E26-B06D-95E4D961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3312"/>
            <a:ext cx="2310300" cy="174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D97706"/>
                </a:solidFill>
                <a:latin typeface="Nunito Sans ExtraBold"/>
                <a:ea typeface="Nunito Sans ExtraBold"/>
                <a:cs typeface="Nunito Sans ExtraBold"/>
              </a:rPr>
              <a:t>ORDEN INVERTIDO [UX-007]</a:t>
            </a:r>
            <a:endParaRPr sz="1000" b="0" i="0" u="none" cap="none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Foco arranca en formulario: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Al presionar Tab por primera vez, el cursor salta directo a #name en el Hero.</a:t>
            </a:r>
            <a:endParaRPr sz="850" b="0" i="0" u="none" cap="none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Menú al final de todo: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El menú principal y 'Saltar al contenido' solo reciben foco en los pasos 35 a 38, tras pasar por el footer.</a:t>
            </a:r>
            <a:endParaRPr sz="850" b="0" i="0" u="none" cap="none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Impacto: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Un usuario con discapacidad motriz no puede explorar las secciones de la página antes de completar datos.</a:t>
            </a:r>
            <a:endParaRPr sz="850" b="0" i="0" u="none" cap="none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274" name="Google Shape;274;p13">
            <a:extLst xmlns:a="http://schemas.openxmlformats.org/drawingml/2006/main">
              <a:ext uri="{FF2B5EF4-FFF2-40B4-BE49-F238E27FC236}">
                <a16:creationId xmlns:a16="http://schemas.microsoft.com/office/drawing/2014/main" id="{9CA9AB5C-F5A6-416A-BE41-DE2DE537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408" y="1234440"/>
            <a:ext cx="2615100" cy="3383400"/>
          </a:xfrm>
          <a:prstGeom xmlns:a="http://schemas.openxmlformats.org/drawingml/2006/main" prst="roundRect">
            <a:avLst>
              <a:gd name="adj" fmla="val 582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300" cmpd="sng">
            <a:solidFill>
              <a:srgbClr val="E2E8F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" name="Google Shape;275;p13">
            <a:extLst xmlns:a="http://schemas.openxmlformats.org/drawingml/2006/main">
              <a:ext uri="{FF2B5EF4-FFF2-40B4-BE49-F238E27FC236}">
                <a16:creationId xmlns:a16="http://schemas.microsoft.com/office/drawing/2014/main" id="{34B19F23-78E6-4F16-BF75-884197EB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808" y="1353312"/>
            <a:ext cx="2310300" cy="161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DC3232"/>
                </a:solidFill>
                <a:latin typeface="Nunito Sans ExtraBold"/>
                <a:ea typeface="Nunito Sans ExtraBold"/>
                <a:cs typeface="Nunito Sans ExtraBold"/>
              </a:rPr>
              <a:t>FOCO CIEGO [UX-008]</a:t>
            </a:r>
            <a:endParaRPr sz="1000" b="0" i="0" u="none" cap="none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36 de 39 sin foco visible: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Los campos de formulario y botones tienen CSS 'outline: none;'. No hay anillo visible de foco.</a:t>
            </a:r>
            <a:endParaRPr sz="850" b="0" i="0" u="none" cap="none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Pérdida de ubicación: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El usuario no sabe en qué campo o enlace se encuentra activo al presionar Tab.</a:t>
            </a:r>
            <a:endParaRPr sz="850" b="0" i="0" u="none" cap="none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Solución: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Definir regla global :focus-visible con anillo de 2px de alto contraste (#00386e).</a:t>
            </a:r>
            <a:endParaRPr sz="850" b="0" i="0" u="none" cap="none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276" name="Google Shape;276;p13">
            <a:extLst xmlns:a="http://schemas.openxmlformats.org/drawingml/2006/main">
              <a:ext uri="{FF2B5EF4-FFF2-40B4-BE49-F238E27FC236}">
                <a16:creationId xmlns:a16="http://schemas.microsoft.com/office/drawing/2014/main" id="{452AB494-E4C8-40F1-9BFC-4503F1B5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234440"/>
            <a:ext cx="2615100" cy="3383400"/>
          </a:xfrm>
          <a:prstGeom xmlns:a="http://schemas.openxmlformats.org/drawingml/2006/main" prst="roundRect">
            <a:avLst>
              <a:gd name="adj" fmla="val 582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300" cmpd="sng">
            <a:solidFill>
              <a:srgbClr val="E2E8F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7" name="Google Shape;277;p13">
            <a:extLst xmlns:a="http://schemas.openxmlformats.org/drawingml/2006/main">
              <a:ext uri="{FF2B5EF4-FFF2-40B4-BE49-F238E27FC236}">
                <a16:creationId xmlns:a16="http://schemas.microsoft.com/office/drawing/2014/main" id="{A70E453A-E21D-4831-9208-CCE0129A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4016" y="1353312"/>
            <a:ext cx="2310300" cy="161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DC3232"/>
                </a:solidFill>
                <a:latin typeface="Nunito Sans ExtraBold"/>
                <a:ea typeface="Nunito Sans ExtraBold"/>
                <a:cs typeface="Nunito Sans ExtraBold"/>
              </a:rPr>
              <a:t>BARRERAS CRÍTICAS [UX-003/13]</a:t>
            </a:r>
            <a:endParaRPr sz="1000" b="0" i="0" u="none" cap="none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Checkbox inalcanzable: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Por tener display:none, el consentimiento de WhatsApp es omitido por el teclado.</a:t>
            </a:r>
            <a:endParaRPr sz="850" b="0" i="0" u="none" cap="none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Trampa en iframes (UX-013):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Pasos 27 a 34 quedan atrapados en 8 iframes técnicos de mapas y Stripe sin título.</a:t>
            </a:r>
            <a:endParaRPr sz="850" b="0" i="0" u="none" cap="none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Solución: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Poner tabindex='-1' a iframes invisibles y dar accesibilidad nativa al checkbox.</a:t>
            </a:r>
            <a:endParaRPr sz="850" b="0" i="0" u="none" cap="none">
              <a:solidFill>
                <a:srgbClr val="DC3232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278" name="Google Shape;278;p13">
            <a:extLst xmlns:a="http://schemas.openxmlformats.org/drawingml/2006/main">
              <a:ext uri="{FF2B5EF4-FFF2-40B4-BE49-F238E27FC236}">
                <a16:creationId xmlns:a16="http://schemas.microsoft.com/office/drawing/2014/main" id="{B0A0E27A-4F8D-42A8-9FE8-2AA1159A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825" y="4835700"/>
            <a:ext cx="15306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rgbClr val="4B86FE"/>
                </a:solidFill>
                <a:latin typeface="IBM Plex Sans"/>
                <a:ea typeface="IBM Plex Sans"/>
                <a:cs typeface="IBM Plex Sans"/>
              </a:rPr>
              <a:t>t2ó México</a:t>
            </a:r>
            <a:endParaRPr sz="800" b="1" i="0" u="none" cap="none">
              <a:solidFill>
                <a:srgbClr val="4B86F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79" name="Google Shape;279;p13">
            <a:extLst xmlns:a="http://schemas.openxmlformats.org/drawingml/2006/main">
              <a:ext uri="{FF2B5EF4-FFF2-40B4-BE49-F238E27FC236}">
                <a16:creationId xmlns:a16="http://schemas.microsoft.com/office/drawing/2014/main" id="{E35E7C1F-B6CD-4738-8331-FDDF358A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732" y="4280100"/>
            <a:ext cx="787200" cy="787200"/>
          </a:xfrm>
          <a:prstGeom xmlns:a="http://schemas.openxmlformats.org/drawingml/2006/main" prst="blockArc">
            <a:avLst>
              <a:gd name="adj1" fmla="val 10800000"/>
              <a:gd name="adj2" fmla="val 16200346"/>
              <a:gd name="adj3" fmla="val 25523"/>
            </a:avLst>
          </a:prstGeom>
          <a:solidFill xmlns:a="http://schemas.openxmlformats.org/drawingml/2006/main">
            <a:srgbClr val="4B86F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oboto Mono Light"/>
              <a:ea typeface="Roboto Mono Light"/>
              <a:cs typeface="Roboto Mono Light"/>
            </a:endParaRPr>
          </a:p>
        </p:txBody>
      </p:sp>
      <p:sp>
        <p:nvSpPr>
          <p:cNvPr id="280" name="Google Shape;280;p13">
            <a:extLst xmlns:a="http://schemas.openxmlformats.org/drawingml/2006/main">
              <a:ext uri="{FF2B5EF4-FFF2-40B4-BE49-F238E27FC236}">
                <a16:creationId xmlns:a16="http://schemas.microsoft.com/office/drawing/2014/main" id="{7F7580FC-62B4-4697-8085-D944C66B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172237" y="4280000"/>
            <a:ext cx="787200" cy="787200"/>
          </a:xfrm>
          <a:prstGeom xmlns:a="http://schemas.openxmlformats.org/drawingml/2006/main" prst="blockArc">
            <a:avLst>
              <a:gd name="adj1" fmla="val 10800000"/>
              <a:gd name="adj2" fmla="val 16200346"/>
              <a:gd name="adj3" fmla="val 25523"/>
            </a:avLst>
          </a:prstGeom>
          <a:solidFill xmlns:a="http://schemas.openxmlformats.org/drawingml/2006/main">
            <a:srgbClr val="4B86FE">
              <a:alpha val="49804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oboto Mono Light"/>
              <a:ea typeface="Roboto Mono Light"/>
              <a:cs typeface="Roboto Mono Light"/>
            </a:endParaRPr>
          </a:p>
        </p:txBody>
      </p:sp>
    </p:spTree>
    <p:extLst>
      <p:ext uri="{BB962C8B-B14F-4D97-AF65-F5344CB8AC3E}">
        <p14:creationId xmlns:p14="http://schemas.microsoft.com/office/powerpoint/2010/main" val="1763097010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76629de669a4ae3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5" name="Google Shape;285;p14">
            <a:extLst xmlns:a="http://schemas.openxmlformats.org/drawingml/2006/main">
              <a:ext uri="{FF2B5EF4-FFF2-40B4-BE49-F238E27FC236}">
                <a16:creationId xmlns:a16="http://schemas.microsoft.com/office/drawing/2014/main" id="{3EA5CD79-5023-46C6-A0B2-EBBADE2F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8229600" cy="60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0" i="0" u="none" cap="none">
                <a:solidFill>
                  <a:srgbClr val="30AFB8"/>
                </a:solidFill>
                <a:latin typeface="Nunito Sans ExtraBold"/>
                <a:ea typeface="Nunito Sans ExtraBold"/>
                <a:cs typeface="Nunito Sans ExtraBold"/>
              </a:rPr>
              <a:t>EXPERIENCIA RESPONSIVE</a:t>
            </a:r>
            <a:endParaRPr sz="850" b="0" i="0" u="none" cap="none">
              <a:solidFill>
                <a:srgbClr val="30AFB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sz="1700" b="0" i="0" u="none" cap="none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</a:rPr>
              <a:t>Móvil (390×844): Fortalezas observadas y áreas de ajuste</a:t>
            </a:r>
            <a:endParaRPr sz="850" b="0" i="0" u="none" cap="none">
              <a:solidFill>
                <a:srgbClr val="30AFB8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sz="950" b="0" i="0" u="none" cap="none">
                <a:solidFill>
                  <a:srgbClr val="64748B"/>
                </a:solidFill>
                <a:latin typeface="Nunito Sans SemiBold"/>
                <a:ea typeface="Nunito Sans SemiBold"/>
                <a:cs typeface="Nunito Sans SemiBold"/>
              </a:rPr>
              <a:t>Rigor metodológico: documentamos lo que funciona impecable junto a las fricciones detectadas.</a:t>
            </a:r>
            <a:endParaRPr sz="850" b="0" i="0" u="none" cap="none">
              <a:solidFill>
                <a:srgbClr val="30AFB8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286" name="Google Shape;286;p14">
            <a:extLst xmlns:a="http://schemas.openxmlformats.org/drawingml/2006/main">
              <a:ext uri="{FF2B5EF4-FFF2-40B4-BE49-F238E27FC236}">
                <a16:creationId xmlns:a16="http://schemas.microsoft.com/office/drawing/2014/main" id="{744E5633-0781-4FA4-92C3-99BB23D3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3009900" cy="35244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300" cmpd="sng">
            <a:solidFill>
              <a:srgbClr val="E2E8F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7" name="Google Shape;287;p14">
            <a:extLst xmlns:a="http://schemas.openxmlformats.org/drawingml/2006/main">
              <a:ext uri="{FF2B5EF4-FFF2-40B4-BE49-F238E27FC236}">
                <a16:creationId xmlns:a16="http://schemas.microsoft.com/office/drawing/2014/main" id="{130EED4A-2504-4886-9276-06B4FAFC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2705100" cy="199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16A34A"/>
                </a:solidFill>
                <a:latin typeface="Nunito Sans ExtraBold"/>
                <a:ea typeface="Nunito Sans ExtraBold"/>
                <a:cs typeface="Nunito Sans ExtraBold"/>
              </a:rPr>
              <a:t>LO QUE FUNCIONA BIEN</a:t>
            </a:r>
            <a:endParaRPr sz="1000" b="0" i="0" u="none" cap="none">
              <a:solidFill>
                <a:srgbClr val="16A34A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✔ Cero scroll horizontal: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scrollWidth: 390px == windowWidth: 390px. El viewport no tiene desbordamiento lateral.</a:t>
            </a:r>
            <a:endParaRPr sz="850" b="0" i="0" u="none" cap="none">
              <a:solidFill>
                <a:srgbClr val="16A34A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✔ Cero popups invasivos: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No existen modales bloqueantes, overlays engañosos ni ventanas emergentes al cargar.</a:t>
            </a:r>
            <a:endParaRPr sz="850" b="0" i="0" u="none" cap="none">
              <a:solidFill>
                <a:srgbClr val="16A34A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✔ Carga inicial rápida: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First Contentful Paint (FCP) de 1.8s y TTFB de 1.1s en condiciones estándar.</a:t>
            </a:r>
            <a:endParaRPr sz="850" b="0" i="0" u="none" cap="none">
              <a:solidFill>
                <a:srgbClr val="16A34A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✔ Contraste en CTA principal: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Botón '¡Comenzar!' (#ffffff sobre #00386e) con ratio 11.73:1 (Supera WCAG AAA).</a:t>
            </a:r>
            <a:endParaRPr sz="850" b="0" i="0" u="none" cap="none">
              <a:solidFill>
                <a:srgbClr val="16A34A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288" name="Google Shape;288;p14">
            <a:extLst xmlns:a="http://schemas.openxmlformats.org/drawingml/2006/main">
              <a:ext uri="{FF2B5EF4-FFF2-40B4-BE49-F238E27FC236}">
                <a16:creationId xmlns:a16="http://schemas.microsoft.com/office/drawing/2014/main" id="{8302B8A3-CF75-432D-BA43-A6E87F23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123950"/>
            <a:ext cx="3009900" cy="35244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300" cmpd="sng">
            <a:solidFill>
              <a:srgbClr val="E2E8F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9" name="Google Shape;289;p14">
            <a:extLst xmlns:a="http://schemas.openxmlformats.org/drawingml/2006/main">
              <a:ext uri="{FF2B5EF4-FFF2-40B4-BE49-F238E27FC236}">
                <a16:creationId xmlns:a16="http://schemas.microsoft.com/office/drawing/2014/main" id="{07AD6924-1BAB-4E89-A2D0-080B4E5F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276350"/>
            <a:ext cx="2705100" cy="167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sz="1000" b="0" i="0" u="none" cap="none">
                <a:solidFill>
                  <a:srgbClr val="D97706"/>
                </a:solidFill>
                <a:latin typeface="Nunito Sans ExtraBold"/>
                <a:ea typeface="Nunito Sans ExtraBold"/>
                <a:cs typeface="Nunito Sans ExtraBold"/>
              </a:rPr>
              <a:t>ÁREAS DE AJUSTE MÓVIL</a:t>
            </a:r>
            <a:endParaRPr sz="1000" b="0" i="0" u="none" cap="none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▲ 11 Touch targets &lt; 24px (UX-009):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Enlaces legales y redes en footer tienen solo 20-22 px de alto (falla WCAG 2.2 Criterio 2.5.8).</a:t>
            </a:r>
            <a:endParaRPr sz="850" b="0" i="0" u="none" cap="none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▲ Scroll excesivo en acreedores: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2,931 px de scroll vertical en el paso 2 con 43 casillas continuas sin agrupar ni colapsar.</a:t>
            </a:r>
            <a:endParaRPr sz="850" b="0" i="0" u="none" cap="none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sz="850" b="1" i="0" u="none" cap="none">
                <a:solidFill>
                  <a:srgbClr val="0F172A"/>
                </a:solidFill>
                <a:latin typeface="Nunito Sans"/>
                <a:ea typeface="Nunito Sans"/>
                <a:cs typeface="Nunito Sans"/>
              </a:rPr>
              <a:t>▲ WhatsApp inaccesible en scroll: </a:t>
            </a:r>
            <a:r>
              <a:rPr sz="850" b="0" i="0" u="none" cap="none">
                <a:solidFill>
                  <a:srgbClr val="475569"/>
                </a:solidFill>
                <a:latin typeface="Nunito Sans"/>
                <a:ea typeface="Nunito Sans"/>
                <a:cs typeface="Nunito Sans"/>
              </a:rPr>
              <a:t>No existe botón flotante o persistente de WhatsApp en móvil (UX-132); queda a 5.4 pantallas de scroll.</a:t>
            </a:r>
            <a:endParaRPr sz="850" b="0" i="0" u="none" cap="none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</a:endParaRPr>
          </a:p>
        </p:txBody>
      </p:sp>
      <p:sp>
        <p:nvSpPr>
          <p:cNvPr id="290" name="Google Shape;290;p14">
            <a:extLst xmlns:a="http://schemas.openxmlformats.org/drawingml/2006/main">
              <a:ext uri="{FF2B5EF4-FFF2-40B4-BE49-F238E27FC236}">
                <a16:creationId xmlns:a16="http://schemas.microsoft.com/office/drawing/2014/main" id="{1C040A92-B423-47EF-8C87-6AD7994E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8825" y="4835700"/>
            <a:ext cx="15306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1" i="0" u="none" cap="none">
                <a:solidFill>
                  <a:srgbClr val="4B86FE"/>
                </a:solidFill>
                <a:latin typeface="IBM Plex Sans"/>
                <a:ea typeface="IBM Plex Sans"/>
                <a:cs typeface="IBM Plex Sans"/>
              </a:rPr>
              <a:t>t2ó México</a:t>
            </a:r>
            <a:endParaRPr sz="800" b="1" i="0" u="none" cap="none">
              <a:solidFill>
                <a:srgbClr val="4B86F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91" name="Google Shape;291;p14">
            <a:extLst xmlns:a="http://schemas.openxmlformats.org/drawingml/2006/main">
              <a:ext uri="{FF2B5EF4-FFF2-40B4-BE49-F238E27FC236}">
                <a16:creationId xmlns:a16="http://schemas.microsoft.com/office/drawing/2014/main" id="{61042730-6AC1-4C15-8658-FB7A8F05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732" y="4280100"/>
            <a:ext cx="787200" cy="787200"/>
          </a:xfrm>
          <a:prstGeom xmlns:a="http://schemas.openxmlformats.org/drawingml/2006/main" prst="blockArc">
            <a:avLst>
              <a:gd name="adj1" fmla="val 10800000"/>
              <a:gd name="adj2" fmla="val 16200346"/>
              <a:gd name="adj3" fmla="val 25523"/>
            </a:avLst>
          </a:prstGeom>
          <a:solidFill xmlns:a="http://schemas.openxmlformats.org/drawingml/2006/main">
            <a:srgbClr val="4B86F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oboto Mono Light"/>
              <a:ea typeface="Roboto Mono Light"/>
              <a:cs typeface="Roboto Mono Light"/>
            </a:endParaRPr>
          </a:p>
        </p:txBody>
      </p:sp>
      <p:sp>
        <p:nvSpPr>
          <p:cNvPr id="292" name="Google Shape;292;p14">
            <a:extLst xmlns:a="http://schemas.openxmlformats.org/drawingml/2006/main">
              <a:ext uri="{FF2B5EF4-FFF2-40B4-BE49-F238E27FC236}">
                <a16:creationId xmlns:a16="http://schemas.microsoft.com/office/drawing/2014/main" id="{B9CABEA1-015A-4668-A644-EBB143F8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172237" y="4280000"/>
            <a:ext cx="787200" cy="787200"/>
          </a:xfrm>
          <a:prstGeom xmlns:a="http://schemas.openxmlformats.org/drawingml/2006/main" prst="blockArc">
            <a:avLst>
              <a:gd name="adj1" fmla="val 10800000"/>
              <a:gd name="adj2" fmla="val 16200346"/>
              <a:gd name="adj3" fmla="val 25523"/>
            </a:avLst>
          </a:prstGeom>
          <a:solidFill xmlns:a="http://schemas.openxmlformats.org/drawingml/2006/main">
            <a:srgbClr val="4B86FE">
              <a:alpha val="49804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000000"/>
              </a:solidFill>
              <a:latin typeface="Roboto Mono Light"/>
              <a:ea typeface="Roboto Mono Light"/>
              <a:cs typeface="Roboto Mono Light"/>
            </a:endParaRPr>
          </a:p>
        </p:txBody>
      </p:sp>
    </p:spTree>
    <p:extLst>
      <p:ext uri="{BB962C8B-B14F-4D97-AF65-F5344CB8AC3E}">
        <p14:creationId xmlns:p14="http://schemas.microsoft.com/office/powerpoint/2010/main" val="48537742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2026-09-22T23:31:52.7500000Z</dcterms:created>
  <dcterms:modified xsi:type="dcterms:W3CDTF">2026-09-22T23:31:52.7500000Z</dcterms:modified>
</coreProperties>
</file>