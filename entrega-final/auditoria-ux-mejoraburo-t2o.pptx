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Nunito Sans SemiBold"/>
      <p:regular r:id="rId31"/>
      <p:bold r:id="rId32"/>
      <p:italic r:id="rId33"/>
      <p:boldItalic r:id="rId34"/>
    </p:embeddedFont>
    <p:embeddedFont>
      <p:font typeface="Nunito Sans ExtraBold"/>
      <p:bold r:id="rId35"/>
      <p:boldItalic r:id="rId36"/>
    </p:embeddedFont>
    <p:embeddedFont>
      <p:font typeface="Nuni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g8AAN0D7b6etNxMqEpRf687le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B391D5-48B1-473C-8D60-86D48D39CEB4}">
  <a:tblStyle styleId="{CBB391D5-48B1-473C-8D60-86D48D39CE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SansSemiBol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SansSemiBold-italic.fntdata"/><Relationship Id="rId10" Type="http://schemas.openxmlformats.org/officeDocument/2006/relationships/slide" Target="slides/slide4.xml"/><Relationship Id="rId32" Type="http://schemas.openxmlformats.org/officeDocument/2006/relationships/font" Target="fonts/NunitoSansSemiBold-bold.fntdata"/><Relationship Id="rId13" Type="http://schemas.openxmlformats.org/officeDocument/2006/relationships/slide" Target="slides/slide7.xml"/><Relationship Id="rId35" Type="http://schemas.openxmlformats.org/officeDocument/2006/relationships/font" Target="fonts/NunitoSansExtraBold-bold.fntdata"/><Relationship Id="rId12" Type="http://schemas.openxmlformats.org/officeDocument/2006/relationships/slide" Target="slides/slide6.xml"/><Relationship Id="rId34" Type="http://schemas.openxmlformats.org/officeDocument/2006/relationships/font" Target="fonts/NunitoSans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NunitoSans-regular.fntdata"/><Relationship Id="rId14" Type="http://schemas.openxmlformats.org/officeDocument/2006/relationships/slide" Target="slides/slide8.xml"/><Relationship Id="rId36" Type="http://schemas.openxmlformats.org/officeDocument/2006/relationships/font" Target="fonts/NunitoSansExtra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NunitoSans-italic.fntdata"/><Relationship Id="rId16" Type="http://schemas.openxmlformats.org/officeDocument/2006/relationships/slide" Target="slides/slide10.xml"/><Relationship Id="rId38" Type="http://schemas.openxmlformats.org/officeDocument/2006/relationships/font" Target="fonts/Nunito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940bf621_2_4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b940bf621_2_4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940bf621_2_4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b940bf621_2_4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940bf621_2_1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fb940bf621_2_17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940bf621_2_4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b940bf621_2_42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b940bf621_2_4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fb940bf621_2_4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940bf621_2_4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b940bf621_2_4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940bf621_2_4277"/>
          <p:cNvSpPr txBox="1"/>
          <p:nvPr/>
        </p:nvSpPr>
        <p:spPr>
          <a:xfrm>
            <a:off x="439800" y="450475"/>
            <a:ext cx="5665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Propuesta</a:t>
            </a:r>
            <a:endParaRPr sz="10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MKT DIGITAL / UX / CRO</a:t>
            </a:r>
            <a:endParaRPr b="1" sz="36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Septiembre 2026</a:t>
            </a:r>
            <a:endParaRPr sz="12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85" name="Google Shape;85;g3fb940bf621_2_4277" title="Logo t2ó neg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1875" y="1564041"/>
            <a:ext cx="383500" cy="1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3fb940bf621_2_4277" title="Mejora_buro-white-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150" y="1527772"/>
            <a:ext cx="439050" cy="318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fb940bf621_2_4277"/>
          <p:cNvSpPr/>
          <p:nvPr/>
        </p:nvSpPr>
        <p:spPr>
          <a:xfrm flipH="1">
            <a:off x="-74" y="2909225"/>
            <a:ext cx="9173100" cy="2242800"/>
          </a:xfrm>
          <a:prstGeom prst="rtTriangle">
            <a:avLst/>
          </a:prstGeom>
          <a:solidFill>
            <a:srgbClr val="6A3EE8"/>
          </a:solidFill>
          <a:ln>
            <a:noFill/>
          </a:ln>
        </p:spPr>
        <p:txBody>
          <a:bodyPr anchorCtr="0" anchor="ctr" bIns="111150" lIns="111150" spcFirstLastPara="1" rIns="111150" wrap="square" tIns="11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2"/>
          </a:p>
        </p:txBody>
      </p:sp>
      <p:sp>
        <p:nvSpPr>
          <p:cNvPr id="88" name="Google Shape;88;g3fb940bf621_2_4277"/>
          <p:cNvSpPr/>
          <p:nvPr/>
        </p:nvSpPr>
        <p:spPr>
          <a:xfrm>
            <a:off x="0" y="2571750"/>
            <a:ext cx="6183300" cy="2571600"/>
          </a:xfrm>
          <a:prstGeom prst="rtTriangle">
            <a:avLst/>
          </a:prstGeom>
          <a:solidFill>
            <a:srgbClr val="8154F0"/>
          </a:solidFill>
          <a:ln>
            <a:noFill/>
          </a:ln>
        </p:spPr>
        <p:txBody>
          <a:bodyPr anchorCtr="0" anchor="ctr" bIns="111150" lIns="111150" spcFirstLastPara="1" rIns="111150" wrap="square" tIns="111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A3EE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b940bf621_2_4392"/>
          <p:cNvSpPr txBox="1"/>
          <p:nvPr/>
        </p:nvSpPr>
        <p:spPr>
          <a:xfrm>
            <a:off x="731520" y="822960"/>
            <a:ext cx="365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0AFB8"/>
                </a:solidFill>
                <a:latin typeface="Arial"/>
                <a:ea typeface="Arial"/>
                <a:cs typeface="Arial"/>
                <a:sym typeface="Arial"/>
              </a:rPr>
              <a:t>t2ó México  ·  Digital Growth &amp; Tech</a:t>
            </a:r>
            <a:endParaRPr/>
          </a:p>
        </p:txBody>
      </p:sp>
      <p:sp>
        <p:nvSpPr>
          <p:cNvPr id="94" name="Google Shape;94;g3fb940bf621_2_4392"/>
          <p:cNvSpPr txBox="1"/>
          <p:nvPr/>
        </p:nvSpPr>
        <p:spPr>
          <a:xfrm>
            <a:off x="731520" y="1371600"/>
            <a:ext cx="76809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AUDITORÍA UX &amp; CRO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2BCE2"/>
                </a:solidFill>
                <a:latin typeface="Arial"/>
                <a:ea typeface="Arial"/>
                <a:cs typeface="Arial"/>
                <a:sym typeface="Arial"/>
              </a:rPr>
              <a:t>Evaluación Integral de Conversión, Accesibilidad y Privacidad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Sitio: mejoraburo.com.mx  ·  Razón social: Baui Solutions S.A. de C.V.</a:t>
            </a:r>
            <a:endParaRPr/>
          </a:p>
        </p:txBody>
      </p:sp>
      <p:sp>
        <p:nvSpPr>
          <p:cNvPr id="95" name="Google Shape;95;g3fb940bf621_2_4392"/>
          <p:cNvSpPr txBox="1"/>
          <p:nvPr/>
        </p:nvSpPr>
        <p:spPr>
          <a:xfrm>
            <a:off x="457200" y="4864608"/>
            <a:ext cx="82296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t2ó × Mejora Buró — Confidencial, uso interno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940bf621_2_1792"/>
          <p:cNvSpPr txBox="1"/>
          <p:nvPr/>
        </p:nvSpPr>
        <p:spPr>
          <a:xfrm>
            <a:off x="457200" y="247650"/>
            <a:ext cx="8229600" cy="47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AUDITORÍA UX</a:t>
            </a:r>
            <a:endParaRPr b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Objetivo de la intervención</a:t>
            </a:r>
            <a:endParaRPr b="0" sz="2000">
              <a:solidFill>
                <a:srgbClr val="0F172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01" name="Google Shape;101;g3fb940bf621_2_1792"/>
          <p:cNvSpPr/>
          <p:nvPr/>
        </p:nvSpPr>
        <p:spPr>
          <a:xfrm>
            <a:off x="457200" y="933450"/>
            <a:ext cx="8229600" cy="1571700"/>
          </a:xfrm>
          <a:prstGeom prst="roundRect">
            <a:avLst>
              <a:gd fmla="val 727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b940bf621_2_1792"/>
          <p:cNvSpPr txBox="1"/>
          <p:nvPr/>
        </p:nvSpPr>
        <p:spPr>
          <a:xfrm>
            <a:off x="457200" y="933450"/>
            <a:ext cx="8229600" cy="144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228600" spcFirstLastPara="1" rIns="22860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Realizar un diagnóstico exhaustivo e interdisciplinario sobre el sitio </a:t>
            </a:r>
            <a:r>
              <a:rPr b="1" lang="en-US" sz="11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mejoraburo.com.mx</a:t>
            </a:r>
            <a:r>
              <a:rPr b="0" lang="en-US" sz="11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 que nos permita </a:t>
            </a:r>
            <a:r>
              <a:rPr b="1" lang="en-US" sz="11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identificar fricciones de conversión, vulnerabilidades de cumplimiento y riesgos de confianza en el embudo de captación de prospectos</a:t>
            </a:r>
            <a:r>
              <a:rPr b="0" lang="en-US" sz="11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. A partir de una lectura cruzada entre </a:t>
            </a:r>
            <a:r>
              <a:rPr b="1" lang="en-US" sz="1150">
                <a:solidFill>
                  <a:srgbClr val="059669"/>
                </a:solidFill>
                <a:latin typeface="Nunito Sans"/>
                <a:ea typeface="Nunito Sans"/>
                <a:cs typeface="Nunito Sans"/>
                <a:sym typeface="Nunito Sans"/>
              </a:rPr>
              <a:t>diseño de producto, accesibilidad WCAG 2.2, protección de datos personales y rendimiento percibido</a:t>
            </a:r>
            <a:r>
              <a:rPr b="0" lang="en-US" sz="11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, buscamos destrabar las barreras críticas de captación, salvaguardar la legitimidad de la marca y trazar un roadmap de optimización con </a:t>
            </a:r>
            <a:r>
              <a:rPr b="1" lang="en-US" sz="1150">
                <a:solidFill>
                  <a:srgbClr val="6A3EE8"/>
                </a:solidFill>
                <a:latin typeface="Nunito Sans"/>
                <a:ea typeface="Nunito Sans"/>
                <a:cs typeface="Nunito Sans"/>
                <a:sym typeface="Nunito Sans"/>
              </a:rPr>
              <a:t>mayor tasa de conversión, menor exposición regulatoria y máxima transparencia hacia el usuario</a:t>
            </a:r>
            <a:r>
              <a:rPr b="0" lang="en-US" sz="11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0" sz="1150">
              <a:solidFill>
                <a:srgbClr val="33415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3" name="Google Shape;103;g3fb940bf621_2_1792"/>
          <p:cNvSpPr txBox="1"/>
          <p:nvPr/>
        </p:nvSpPr>
        <p:spPr>
          <a:xfrm>
            <a:off x="457200" y="2686050"/>
            <a:ext cx="82296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FOCOS ESTRATÉGICOS DEL DIAGNÓSTICO</a:t>
            </a:r>
            <a:endParaRPr b="0" sz="900">
              <a:solidFill>
                <a:srgbClr val="64748B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grpSp>
        <p:nvGrpSpPr>
          <p:cNvPr id="104" name="Google Shape;104;g3fb940bf621_2_1792"/>
          <p:cNvGrpSpPr/>
          <p:nvPr/>
        </p:nvGrpSpPr>
        <p:grpSpPr>
          <a:xfrm>
            <a:off x="457200" y="2952750"/>
            <a:ext cx="2590800" cy="1666800"/>
            <a:chOff x="457200" y="2952750"/>
            <a:chExt cx="2590800" cy="1666800"/>
          </a:xfrm>
        </p:grpSpPr>
        <p:sp>
          <p:nvSpPr>
            <p:cNvPr id="105" name="Google Shape;105;g3fb940bf621_2_1792"/>
            <p:cNvSpPr/>
            <p:nvPr/>
          </p:nvSpPr>
          <p:spPr>
            <a:xfrm>
              <a:off x="457200" y="2952750"/>
              <a:ext cx="2590800" cy="16668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b940bf621_2_1792"/>
            <p:cNvSpPr/>
            <p:nvPr/>
          </p:nvSpPr>
          <p:spPr>
            <a:xfrm>
              <a:off x="457200" y="2952750"/>
              <a:ext cx="2590800" cy="47700"/>
            </a:xfrm>
            <a:prstGeom prst="roundRect">
              <a:avLst>
                <a:gd fmla="val 4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g3fb940bf621_2_1792"/>
            <p:cNvSpPr txBox="1"/>
            <p:nvPr/>
          </p:nvSpPr>
          <p:spPr>
            <a:xfrm>
              <a:off x="457200" y="2952750"/>
              <a:ext cx="25908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284C7"/>
                  </a:solidFill>
                  <a:latin typeface="Nunito Sans ExtraBold"/>
                  <a:ea typeface="Nunito Sans ExtraBold"/>
                  <a:cs typeface="Nunito Sans ExtraBold"/>
                  <a:sym typeface="Nunito Sans ExtraBold"/>
                </a:rPr>
                <a:t>1. Conversión (CRO)</a:t>
              </a:r>
              <a:endParaRPr b="0" sz="11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E29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Detección de puntos de fuga</a:t>
              </a:r>
              <a:endParaRPr b="1" sz="950">
                <a:solidFill>
                  <a:srgbClr val="1E293B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75569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Análisis en el flujo de 2 pasos y fricción en captura de datos.</a:t>
              </a:r>
              <a:endParaRPr b="0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108" name="Google Shape;108;g3fb940bf621_2_1792"/>
          <p:cNvGrpSpPr/>
          <p:nvPr/>
        </p:nvGrpSpPr>
        <p:grpSpPr>
          <a:xfrm>
            <a:off x="3276600" y="2952750"/>
            <a:ext cx="2590800" cy="1666800"/>
            <a:chOff x="3276600" y="2952750"/>
            <a:chExt cx="2590800" cy="1666800"/>
          </a:xfrm>
        </p:grpSpPr>
        <p:sp>
          <p:nvSpPr>
            <p:cNvPr id="109" name="Google Shape;109;g3fb940bf621_2_1792"/>
            <p:cNvSpPr/>
            <p:nvPr/>
          </p:nvSpPr>
          <p:spPr>
            <a:xfrm>
              <a:off x="3276600" y="2952750"/>
              <a:ext cx="2590800" cy="16668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fb940bf621_2_1792"/>
            <p:cNvSpPr/>
            <p:nvPr/>
          </p:nvSpPr>
          <p:spPr>
            <a:xfrm>
              <a:off x="3276600" y="2952750"/>
              <a:ext cx="2590800" cy="47700"/>
            </a:xfrm>
            <a:prstGeom prst="roundRect">
              <a:avLst>
                <a:gd fmla="val 40000" name="adj"/>
              </a:avLst>
            </a:prstGeom>
            <a:solidFill>
              <a:srgbClr val="6A3E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fb940bf621_2_1792"/>
            <p:cNvSpPr txBox="1"/>
            <p:nvPr/>
          </p:nvSpPr>
          <p:spPr>
            <a:xfrm>
              <a:off x="3276600" y="2952750"/>
              <a:ext cx="25908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A3EE8"/>
                  </a:solidFill>
                  <a:latin typeface="Nunito Sans ExtraBold"/>
                  <a:ea typeface="Nunito Sans ExtraBold"/>
                  <a:cs typeface="Nunito Sans ExtraBold"/>
                  <a:sym typeface="Nunito Sans ExtraBold"/>
                </a:rPr>
                <a:t>2. Gobernanza &amp; Legal</a:t>
              </a:r>
              <a:endParaRPr b="0" sz="11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E29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Cumplimiento &amp; Privacidad</a:t>
              </a:r>
              <a:endParaRPr b="1" sz="950">
                <a:solidFill>
                  <a:srgbClr val="1E293B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75569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Auditoría de consentimiento LFPDPPP, manejo de PII en frontend y términos.</a:t>
              </a:r>
              <a:endParaRPr b="0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grpSp>
        <p:nvGrpSpPr>
          <p:cNvPr id="112" name="Google Shape;112;g3fb940bf621_2_1792"/>
          <p:cNvGrpSpPr/>
          <p:nvPr/>
        </p:nvGrpSpPr>
        <p:grpSpPr>
          <a:xfrm>
            <a:off x="6096000" y="2952750"/>
            <a:ext cx="2590800" cy="1666800"/>
            <a:chOff x="6096000" y="2952750"/>
            <a:chExt cx="2590800" cy="1666800"/>
          </a:xfrm>
        </p:grpSpPr>
        <p:sp>
          <p:nvSpPr>
            <p:cNvPr id="113" name="Google Shape;113;g3fb940bf621_2_1792"/>
            <p:cNvSpPr/>
            <p:nvPr/>
          </p:nvSpPr>
          <p:spPr>
            <a:xfrm>
              <a:off x="6096000" y="2952750"/>
              <a:ext cx="2590800" cy="16668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fb940bf621_2_1792"/>
            <p:cNvSpPr/>
            <p:nvPr/>
          </p:nvSpPr>
          <p:spPr>
            <a:xfrm>
              <a:off x="6096000" y="2952750"/>
              <a:ext cx="2590800" cy="47700"/>
            </a:xfrm>
            <a:prstGeom prst="roundRect">
              <a:avLst>
                <a:gd fmla="val 40000" name="adj"/>
              </a:avLst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b940bf621_2_1792"/>
            <p:cNvSpPr txBox="1"/>
            <p:nvPr/>
          </p:nvSpPr>
          <p:spPr>
            <a:xfrm>
              <a:off x="6096000" y="2952750"/>
              <a:ext cx="2590800" cy="16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52400" spcFirstLastPara="1" rIns="15240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D97706"/>
                  </a:solidFill>
                  <a:latin typeface="Nunito Sans ExtraBold"/>
                  <a:ea typeface="Nunito Sans ExtraBold"/>
                  <a:cs typeface="Nunito Sans ExtraBold"/>
                  <a:sym typeface="Nunito Sans ExtraBold"/>
                </a:rPr>
                <a:t>3. Accesibilidad (a11y)</a:t>
              </a:r>
              <a:endParaRPr b="0" sz="11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1E29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Inclusión &amp; Usabilidad</a:t>
              </a:r>
              <a:endParaRPr b="1" sz="950">
                <a:solidFill>
                  <a:srgbClr val="1E293B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475569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Evaluación WCAG 2.2 para garantizar inclusión y usabilidad en desktop y móvil.</a:t>
              </a:r>
              <a:endParaRPr b="0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16" name="Google Shape;116;g3fb940bf621_2_1792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/>
        </p:nvSpPr>
        <p:spPr>
          <a:xfrm>
            <a:off x="457200" y="266700"/>
            <a:ext cx="82296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59669"/>
                </a:solidFill>
                <a:latin typeface="Nunito Sans"/>
                <a:ea typeface="Nunito Sans"/>
                <a:cs typeface="Nunito Sans"/>
                <a:sym typeface="Nunito Sans"/>
              </a:rPr>
              <a:t>METODOLOGÍA</a:t>
            </a:r>
            <a:endParaRPr b="1" i="0" sz="900">
              <a:solidFill>
                <a:srgbClr val="059669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Protocolo técnico de captura y triangulación multi-auditor</a:t>
            </a:r>
            <a:endParaRPr b="1" i="0" sz="900">
              <a:solidFill>
                <a:srgbClr val="059669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Combinación de emulación real de navegador, análisis de código en cliente y verificación cruzada sin sesgos.</a:t>
            </a:r>
            <a:endParaRPr b="1" i="0" sz="900">
              <a:solidFill>
                <a:srgbClr val="0596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457200" y="1219200"/>
            <a:ext cx="2590800" cy="3390900"/>
          </a:xfrm>
          <a:prstGeom prst="roundRect">
            <a:avLst>
              <a:gd fmla="val 514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457200" y="1219200"/>
            <a:ext cx="2590800" cy="57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457200" y="1219200"/>
            <a:ext cx="2590800" cy="208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71450" spcFirstLastPara="1" rIns="17145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Entorno &amp; Herramientas</a:t>
            </a:r>
            <a:endParaRPr b="0" i="0" sz="12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Navegador real: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Chromium Headless vía Playwright v1.63.</a:t>
            </a:r>
            <a:endParaRPr b="0" i="0" sz="9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Inspección en vivo: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Chrome DevTools Protocol (CDP) para árbol de accesibilidad.</a:t>
            </a:r>
            <a:endParaRPr b="0" i="0" sz="9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Motor normativo: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axe-core v4.10.2 (WCAG 2.1/2.2 AA).</a:t>
            </a:r>
            <a:endParaRPr b="0" i="0" sz="9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90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Viewports estándar: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Desktop 1440×900 y Móvil 390×844 exactos.</a:t>
            </a:r>
            <a:endParaRPr b="0" i="0" sz="9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276600" y="1219200"/>
            <a:ext cx="2590800" cy="3390900"/>
          </a:xfrm>
          <a:prstGeom prst="roundRect">
            <a:avLst>
              <a:gd fmla="val 514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3276600" y="1219200"/>
            <a:ext cx="2590800" cy="57300"/>
          </a:xfrm>
          <a:prstGeom prst="roundRect">
            <a:avLst>
              <a:gd fmla="val 50000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3276600" y="1219200"/>
            <a:ext cx="2590800" cy="202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71450" spcFirstLastPara="1" rIns="17145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Triangulación Multi-Auditor</a:t>
            </a:r>
            <a:endParaRPr b="0" i="0" sz="12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Gemini 3.8 Flash: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Evidencia visual, teclado (39 tabs), mediciones CSS y contraste.</a:t>
            </a:r>
            <a:endParaRPr b="0" i="0" sz="9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gpt-6-astra (Codex):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Marco regulatorio mexicano, LFPDPPP, CONDUSEF y competencia.</a:t>
            </a:r>
            <a:endParaRPr b="0" i="0" sz="9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Opus 5 (Claude Code):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Envío de prueba autorizado, trazado del paso 2 oculto y cookies.</a:t>
            </a:r>
            <a:endParaRPr b="0" i="0" sz="9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096000" y="1219200"/>
            <a:ext cx="2590800" cy="3390900"/>
          </a:xfrm>
          <a:prstGeom prst="roundRect">
            <a:avLst>
              <a:gd fmla="val 514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096000" y="1219200"/>
            <a:ext cx="2590800" cy="57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6096000" y="1219200"/>
            <a:ext cx="2590800" cy="220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71450" spcFirstLastPara="1" rIns="171450" wrap="square" tIns="190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Transparencia: Qué NO se probó</a:t>
            </a:r>
            <a:endParaRPr b="0" i="0" sz="12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Canal WhatsApp: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No evaluable: ningún asesor contactó a los dos leads enviados en ventana observada.</a:t>
            </a:r>
            <a:endParaRPr b="0" i="0" sz="9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Área autenticada: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No aplicable: el sitio opera 100% como landing de captación sin login.</a:t>
            </a:r>
            <a:endParaRPr b="0" i="0" sz="9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i="0" lang="en-US" sz="9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Tratamiento en backend: </a:t>
            </a:r>
            <a:r>
              <a:rPr b="0" i="0" lang="en-US" sz="90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Fuera de alcance: auditado lo observable en cliente y red.</a:t>
            </a:r>
            <a:endParaRPr b="0" i="0" sz="9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457200" y="247650"/>
            <a:ext cx="8229600" cy="63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34D39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SÍNTESIS EJECUTIVA</a:t>
            </a:r>
            <a:endParaRPr b="0" sz="900">
              <a:solidFill>
                <a:srgbClr val="34D39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5 conclusiones críticas sobre el estado actual del sitio</a:t>
            </a:r>
            <a:endParaRPr b="0" sz="900"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8154F0"/>
                </a:solidFill>
                <a:latin typeface="Nunito Sans"/>
                <a:ea typeface="Nunito Sans"/>
                <a:cs typeface="Nunito Sans"/>
                <a:sym typeface="Nunito Sans"/>
              </a:rPr>
              <a:t>Los hallazgos de mayor impacto que definen la viabilidad comercial y legal del embudo.</a:t>
            </a:r>
            <a:endParaRPr b="0" sz="900">
              <a:solidFill>
                <a:srgbClr val="8154F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1104900"/>
            <a:ext cx="82296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571500" y="1162050"/>
            <a:ext cx="4191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01</a:t>
            </a:r>
            <a:endParaRPr b="0" sz="15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1085850" y="1162050"/>
            <a:ext cx="7429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Consentimiento inexistente en el formulario </a:t>
            </a:r>
            <a:r>
              <a:rPr b="1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[UX-136]</a:t>
            </a:r>
            <a:endParaRPr b="1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085850" y="1371600"/>
            <a:ext cx="7429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casilla que autoriza el contacto por WhatsApp tiene 'display:none' (0×0 px) y no es obligatoria. El 100% de los leads se envían y contactan sin registrar consentimiento demostrable bajo LFPDPPP.</a:t>
            </a:r>
            <a:endParaRPr b="0" sz="850">
              <a:solidFill>
                <a:srgbClr val="4755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" y="1828800"/>
            <a:ext cx="82296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71500" y="1885950"/>
            <a:ext cx="4191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02</a:t>
            </a:r>
            <a:endParaRPr b="0" sz="15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085850" y="1885950"/>
            <a:ext cx="7429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El embudo real tiene un Paso 2 oculto </a:t>
            </a:r>
            <a:r>
              <a:rPr b="1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[UX-134]</a:t>
            </a:r>
            <a:endParaRPr b="1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085850" y="2095500"/>
            <a:ext cx="7429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Tras captar 4 datos iniciales, el usuario es redirigido sin aviso a '/acreedores-homepage/' con 43 casillas de deudas nominales y compras de cartera, provocando abandono no medido.</a:t>
            </a:r>
            <a:endParaRPr b="0" sz="850">
              <a:solidFill>
                <a:srgbClr val="4755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2552700"/>
            <a:ext cx="82296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571500" y="2609850"/>
            <a:ext cx="4191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03</a:t>
            </a:r>
            <a:endParaRPr b="0" sz="15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85850" y="2609850"/>
            <a:ext cx="7429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Exposición de PII en cookies y redes de afiliados </a:t>
            </a:r>
            <a:r>
              <a:rPr b="1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[UX-153 / 151]</a:t>
            </a:r>
            <a:endParaRPr b="1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085850" y="2819400"/>
            <a:ext cx="7429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Cookie 'vik_user_data' almacena nombre, teléfono y deudas en JSON plano accesible por ~70 scripts de terceros. Además, la PII se envía en URLs a redes de afiliados CPL (Doaff/Keitaro).</a:t>
            </a:r>
            <a:endParaRPr b="0" sz="850">
              <a:solidFill>
                <a:srgbClr val="4755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457200" y="3276600"/>
            <a:ext cx="82296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571500" y="3333750"/>
            <a:ext cx="4191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04</a:t>
            </a:r>
            <a:endParaRPr b="0" sz="15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085850" y="3333750"/>
            <a:ext cx="7429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Prueba social y credibilidad jurídica rotas </a:t>
            </a:r>
            <a:r>
              <a:rPr b="1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[UX-005 / 006]</a:t>
            </a:r>
            <a:endParaRPr b="1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085850" y="3543300"/>
            <a:ext cx="7429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sección de testimoniales está totalmente vacía por un widget de Trustindex roto; los Términos y Condiciones corresponden a un marketplace de compraventa entre terceros ajeno a finanzas.</a:t>
            </a:r>
            <a:endParaRPr b="0" sz="850">
              <a:solidFill>
                <a:srgbClr val="4755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57200" y="4000500"/>
            <a:ext cx="8229600" cy="647700"/>
          </a:xfrm>
          <a:prstGeom prst="roundRect">
            <a:avLst>
              <a:gd fmla="val 14705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571500" y="4057650"/>
            <a:ext cx="4191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05</a:t>
            </a:r>
            <a:endParaRPr b="0" sz="15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085850" y="4057650"/>
            <a:ext cx="74295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Barreras severas de accesibilidad y foco </a:t>
            </a:r>
            <a:r>
              <a:rPr b="1" lang="en-US" sz="850">
                <a:solidFill>
                  <a:srgbClr val="D97706"/>
                </a:solidFill>
                <a:latin typeface="Nunito Sans"/>
                <a:ea typeface="Nunito Sans"/>
                <a:cs typeface="Nunito Sans"/>
                <a:sym typeface="Nunito Sans"/>
              </a:rPr>
              <a:t>[UX-002 / 008]</a:t>
            </a:r>
            <a:endParaRPr b="1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1085850" y="4267200"/>
            <a:ext cx="7429500" cy="26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7 violaciones normativas axe-core (select sin label); tabulación de teclado invertida que enfoca el formulario antes del menú, y 36 de 39 controles interactivos sin foco visual.</a:t>
            </a:r>
            <a:endParaRPr b="0" sz="850">
              <a:solidFill>
                <a:srgbClr val="475569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762000" y="1762125"/>
            <a:ext cx="57300" cy="1428900"/>
          </a:xfrm>
          <a:prstGeom prst="rect">
            <a:avLst/>
          </a:prstGeom>
          <a:solidFill>
            <a:srgbClr val="A7F3D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009650" y="1666875"/>
            <a:ext cx="7429500" cy="10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SECCIÓN 01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34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EMBUDO DE CONVERSIÓN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E9D5FF"/>
                </a:solidFill>
                <a:latin typeface="Nunito Sans"/>
                <a:ea typeface="Nunito Sans"/>
                <a:cs typeface="Nunito Sans"/>
                <a:sym typeface="Nunito Sans"/>
              </a:rPr>
              <a:t>De un formulario de contacto aparente a un perfil patrimonial de deuda en dos pasos.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457200" y="48196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D8B4FE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D8B4F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/>
        </p:nvSpPr>
        <p:spPr>
          <a:xfrm>
            <a:off x="457200" y="247650"/>
            <a:ext cx="8229600" cy="64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EMBUDO DE CONVERSIÓN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embudo real: 2 pasos y el segundo estaba oculto</a:t>
            </a:r>
            <a:endParaRPr b="0" i="0" sz="2000">
              <a:solidFill>
                <a:srgbClr val="0F172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154F0"/>
                </a:solidFill>
                <a:latin typeface="Nunito Sans"/>
                <a:ea typeface="Nunito Sans"/>
                <a:cs typeface="Nunito Sans"/>
                <a:sym typeface="Nunito Sans"/>
              </a:rPr>
              <a:t>El usuario cree completar un contacto rápido y es redirigido a un inventario exhaustivo de acreedores.</a:t>
            </a:r>
            <a:endParaRPr b="0" i="0" sz="950">
              <a:solidFill>
                <a:srgbClr val="8154F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457200" y="1162050"/>
            <a:ext cx="4191000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/>
          <p:nvPr/>
        </p:nvSpPr>
        <p:spPr>
          <a:xfrm>
            <a:off x="4800600" y="1143000"/>
            <a:ext cx="3886200" cy="3476700"/>
          </a:xfrm>
          <a:prstGeom prst="roundRect">
            <a:avLst>
              <a:gd fmla="val 328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4972050" y="1276350"/>
            <a:ext cx="3543300" cy="213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ANATOMÍA DE LA FRICCIÓN </a:t>
            </a:r>
            <a:r>
              <a:rPr b="1" i="0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(UX-134 / UX-135)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Paso 1 (Home):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Capta 4 datos personales bajo la apariencia de una consulta rápida sin compromiso.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Paso 2 (/acreedores-homepage/):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Redirección inmediata sin aviso previo. Exige seleccionar entre 43 casillas de bancos, fintechs y compras de cartera.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Escalada de sensibilidad: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Pasa de un rango aproximado de ingresos a una radiografía patrimonial completa de quién le está cobrando.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Sin progreso ni salida </a:t>
            </a:r>
            <a:r>
              <a:rPr b="1" i="0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(UX-137)</a:t>
            </a: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No indica 'Paso 2 de 2', no tiene buscador y obliga a un scroll móvil de 2,931 px (~3.5 pantallas).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Vulnerabilidad de enlace </a:t>
            </a:r>
            <a:r>
              <a:rPr b="1" i="0" lang="en-US" sz="850">
                <a:solidFill>
                  <a:srgbClr val="DC2626"/>
                </a:solidFill>
                <a:latin typeface="Nunito Sans"/>
                <a:ea typeface="Nunito Sans"/>
                <a:cs typeface="Nunito Sans"/>
                <a:sym typeface="Nunito Sans"/>
              </a:rPr>
              <a:t>(UX-139)</a:t>
            </a: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relación depende de la cookie 'vik_user_data'. En modo incógnito o si se borran cookies, el paso 2 se desvincula en silencio.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 txBox="1"/>
          <p:nvPr/>
        </p:nvSpPr>
        <p:spPr>
          <a:xfrm>
            <a:off x="457200" y="266700"/>
            <a:ext cx="8229600" cy="65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CONSENTIMIENTO &amp; PRIVACIDAD</a:t>
            </a:r>
            <a:endParaRPr b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consentimiento que no existe: casilla en display:none</a:t>
            </a:r>
            <a:endParaRPr b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Hallazgo estrella [UX-136]: La empresa contacta a los leads sin registrar consentimiento auditable.</a:t>
            </a:r>
            <a:endParaRPr b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pic>
        <p:nvPicPr>
          <p:cNvPr id="179" name="Google Shape;179;p7"/>
          <p:cNvPicPr preferRelativeResize="0"/>
          <p:nvPr/>
        </p:nvPicPr>
        <p:blipFill rotWithShape="1">
          <a:blip r:embed="rId4">
            <a:alphaModFix/>
          </a:blip>
          <a:srcRect b="0" l="40" r="40" t="0"/>
          <a:stretch/>
        </p:blipFill>
        <p:spPr>
          <a:xfrm>
            <a:off x="457200" y="1162050"/>
            <a:ext cx="4191000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4800600" y="1143000"/>
            <a:ext cx="3886200" cy="3476700"/>
          </a:xfrm>
          <a:prstGeom prst="roundRect">
            <a:avLst>
              <a:gd fmla="val 328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 txBox="1"/>
          <p:nvPr/>
        </p:nvSpPr>
        <p:spPr>
          <a:xfrm>
            <a:off x="4972050" y="1276350"/>
            <a:ext cx="3543300" cy="259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EVIDENCIA TÉCNICA Y NORMATIVA </a:t>
            </a:r>
            <a:r>
              <a:rPr b="0" lang="en-US" sz="1050">
                <a:solidFill>
                  <a:srgbClr val="DC262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[UX-136]</a:t>
            </a:r>
            <a:endParaRPr b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Texto plano sin casilla: </a:t>
            </a: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frase 'Acepto ser contactado a través de WhatsApp...' se muestra como texto estático. El &lt;input type='checkbox'&gt; tiene display:none y mide 0×0 px.</a:t>
            </a:r>
            <a:endParaRPr b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Casilla NO obligatoria: </a:t>
            </a: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atributo required no está presente en el checkbox. El formulario se envía exactamente igual sin importar el consentimiento.</a:t>
            </a:r>
            <a:endParaRPr b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Contraste demoledor: </a:t>
            </a: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el Paso 2 (/acreedores-homepage/) el sitio presenta 43 casillas perfectamente funcionales y visibles. La capacidad técnica existe; fue omitida en el consentimiento.</a:t>
            </a:r>
            <a:endParaRPr b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Impacto regulatorio LFPDPPP: </a:t>
            </a: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empresa carece de traza de consentimiento expreso para tratar datos telefónicos y financieros sensibles.</a:t>
            </a:r>
            <a:endParaRPr b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Recomendación de producto: </a:t>
            </a:r>
            <a:r>
              <a:rPr b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Implementar casilla nativa visible, operable por teclado y obligatoria, con modal previo de términos y aviso antes del envío.</a:t>
            </a:r>
            <a:endParaRPr b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/>
        </p:nvSpPr>
        <p:spPr>
          <a:xfrm>
            <a:off x="457200" y="266700"/>
            <a:ext cx="8229600" cy="6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FORMULARIO &amp; CAPTACIÓN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4 campos obligatorios sin contexto ni aviso contiguo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Discrepancia entre la hipótesis preliminar de 1 campo y la recolección real en pantalla.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57200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 txBox="1"/>
          <p:nvPr/>
        </p:nvSpPr>
        <p:spPr>
          <a:xfrm>
            <a:off x="590550" y="1352550"/>
            <a:ext cx="2343300" cy="187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INPUT / CAPTURA REAL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Nombre completo (*):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Campo de texto obligatorio.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Correo electrónico (*):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Obligatorio (propósito no aclarado si el contacto es vía WhatsApp).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WhatsApp (+52) (*):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Obligatorio con prefijo telefónico fijo.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Rango aproximado (*):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Selector con 6 rangos de ingresos mensuales ($0-$20k hasta &gt;$250k).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264408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 txBox="1"/>
          <p:nvPr/>
        </p:nvSpPr>
        <p:spPr>
          <a:xfrm>
            <a:off x="3397758" y="1352550"/>
            <a:ext cx="2343300" cy="174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DEFECTOS DE USABILIDAD &amp; A11Y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Violación axe select-name: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elemento &lt;select id='amount'&gt; no tiene etiqueta &lt;label&gt; ni aria-label.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Aviso de privacidad ausente: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Ningún enlace contiguo al formulario (UX-004); solo en el footer a &gt;2,000 px.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Temor en público endeudado: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usuario asume riesgo de ser exhibido en su empleo si entrega correo sin garantías.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071616" y="120015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6204966" y="1352550"/>
            <a:ext cx="2343300" cy="174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POR QUÉ FUNCIONA EL REDISEÑO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Reducción de fricción: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Hacer opcional el correo y justificar la necesidad del rango de ingresos eleva la conversión.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Aviso simplificado visible: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Mostrar 'Tus datos están protegidos bajo nuestro Aviso de Privacidad' genera certidumbre.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Labels semánticos accesibles: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Permiten que tecnologías de asistencia identifiquen cada campo sin ambigüedad.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457200" y="266700"/>
            <a:ext cx="8229600" cy="61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CONFIANZA &amp; PRUEBA SOCIAL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Prueba social vacía: testimoniales rotos e insignia sin link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En servicios de reparación de deuda, la prueba social es el factor #1 para vencer el escepticismo.</a:t>
            </a:r>
            <a:endParaRPr b="0" i="0" sz="90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pic>
        <p:nvPicPr>
          <p:cNvPr descr="phone-testimoniales.png"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5" y="1234450"/>
            <a:ext cx="1730705" cy="33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/>
          <p:nvPr/>
        </p:nvSpPr>
        <p:spPr>
          <a:xfrm>
            <a:off x="3108960" y="1200150"/>
            <a:ext cx="5577900" cy="3383400"/>
          </a:xfrm>
          <a:prstGeom prst="roundRect">
            <a:avLst>
              <a:gd fmla="val 3378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3291840" y="1333500"/>
            <a:ext cx="5212200" cy="2206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DIAGNÓSTICO DE CREDIBILIDAD </a:t>
            </a:r>
            <a:r>
              <a:rPr b="0" i="0" lang="en-US" sz="1050">
                <a:solidFill>
                  <a:srgbClr val="DC262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[UX-005 / UX-012]</a:t>
            </a:r>
            <a:endParaRPr b="0" i="0" sz="10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Sección de testimoniales desierta (UX-005):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bloque '#testimoniales' promete '¡Nuestros clientes no dejan de hablar de nosotros!'. Sin embargo, el script de Trustindex falla con errores 404 e inyecta un simple &lt;div&gt;&lt;/div&gt; vacío. El visitante solo ve un fondo azul sin reseñas.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Insignia de Google sin verificar (UX-012):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el Hero se muestra un badge que dice 'Google ★★★★★ 4910 reseñas &gt;'. La inspección confirmó que tiene href: null; no es interactivo ni conduce a Google Maps o Google Business Profile.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Badges de Trustindex en footer: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Insignias de 'SSL Seguro' y 'Certificado Seguro' sin hipervínculos de validación criptográfica.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Impacto psicológico en el lead: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Un usuario con estrés financiero busca testimonios de personas reales con montos de quita comprobables. Un bloque roto genera sospecha inmediata de estafa o abandono.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00"/>
              </a:spcBef>
              <a:spcAft>
                <a:spcPts val="7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Recomendación inmediata: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Reparar el widget de Trustindex o implementar un carrusel estático con casos de éxito reales (nombre de pila, deuda inicial, ahorro logrado y tiempo de resolución).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/>
          <p:nvPr/>
        </p:nvSpPr>
        <p:spPr>
          <a:xfrm>
            <a:off x="457200" y="266700"/>
            <a:ext cx="8229600" cy="60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PROPUESTA DE VALOR &amp; TRANSPARENCIA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Promesa agresiva en Hero vs. Servicio educativo en FAQ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Disparidad de expectativas y ausencia de precios orientativos antes de capturar el contacto.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1200150"/>
            <a:ext cx="3977700" cy="3383400"/>
          </a:xfrm>
          <a:prstGeom prst="roundRect">
            <a:avLst>
              <a:gd fmla="val 450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609600" y="1333500"/>
            <a:ext cx="3672900" cy="189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LA PROMESA EN EL HERO (UX-085)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Titular emocional llamativo: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'Pagar menos al mes para olvidarse del estrés. ¡La educación financiera es todo!'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Expectativa generada: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visitante infiere una reducción directa, reestructura con quita o refinanciamiento de sus mensualidades.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La realidad en FAQ: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 '¿Qué hacemos?' se define únicamente como 'educación y herramientas para organizar su panorama y tomar decisiones informadas'.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Riesgo de frustración: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Si el servicio es reparación de crédito mediante negociación de quitas, debe explicarse con claridad. Disfrazarlo de educación confunde al prospecto.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709160" y="1200150"/>
            <a:ext cx="3977700" cy="3383400"/>
          </a:xfrm>
          <a:prstGeom prst="roundRect">
            <a:avLst>
              <a:gd fmla="val 450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4861560" y="1333500"/>
            <a:ext cx="3672900" cy="189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OPACIDAD EN COSTOS (UX-087)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Sin precios ni rangos publicados: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respuesta en FAQ afirma que 'los costos pueden variar según el perfil y los servicios que se elijan'.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Asesoría inicial gratuita: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Se declara sin costo, pero no se informa el esquema posterior (¿comisión sobre monto ahorrado? ¿cuota fija mensual?).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Fricción comercial innecesaria: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Obliga a una conversación por WhatsApp para conocer si el servicio es asequible, provocando abandono tardío del lead calificado.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Recomendación: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Publicar esquema orientativo de honorarios (ej. 'Cobramos un % únicamente sobre el descuento negociado') para precalificar prospectos.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b940bf621_2_4250"/>
          <p:cNvSpPr/>
          <p:nvPr/>
        </p:nvSpPr>
        <p:spPr>
          <a:xfrm>
            <a:off x="762000" y="1762125"/>
            <a:ext cx="57300" cy="1428900"/>
          </a:xfrm>
          <a:prstGeom prst="rect">
            <a:avLst/>
          </a:prstGeom>
          <a:solidFill>
            <a:srgbClr val="A7F3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b940bf621_2_4250"/>
          <p:cNvSpPr txBox="1"/>
          <p:nvPr/>
        </p:nvSpPr>
        <p:spPr>
          <a:xfrm>
            <a:off x="1009650" y="1666875"/>
            <a:ext cx="7429500" cy="95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SECCIÓN 0</a:t>
            </a:r>
            <a:r>
              <a:rPr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2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ACCESIBILIDAD &amp; RESPONSIVE</a:t>
            </a:r>
            <a:endParaRPr sz="3400">
              <a:solidFill>
                <a:srgbClr val="FFFFFF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BCE2"/>
                </a:solidFill>
              </a:rPr>
              <a:t>Evaluación técnica WCAG 2.2, recorrido con teclado y experiencia en dispositivos móviles.</a:t>
            </a:r>
            <a:endParaRPr sz="1300">
              <a:solidFill>
                <a:srgbClr val="E9D5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0" name="Google Shape;220;g3fb940bf621_2_4250"/>
          <p:cNvSpPr txBox="1"/>
          <p:nvPr/>
        </p:nvSpPr>
        <p:spPr>
          <a:xfrm>
            <a:off x="457200" y="48196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D8B4FE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D8B4F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/>
        </p:nvSpPr>
        <p:spPr>
          <a:xfrm>
            <a:off x="457200" y="266700"/>
            <a:ext cx="8229600" cy="60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ACCESIBILIDAD WCAG 2.2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axe-core 4.10.2: 7 violaciones normativas detectadas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Evaluación automatizada y asistida por Chromium Headless. Estado: No conforme con WCAG 2.2 nivel AA.</a:t>
            </a:r>
            <a:endParaRPr b="0" i="0" sz="850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57200" y="1200150"/>
            <a:ext cx="2377500" cy="3383400"/>
          </a:xfrm>
          <a:prstGeom prst="roundRect">
            <a:avLst>
              <a:gd fmla="val 641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609600" y="1333500"/>
            <a:ext cx="2072700" cy="1626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DISTRIBUCIÓN AXE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2 Críticas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3 Serias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2 Moderadas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475569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Total: 7 reglas violadas</a:t>
            </a:r>
            <a:br>
              <a:rPr b="0" i="0" lang="en-US" sz="85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</a:br>
            <a:r>
              <a:rPr b="0" i="0" lang="en-US" sz="8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Nodos afectados: &gt;22 elementos en DOM.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017520" y="1200150"/>
            <a:ext cx="5669400" cy="3383400"/>
          </a:xfrm>
          <a:prstGeom prst="roundRect">
            <a:avLst>
              <a:gd fmla="val 4504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 txBox="1"/>
          <p:nvPr/>
        </p:nvSpPr>
        <p:spPr>
          <a:xfrm>
            <a:off x="3169920" y="1333500"/>
            <a:ext cx="5364600" cy="236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DESGLOSE DE REGLAS INCUMPLIDAS</a:t>
            </a:r>
            <a:endParaRPr b="0" i="0" sz="100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select-name [Crítica]: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elemento &lt;select id='amount'&gt; no cuenta con &lt;label&gt; ni aria-label asociado. Lector de pantalla no anuncia su función.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image-alt [Crítica]: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Imágenes clave carecen de texto alternativo alt descriptivo (ej. brand-logos.png con alt='').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color-contrast [Seria]: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15 nodos con contraste insuficiente (&lt;4.5:1). Enlaces del menú principal (#797984 sobre blanco) tienen ratio 4.3:1 (UX-010).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link-name [Seria]: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Enlaces en la secuencia de tabulación carecen de texto discernible (enlace del logo y botones).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frame-title [Seria]: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Múltiples elementos &lt;iframe&gt; técnicos y de mapas no tienen atributo title accesible (UX-013).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page-has-heading-one [Moderada]: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La portada carece de un encabezado &lt;h1&gt; estructural; el hero usa jerarquías h2 o divs (UX-011).</a:t>
            </a:r>
            <a:endParaRPr b="0" i="0" sz="850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 txBox="1"/>
          <p:nvPr/>
        </p:nvSpPr>
        <p:spPr>
          <a:xfrm>
            <a:off x="457200" y="292608"/>
            <a:ext cx="8229600" cy="60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ACCESIBILIDAD &amp; OPERABILIDAD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Navegación con teclado: 39 pasos, foco invertido y ciego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Evaluación paso a paso de navegación sin ratón mediante emulación interactiva de la tecla Tab.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 txBox="1"/>
          <p:nvPr/>
        </p:nvSpPr>
        <p:spPr>
          <a:xfrm>
            <a:off x="609600" y="1353312"/>
            <a:ext cx="2310300" cy="17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ORDEN INVERTIDO [UX-007]</a:t>
            </a:r>
            <a:endParaRPr b="0" i="0" sz="10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Foco arranca en formulario: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Al presionar Tab por primera vez, el cursor salta directo a #name en el Hero.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Menú al final de todo: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menú principal y 'Saltar al contenido' solo reciben foco en los pasos 35 a 38, tras pasar por el footer.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Impacto: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Un usuario con discapacidad motriz no puede explorar las secciones de la página antes de completar datos.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3416808" y="1353312"/>
            <a:ext cx="2310300" cy="161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FOCO CIEGO [UX-008]</a:t>
            </a:r>
            <a:endParaRPr b="0" i="0" sz="100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36 de 39 sin foco visible: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Los campos de formulario y botones tienen CSS 'outline: none;'. No hay anillo visible de foco.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Pérdida de ubicación: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El usuario no sabe en qué campo o enlace se encuentra activo al presionar Tab.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Solución: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Definir regla global :focus-visible con anillo de 2px de alto contraste (#00386e).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 txBox="1"/>
          <p:nvPr/>
        </p:nvSpPr>
        <p:spPr>
          <a:xfrm>
            <a:off x="6224016" y="1353312"/>
            <a:ext cx="2310300" cy="161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BARRERAS CRÍTICAS [UX-003/13]</a:t>
            </a:r>
            <a:endParaRPr b="0" i="0" sz="100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Checkbox inalcanzable: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Por tener display:none, el consentimiento de WhatsApp es omitido por el teclado.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Trampa en iframes (UX-013):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Pasos 27 a 34 quedan atrapados en 8 iframes técnicos de mapas y Stripe sin título.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Solución: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Poner tabindex='-1' a iframes invisibles y dar accesibilidad nativa al checkbox.</a:t>
            </a:r>
            <a:endParaRPr b="0" i="0" sz="850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457200" y="47815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 txBox="1"/>
          <p:nvPr/>
        </p:nvSpPr>
        <p:spPr>
          <a:xfrm>
            <a:off x="457200" y="266700"/>
            <a:ext cx="8229600" cy="60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EXPERIENCIA RESPONSIVE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Móvil (390×844): Fortalezas observadas y áreas de ajuste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Rigor metodológico: documentamos lo que funciona impecable junto a las fricciones detectadas.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57200" y="1123950"/>
            <a:ext cx="3009900" cy="3524400"/>
          </a:xfrm>
          <a:prstGeom prst="roundRect">
            <a:avLst>
              <a:gd fmla="val 5063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609600" y="1276350"/>
            <a:ext cx="2705100" cy="199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6A34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LO QUE FUNCIONA BIEN</a:t>
            </a:r>
            <a:endParaRPr b="0" i="0" sz="100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✔ Cero scroll horizontal: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scrollWidth: 390px == windowWidth: 390px. El viewport no tiene desbordamiento lateral.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✔ Cero popups invasivos: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No existen modales bloqueantes, overlays engañosos ni ventanas emergentes al cargar.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✔ Carga inicial rápida: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First Contentful Paint (FCP) de 1.8s y TTFB de 1.1s en condiciones estándar.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✔ Contraste en CTA principal: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Botón '¡Comenzar!' (#ffffff sobre #00386e) con ratio 11.73:1 (Supera WCAG AAA).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619500" y="1123950"/>
            <a:ext cx="3009900" cy="3524400"/>
          </a:xfrm>
          <a:prstGeom prst="roundRect">
            <a:avLst>
              <a:gd fmla="val 5063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3771900" y="1276350"/>
            <a:ext cx="2705100" cy="167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ÁREAS DE AJUSTE MÓVIL</a:t>
            </a:r>
            <a:endParaRPr b="0" i="0" sz="10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▲ 11 Touch targets &lt; 24px (UX-009):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Enlaces legales y redes en footer tienen solo 20-22 px de alto (falla WCAG 2.2 Criterio 2.5.8).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▲ Scroll excesivo en acreedores: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2,931 px de scroll vertical en el paso 2 con 43 casillas continuas sin agrupar ni colapsar.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▲ WhatsApp inaccesible en scroll: </a:t>
            </a:r>
            <a:r>
              <a:rPr b="0" i="0" lang="en-US" sz="850">
                <a:solidFill>
                  <a:srgbClr val="475569"/>
                </a:solidFill>
                <a:latin typeface="Nunito Sans"/>
                <a:ea typeface="Nunito Sans"/>
                <a:cs typeface="Nunito Sans"/>
                <a:sym typeface="Nunito Sans"/>
              </a:rPr>
              <a:t>No existe botón flotante o persistente de WhatsApp en móvil (UX-132); queda a 5.4 pantallas de scroll.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52" name="Google Shape;252;p14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b940bf621_2_4256"/>
          <p:cNvSpPr/>
          <p:nvPr/>
        </p:nvSpPr>
        <p:spPr>
          <a:xfrm>
            <a:off x="762000" y="1762125"/>
            <a:ext cx="57300" cy="1428900"/>
          </a:xfrm>
          <a:prstGeom prst="rect">
            <a:avLst/>
          </a:prstGeom>
          <a:solidFill>
            <a:srgbClr val="A7F3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b940bf621_2_4256"/>
          <p:cNvSpPr txBox="1"/>
          <p:nvPr/>
        </p:nvSpPr>
        <p:spPr>
          <a:xfrm>
            <a:off x="1009650" y="1666875"/>
            <a:ext cx="7429500" cy="95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SECCIÓN 0</a:t>
            </a:r>
            <a:r>
              <a:rPr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3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DATOS, PRIVACIDAD &amp; CONFIANZA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BCE2"/>
                </a:solidFill>
              </a:rPr>
              <a:t>Rastreadores de afiliados, persistencia de PII en cookies y consistencia legal regulatoria.</a:t>
            </a:r>
            <a:endParaRPr sz="1200">
              <a:solidFill>
                <a:srgbClr val="42BCE2"/>
              </a:solidFill>
            </a:endParaRPr>
          </a:p>
        </p:txBody>
      </p:sp>
      <p:sp>
        <p:nvSpPr>
          <p:cNvPr id="259" name="Google Shape;259;g3fb940bf621_2_4256"/>
          <p:cNvSpPr txBox="1"/>
          <p:nvPr/>
        </p:nvSpPr>
        <p:spPr>
          <a:xfrm>
            <a:off x="457200" y="48196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D8B4FE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D8B4F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 txBox="1"/>
          <p:nvPr/>
        </p:nvSpPr>
        <p:spPr>
          <a:xfrm>
            <a:off x="457200" y="292608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PROTECCIÓN DE DATOS &amp; PRIVACIDAD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La cookie vik_user_data: PII y acreedores sin protección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Vulnerabilidad crítica [UX-153]: Persistencia de datos sensibles en el cliente legible por scripts de terceros.</a:t>
            </a:r>
            <a:endParaRPr b="0" i="0" sz="850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602742" y="1353312"/>
            <a:ext cx="2324100" cy="174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EL MECANISMO EN CLIENTE</a:t>
            </a:r>
            <a:endParaRPr b="0" i="0" sz="10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Manejador wpcf7mailsent: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Un script inline en JavaScript cliente captura el evento de envío del formulario.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Serialización en JSON plano: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Itera sobre los inputs y guarda nombre, correo, WhatsApp, ingresos y la lista de acreedores acumulada.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Vigencia de 30 días: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Se escribe en document.cookie bajo el nombre 'vik_user_data' con expiración a un mes.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1F2"/>
          </a:solidFill>
          <a:ln cap="flat" cmpd="sng" w="143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3409950" y="1353312"/>
            <a:ext cx="2324100" cy="187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LA VULNERABILIDAD TÉCNICA</a:t>
            </a:r>
            <a:endParaRPr b="0" i="0" sz="100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Sin flag HttpOnly: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Al ser creada por JavaScript en el frontend, la cookie no puede protegerse con HttpOnly.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Acceso a ~70 scripts externos: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Cualquier etiqueta de rastreo (Meta, TikTok, Taboola, Criteo, TradeDesk, Reddit) puede leerla con document.cookie.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Tratamiento sin consentimiento: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Datos patrimoniales sensibles quedan expuestos a redes publicitarias externas.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DF4"/>
          </a:solidFill>
          <a:ln cap="flat" cmpd="sng" w="1430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6217158" y="1353312"/>
            <a:ext cx="2324100" cy="187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16A34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REMEDIACIÓN ARQUITECTURAL</a:t>
            </a:r>
            <a:endParaRPr b="0" i="0" sz="100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Eliminación de la cookie: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No almacenar información personal identificable en el almacenamiento del cliente.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Sesión segura en servidor: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Utilizar identificadores de sesión opacos (tokens criptográficos) y resolver la identidad en backend.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Auditoría de scripts: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Implementar Content Security Policy (CSP) y gestor CMP que restrinja el acceso al contexto.</a:t>
            </a:r>
            <a:endParaRPr b="0" i="0" sz="850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/>
        </p:nvSpPr>
        <p:spPr>
          <a:xfrm>
            <a:off x="457200" y="30480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GOBERNANZA DE DATOS &amp; CRO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Transmisión de PII a redes de afiliados y alertas invasivas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Exposición de datos personales en cadenas de URL y fallos que muestran jerga técnica al usuario.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1F2"/>
          </a:solidFill>
          <a:ln cap="flat" cmpd="sng" w="143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602742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POSTBACK EN QUERY STRING [UX-151]</a:t>
            </a:r>
            <a:endParaRPr b="0" i="0" sz="9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Transmisión visible en URL: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Se dispara un pixel hacia '[link removed]' (Keitaro) con los parámetros: &amp;vname=..., &amp;vemail=... y &amp;vtel=...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Teléfono como ID de Lead: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Llamada a 'tracker2.doaffiliate.net?type=CPL' con comentario literal en código: //Lead ID sent by us, we use phone number as Lead ID.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Riesgo: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Datos personales viajan en peticiones GET, quedando registrados en logs de servidor, proxies e historial del navegador.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BEB"/>
          </a:solidFill>
          <a:ln cap="flat" cmpd="sng" w="143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3409950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CAMPOS OCULTOS DE AFILIADO [UX-130]</a:t>
            </a:r>
            <a:endParaRPr b="0" i="0" sz="9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Rastreo sin consentimiento: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formulario incluye campos invisibles: your-utm-src, your-doaffcid ('Doaff CLICK ID') y your-ksubid ('KEITARO SUBID').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Modelo CPL expuesto: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Se confirma que la empresa paga comisiones por lead generado a redes de afiliados externas sin transparentarlo.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Aviso omiso: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Aviso de Privacidad no declara la recolección ni transferencia de identificadores de afiliación publicitaria.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6217158" y="1353312"/>
            <a:ext cx="2324100" cy="202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ALERTA NATIVA INVASIVA [UX-152]</a:t>
            </a:r>
            <a:endParaRPr b="0" i="0" sz="9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Error técnico expuesto: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Si la llamada al pixel de afiliados falla, salta un alert() nativo del navegador con texto de desarrollo.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Mensaje textual: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'¡Algo salió mal! El cable de Doaff no está registrado.'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Impacto en confianza: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usuario, tras entregar su lista de deudas, recibe un error incomprensible que arruina la percepción de seguridad.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Acción: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Eliminar de inmediato el alert() y canalizar fallos a logs internos.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/>
        </p:nvSpPr>
        <p:spPr>
          <a:xfrm>
            <a:off x="457200" y="30480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MARCO JURÍDICO &amp; TÉRMINOS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Términos de marketplace ajenos y derechos ARCO presenciales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Incongruencia crítica en los documentos legales publicados que dinamita la credibilidad jurídica.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89" name="Google Shape;2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238250"/>
            <a:ext cx="4114800" cy="24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/>
          <p:nvPr/>
        </p:nvSpPr>
        <p:spPr>
          <a:xfrm>
            <a:off x="4724400" y="1238250"/>
            <a:ext cx="3962400" cy="3352800"/>
          </a:xfrm>
          <a:prstGeom prst="roundRect">
            <a:avLst>
              <a:gd fmla="val 4545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"/>
          <p:cNvSpPr txBox="1"/>
          <p:nvPr/>
        </p:nvSpPr>
        <p:spPr>
          <a:xfrm>
            <a:off x="4914900" y="1381125"/>
            <a:ext cx="3581400" cy="252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EVALUACIÓN DE CONSISTENCIA LEGAL</a:t>
            </a:r>
            <a:endParaRPr b="0" sz="10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Términos de Marketplace (UX-006/084):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documento activo en vivo habla literalmente de 'operaciones con otros Usuarios', 'calificaciones recibidas y réplicas', 'inhabilitación de publicaciones' y riesgos de 'contratar con menores'. Es un contrato de compraventa entre particulares tipo Mercado Libre, ajeno por completo al servicio de reestructura de deuda.</a:t>
            </a:r>
            <a:endParaRPr b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Derechos ARCO presenciales (UX-083):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Para revocar consentimiento o ejercer derechos ARCO, el aviso exige acudir presencialmente a recoger solicitud a Reforma 250 (CDMX). Fricción desproporcionada para un servicio digital a nivel nacional.</a:t>
            </a:r>
            <a:endParaRPr b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Finalidades agrupadas forzadas (UX-081):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aviso incluye publicidad y prospección entre las finalidades necesarias para el cumplimiento del servicio, limitando la libre decisión del usuario.</a:t>
            </a:r>
            <a:endParaRPr b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Recomendación: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Sustituir íntegramente los términos y habilitar trámite de derechos ARCO remoto por correo electrónico.</a:t>
            </a:r>
            <a:endParaRPr b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b940bf621_2_4262"/>
          <p:cNvSpPr/>
          <p:nvPr/>
        </p:nvSpPr>
        <p:spPr>
          <a:xfrm>
            <a:off x="762000" y="1762125"/>
            <a:ext cx="57300" cy="1428900"/>
          </a:xfrm>
          <a:prstGeom prst="rect">
            <a:avLst/>
          </a:prstGeom>
          <a:solidFill>
            <a:srgbClr val="A7F3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b940bf621_2_4262"/>
          <p:cNvSpPr txBox="1"/>
          <p:nvPr/>
        </p:nvSpPr>
        <p:spPr>
          <a:xfrm>
            <a:off x="1009650" y="1666875"/>
            <a:ext cx="7429500" cy="95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SECCIÓN 0</a:t>
            </a:r>
            <a:r>
              <a:rPr lang="en-US" sz="1050">
                <a:solidFill>
                  <a:srgbClr val="A7F3D0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4</a:t>
            </a:r>
            <a:endParaRPr b="0" i="0" sz="1050">
              <a:solidFill>
                <a:srgbClr val="A7F3D0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lt1"/>
                </a:solidFill>
              </a:rPr>
              <a:t>HACIA DÓNDE VAMOS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BCE2"/>
                </a:solidFill>
              </a:rPr>
              <a:t>Modelo de madurez digital t2ó, quick wins y plan de acción para transformar el embudo.</a:t>
            </a:r>
            <a:endParaRPr sz="1200">
              <a:solidFill>
                <a:srgbClr val="42BCE2"/>
              </a:solidFill>
            </a:endParaRPr>
          </a:p>
        </p:txBody>
      </p:sp>
      <p:sp>
        <p:nvSpPr>
          <p:cNvPr id="299" name="Google Shape;299;g3fb940bf621_2_4262"/>
          <p:cNvSpPr txBox="1"/>
          <p:nvPr/>
        </p:nvSpPr>
        <p:spPr>
          <a:xfrm>
            <a:off x="457200" y="481965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D8B4FE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i="0" sz="850">
              <a:solidFill>
                <a:srgbClr val="D8B4F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 txBox="1"/>
          <p:nvPr/>
        </p:nvSpPr>
        <p:spPr>
          <a:xfrm>
            <a:off x="457200" y="292608"/>
            <a:ext cx="8229600" cy="5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PLAN DE OPTIMIZACIÓN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Matriz de Quick Wins vs. Cambios Estructurales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Priorización accionable dividida por esfuerzo técnico y potencial de impacto comercial/legal.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457200" y="1234440"/>
            <a:ext cx="3977700" cy="3383400"/>
          </a:xfrm>
          <a:prstGeom prst="roundRect">
            <a:avLst>
              <a:gd fmla="val 4504" name="adj"/>
            </a:avLst>
          </a:prstGeom>
          <a:solidFill>
            <a:srgbClr val="F0FDFA"/>
          </a:solidFill>
          <a:ln cap="flat" cmpd="sng" w="143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21792" y="1353312"/>
            <a:ext cx="3648600" cy="196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0D948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QUICK WINS (BAJO ESFUERZO / ALTO IMPACTO)</a:t>
            </a:r>
            <a:endParaRPr b="0" i="0" sz="100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1. Casilla de consentimiento visible (UX-136):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Eliminar display:none, hacerla requerida y agregar enlace al Aviso contiguo.</a:t>
            </a:r>
            <a:endParaRPr b="0" i="0" sz="85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2. Sustituir Términos de Marketplace (UX-006):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Publicar términos reales de consultoría legal y financiera en lugar de los de compraventa.</a:t>
            </a:r>
            <a:endParaRPr b="0" i="0" sz="85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3. Corregir select-name y contraste (UX-002/010):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Añadir &lt;label for='amount'&gt; y oscurecer el menú superior a ratio &gt;4.5:1.</a:t>
            </a:r>
            <a:endParaRPr b="0" i="0" sz="85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4. Desactivar alert de afiliados (UX-152):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Eliminar el mensaje invasivo 'El cable de Doaff...' que asusta a los usuarios.</a:t>
            </a:r>
            <a:endParaRPr b="0" i="0" sz="85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5. Enlazar o retirar badge Google (UX-012):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Conectar el badge de 4910 reseñas a la ficha real de Google Maps de la empresa.</a:t>
            </a:r>
            <a:endParaRPr b="0" i="0" sz="850">
              <a:solidFill>
                <a:srgbClr val="0D948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709160" y="1234440"/>
            <a:ext cx="3977700" cy="3383400"/>
          </a:xfrm>
          <a:prstGeom prst="roundRect">
            <a:avLst>
              <a:gd fmla="val 4504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4873752" y="1353312"/>
            <a:ext cx="3648600" cy="209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CAMBIOS ESTRUCTURALES (MEDIO-ALTO IMPACTO)</a:t>
            </a:r>
            <a:endParaRPr b="0" i="0" sz="10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1. Eliminar cookie vik_user_data (UX-153):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Migrar la sesión entre pasos a tokens opacos en backend. Ninguna PII en el cliente.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2. Postbacks anónimos server-to-server (UX-151):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Detener el envío de teléfono y correo en URLs GET a Keitaro y Doaffiliate.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3. Rediseño del embudo en 2 pasos (UX-134/135):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Anunciar el paso de acreedores desde el inicio, agregar buscador y opción 'Prefiero no responder'.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4. Pantalla de confirmación con SLA (UX-133):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Mostrar acuse de recibo, número oficial de WhatsApp de contacto y horario de atención.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75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5. Banner CMP y auditoría de cookies (UX-150):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Bloquear las ~70 cookies de terceros hasta obtener consentimiento explícito.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 txBox="1"/>
          <p:nvPr/>
        </p:nvSpPr>
        <p:spPr>
          <a:xfrm>
            <a:off x="457200" y="292608"/>
            <a:ext cx="8229600" cy="5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PLAN DE EJECUCIÓN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Próximos pasos: Hoja de ruta para destrabar el embudo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Plan secuencial para mitigar riesgos legales inmediatos y maximizar la tasa de conversión.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1F2"/>
          </a:solidFill>
          <a:ln cap="flat" cmpd="sng" w="143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621792" y="1353312"/>
            <a:ext cx="9144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01</a:t>
            </a:r>
            <a:endParaRPr b="0" i="0" sz="240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17" name="Google Shape;317;p22"/>
          <p:cNvSpPr txBox="1"/>
          <p:nvPr/>
        </p:nvSpPr>
        <p:spPr>
          <a:xfrm>
            <a:off x="621792" y="1920240"/>
            <a:ext cx="2286000" cy="198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Blindaje Legal &amp; Consentimiento</a:t>
            </a:r>
            <a:endParaRPr b="1" i="0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Semanas 1 y 2</a:t>
            </a:r>
            <a:endParaRPr b="1" i="0" sz="8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Restituir casilla de consentimiento: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Visible, requerida y vinculada al Aviso de Privacidad.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Actualizar documentos legales: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Reemplazar términos de marketplace por los de asesoría real.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Retirar cookie con PII: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Eliminar vik_user_data para cerrar la fuga hacia scripts de terceros.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Purgar logos no acreditados: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Retirar brand-logos.png del DOM y servidor (ver Anexo A).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EFCE8"/>
          </a:solidFill>
          <a:ln cap="flat" cmpd="sng" w="14300">
            <a:solidFill>
              <a:srgbClr val="FEF0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3429000" y="1353312"/>
            <a:ext cx="9144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02</a:t>
            </a:r>
            <a:endParaRPr b="0" i="0" sz="24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3429000" y="1920240"/>
            <a:ext cx="2286000" cy="198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Optimización del Embudo &amp; CRO</a:t>
            </a:r>
            <a:endParaRPr b="1" i="0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Semanas 3 y 4</a:t>
            </a:r>
            <a:endParaRPr b="1" i="0" sz="8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Transparentar los 2 pasos: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Indicar 'Paso 1 de 2: Tus datos' y 'Paso 2 de 2: Tus acreedores'.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Buscador en acreedores: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Permitir filtrar las 43 instituciones y añadir opción 'No lo sé'.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Acuse y confirmación formal: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Pantalla de éxito indicando que el contacto llegará desde el 55 6748 4566.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Reparar prueba social: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Restaurar widget Trustindex o implementar carrusel de casos reales.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236208" y="1353312"/>
            <a:ext cx="9144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03</a:t>
            </a:r>
            <a:endParaRPr b="0" i="0" sz="24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6236208" y="1920240"/>
            <a:ext cx="2286000" cy="186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Gobernanza &amp; Escalabilidad</a:t>
            </a:r>
            <a:endParaRPr b="1" i="0" sz="10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Mes 2 en adelante</a:t>
            </a:r>
            <a:endParaRPr b="1" i="0" sz="85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Migración de tracking CPL: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Implementar conversiones anónimas Server-to-Server sin PII en URL.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Gestor CMP de cookies: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Consentimiento previo para las ~70 etiquetas publicitarias.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Accesibilidad WCAG 2.2 AA: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Corregir foco de teclado, labels y contrastes de navegación.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Auditar canal de WhatsApp: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Establecer SLAs de primer contacto comercial y trazabilidad de leads.</a:t>
            </a:r>
            <a:endParaRPr b="1" i="0" sz="800">
              <a:solidFill>
                <a:srgbClr val="0F172A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457200" y="292608"/>
            <a:ext cx="8229600" cy="5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ANEXO A: RIESGO REGULATORIO &amp; JURÍDICO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Logotipos oficiales de CNBV, Buró y CONDUSEF en servidor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Hallazgo [UX-001]: Clasificado como tema regulatorio/legal fuera del flujo visual de conversión UX.</a:t>
            </a:r>
            <a:endParaRPr b="1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457200" y="1181100"/>
            <a:ext cx="8229600" cy="9144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238250"/>
            <a:ext cx="7680900" cy="8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3"/>
          <p:cNvSpPr/>
          <p:nvPr/>
        </p:nvSpPr>
        <p:spPr>
          <a:xfrm>
            <a:off x="457200" y="2247900"/>
            <a:ext cx="3977700" cy="2438400"/>
          </a:xfrm>
          <a:prstGeom prst="roundRect">
            <a:avLst>
              <a:gd fmla="val 6250" name="adj"/>
            </a:avLst>
          </a:prstGeom>
          <a:solidFill>
            <a:srgbClr val="F0F9FF"/>
          </a:solidFill>
          <a:ln cap="flat" cmpd="sng" w="9525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609600" y="2324100"/>
            <a:ext cx="3657600" cy="152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0369A1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EVIDENCIA TÉCNICA EN CÓDIGO [UX-001]</a:t>
            </a:r>
            <a:endParaRPr b="0" sz="1000">
              <a:solidFill>
                <a:srgbClr val="0369A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Texto en DOM: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'Nuestro Fideicomiso está avalado por:' junto a brand-logos.png.</a:t>
            </a:r>
            <a:endParaRPr b="0" sz="850">
              <a:solidFill>
                <a:srgbClr val="0369A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Ocultamiento con CSS: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Las clases .kc-css-506567 y .kc-css-743817 tienen display: none; en las hojas de estilo reales.</a:t>
            </a:r>
            <a:endParaRPr b="0" sz="850">
              <a:solidFill>
                <a:srgbClr val="0369A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Visibilidad a usuarios: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0×0 px en pantalla (invisible en desktop y móvil). El impacto visual en conversión es nulo.</a:t>
            </a:r>
            <a:endParaRPr b="0" sz="850">
              <a:solidFill>
                <a:srgbClr val="0369A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Visibilidad a robots: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Cualquier crawler, scraper o auditoría de texto plano lee y procesa el texto de aval oficial.</a:t>
            </a:r>
            <a:endParaRPr b="0" sz="850">
              <a:solidFill>
                <a:srgbClr val="0369A1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4709160" y="2247900"/>
            <a:ext cx="3977700" cy="2438400"/>
          </a:xfrm>
          <a:prstGeom prst="roundRect">
            <a:avLst>
              <a:gd fmla="val 6250" name="adj"/>
            </a:avLst>
          </a:prstGeom>
          <a:solidFill>
            <a:srgbClr val="FFF1F2"/>
          </a:solidFill>
          <a:ln cap="flat" cmpd="sng" w="9525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4861560" y="2324100"/>
            <a:ext cx="3657600" cy="173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IMPLICACIÓN LEGAL &amp; RECOMENDACIÓN</a:t>
            </a:r>
            <a:endParaRPr b="0" sz="100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Riesgo de ostentación indebida: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La CNBV y CONDUSEF no avalan fideicomisos comerciales de reparación de deuda privada; supervisan entidades financieras reguladas.</a:t>
            </a:r>
            <a:endParaRPr b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Sanciones potenciales: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Mantener logotipos institucionales en el servidor y DOM puede configurar publicidad engañosa bajo Ley de Instituciones de Crédito y PROFECO.</a:t>
            </a:r>
            <a:endParaRPr b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1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Acción jurídica recomendada: </a:t>
            </a:r>
            <a:r>
              <a:rPr b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Canalizar a la Dirección Legal de Baui Solutions S.A. de C.V. para purgar la imagen y el bloque del CMS inmediatamente, salvo que cuenten con contrato fiduciario con registro oficial verificable.</a:t>
            </a:r>
            <a:endParaRPr b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36" name="Google Shape;336;p23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 txBox="1"/>
          <p:nvPr/>
        </p:nvSpPr>
        <p:spPr>
          <a:xfrm>
            <a:off x="457200" y="292608"/>
            <a:ext cx="8229600" cy="53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ANEXO B: CANAL DE ATENCIÓN WHATSAPP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Canal conversacional de WhatsApp: NO EVALUABLE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Diseño de prueba con envío real autorizado [UX-140]. Ningún lead recibió contacto en la ventana observada.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457200" y="2697480"/>
            <a:ext cx="3977700" cy="1965900"/>
          </a:xfrm>
          <a:prstGeom prst="roundRect">
            <a:avLst>
              <a:gd fmla="val 7751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640080" y="2788920"/>
            <a:ext cx="3657600" cy="111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CONCLUSIÓN METODOLÓGICA</a:t>
            </a:r>
            <a:endParaRPr b="0" i="0" sz="10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Clasificación formal: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canal conversacional queda como 'No evaluable'.</a:t>
            </a:r>
            <a:endParaRPr b="0" i="0" sz="8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Variables controladas: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Mismo rango ($21k-$40k), día hábil y dentro de su horario publicado ('lunes a viernes de 9 a 7pm').</a:t>
            </a:r>
            <a:endParaRPr b="0" i="0" sz="8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Rigor de reporte: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La falta de contacto no prueba que nunca atiendan, solo que no respondieron en la ventana observada.</a:t>
            </a:r>
            <a:endParaRPr b="0" i="0" sz="80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4709160" y="2697480"/>
            <a:ext cx="3977700" cy="1965900"/>
          </a:xfrm>
          <a:prstGeom prst="roundRect">
            <a:avLst>
              <a:gd fmla="val 7751" name="adj"/>
            </a:avLst>
          </a:prstGeom>
          <a:solidFill>
            <a:srgbClr val="FEFCE8"/>
          </a:solidFill>
          <a:ln cap="flat" cmpd="sng" w="14300">
            <a:solidFill>
              <a:srgbClr val="FEF0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4892040" y="2788920"/>
            <a:ext cx="3657600" cy="124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PENDIENTES DE VALIDAR CON EL CLIENTE</a:t>
            </a:r>
            <a:endParaRPr b="0" i="0" sz="10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Tipo de ruteo: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¿El primer contacto es manual por asesores o mediante bot automatizado?</a:t>
            </a:r>
            <a:endParaRPr b="0" i="0" sz="8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Acuerdo de Nivel de Servicio (SLA):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¿Cuál es el tiempo promedio de respuesta tras la recepción del lead?</a:t>
            </a:r>
            <a:endParaRPr b="0" i="0" sz="8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• Tasa de pérdida comercial: </a:t>
            </a:r>
            <a:r>
              <a:rPr b="0" i="0" lang="en-US" sz="80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¿Qué porcentaje de leads queda sin contactar por saturación o descarte algorítmico?</a:t>
            </a:r>
            <a:endParaRPr b="0" i="0" sz="80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graphicFrame>
        <p:nvGraphicFramePr>
          <p:cNvPr id="346" name="Google Shape;346;p24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{CBB391D5-48B1-473C-8D60-86D48D39CEB4}</a:tableStyleId>
              </a:tblPr>
              <a:tblGrid>
                <a:gridCol w="822950"/>
                <a:gridCol w="1097275"/>
                <a:gridCol w="1371600"/>
                <a:gridCol w="1645925"/>
                <a:gridCol w="1280150"/>
                <a:gridCol w="2011675"/>
              </a:tblGrid>
              <a:tr h="42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Brazo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Lead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Teléfono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Paso 2 (Acreedores)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Hora Envío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highlight>
                            <a:srgbClr val="0F172A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Resultado Observado</a:t>
                      </a:r>
                      <a:endParaRPr b="1" sz="850">
                        <a:solidFill>
                          <a:srgbClr val="FFFFFF"/>
                        </a:solidFill>
                        <a:highlight>
                          <a:srgbClr val="0F172A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solidFill>
                      <a:srgbClr val="0F172A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0F172A"/>
                          </a:solidFill>
                          <a:highlight>
                            <a:srgbClr val="F8FAFC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Brazo A</a:t>
                      </a:r>
                      <a:endParaRPr b="1" sz="850">
                        <a:solidFill>
                          <a:srgbClr val="0F172A"/>
                        </a:solidFill>
                        <a:highlight>
                          <a:srgbClr val="F8FAFC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Amauri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220 680 6340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Abandonado tras Paso 1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8FAFC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12:01 h (CDMX)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8FAFC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E11D48"/>
                          </a:solidFill>
                          <a:highlight>
                            <a:srgbClr val="FFF1F2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SIN CONTACTO en ventana</a:t>
                      </a:r>
                      <a:endParaRPr b="1" sz="850">
                        <a:solidFill>
                          <a:srgbClr val="E11D48"/>
                        </a:solidFill>
                        <a:highlight>
                          <a:srgbClr val="FFF1F2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1F2"/>
                    </a:solidFill>
                  </a:tcPr>
                </a:tc>
              </a:tr>
              <a:tr h="426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0F172A"/>
                          </a:solidFill>
                          <a:highlight>
                            <a:srgbClr val="FFFFFF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Brazo B</a:t>
                      </a:r>
                      <a:endParaRPr b="1" sz="850">
                        <a:solidFill>
                          <a:srgbClr val="0F172A"/>
                        </a:solidFill>
                        <a:highlight>
                          <a:srgbClr val="FFFFFF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Carlos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55 7900 2713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Completado con acreedores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334155"/>
                          </a:solidFill>
                          <a:highlight>
                            <a:srgbClr val="FFFFFF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12:50 h (CDMX)</a:t>
                      </a:r>
                      <a:endParaRPr b="0" sz="850">
                        <a:solidFill>
                          <a:srgbClr val="334155"/>
                        </a:solidFill>
                        <a:highlight>
                          <a:srgbClr val="FFFFFF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E11D48"/>
                          </a:solidFill>
                          <a:highlight>
                            <a:srgbClr val="FFF1F2"/>
                          </a:highlight>
                          <a:latin typeface="Nunito Sans"/>
                          <a:ea typeface="Nunito Sans"/>
                          <a:cs typeface="Nunito Sans"/>
                          <a:sym typeface="Nunito Sans"/>
                        </a:rPr>
                        <a:t>SIN CONTACTO en ventana</a:t>
                      </a:r>
                      <a:endParaRPr b="1" sz="850">
                        <a:solidFill>
                          <a:srgbClr val="E11D48"/>
                        </a:solidFill>
                        <a:highlight>
                          <a:srgbClr val="FFF1F2"/>
                        </a:highlight>
                        <a:latin typeface="Nunito Sans"/>
                        <a:ea typeface="Nunito Sans"/>
                        <a:cs typeface="Nunito Sans"/>
                        <a:sym typeface="Nunito San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347" name="Google Shape;347;p24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