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3B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0AFB8"/>
                </a:solidFill>
                <a:latin typeface="Arial"/>
              </a:defRPr>
            </a:pPr>
            <a:r>
              <a:t>t2ó México  ·  Digital Growth &amp;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AUDITORÍA UX &amp; CRO</a:t>
            </a:r>
          </a:p>
          <a:p>
            <a:pPr>
              <a:spcBef>
                <a:spcPts val="600"/>
              </a:spcBef>
              <a:defRPr sz="1800" b="0">
                <a:solidFill>
                  <a:srgbClr val="42BCE2"/>
                </a:solidFill>
                <a:latin typeface="Arial"/>
              </a:defRPr>
            </a:pPr>
            <a:r>
              <a:t>Evaluación Integral de Conversión, Accesibilidad y Privacidad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  <a:latin typeface="Arial"/>
              </a:defRPr>
            </a:pPr>
            <a:r>
              <a:t>Sitio: mejoraburo.com.mx  ·  Razón social: Baui Solutions S.A. de C.V.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474720"/>
            <a:ext cx="7680960" cy="914400"/>
          </a:xfrm>
          <a:prstGeom prst="roundRect">
            <a:avLst/>
          </a:prstGeom>
          <a:solidFill>
            <a:srgbClr val="232B36"/>
          </a:solidFill>
          <a:ln w="12700">
            <a:solidFill>
              <a:srgbClr val="30A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Septiembre 2026  |  Entregable Ejecutivo de Diagnóstico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Metodología: Multi-auditor de IA (Gemini, gpt-6-astra, Opus 5) con verificación cruzada en navegador Chromium/Playwright, inspección DOM computado y suite normativa axe-core 4.10.2.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AUDITORÍA UX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Objetivo de la intervención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450" b="0">
                <a:solidFill>
                  <a:srgbClr val="1E293B"/>
                </a:solidFill>
                <a:latin typeface="Arial"/>
              </a:rPr>
              <a:t>Realizar un diagnóstico exhaustivo e interdisciplinario sobre el sitio </a:t>
            </a:r>
            <a:r>
              <a:rPr sz="1450" b="1">
                <a:solidFill>
                  <a:srgbClr val="00386E"/>
                </a:solidFill>
                <a:latin typeface="Arial"/>
              </a:rPr>
              <a:t>mejoraburo.com.mx</a:t>
            </a:r>
            <a:r>
              <a:rPr sz="1450" b="0">
                <a:solidFill>
                  <a:srgbClr val="1E293B"/>
                </a:solidFill>
                <a:latin typeface="Arial"/>
              </a:rPr>
              <a:t> que nos permita </a:t>
            </a:r>
            <a:r>
              <a:rPr sz="1450" b="1">
                <a:solidFill>
                  <a:srgbClr val="313B48"/>
                </a:solidFill>
                <a:latin typeface="Arial"/>
              </a:rPr>
              <a:t>identificar fricciones de conversión, vulnerabilidades de cumplimiento y riesgos de confianza en el embudo de captación de prospectos</a:t>
            </a:r>
            <a:r>
              <a:rPr sz="1450" b="0">
                <a:solidFill>
                  <a:srgbClr val="1E293B"/>
                </a:solidFill>
                <a:latin typeface="Arial"/>
              </a:rPr>
              <a:t>. A partir de una lectura cruzada entre </a:t>
            </a:r>
            <a:r>
              <a:rPr sz="1450" b="1">
                <a:solidFill>
                  <a:srgbClr val="30AFB8"/>
                </a:solidFill>
                <a:latin typeface="Arial"/>
              </a:rPr>
              <a:t>diseño de producto, accesibilidad WCAG 2.2, protección de datos personales y rendimiento percibido</a:t>
            </a:r>
            <a:r>
              <a:rPr sz="1450" b="0">
                <a:solidFill>
                  <a:srgbClr val="1E293B"/>
                </a:solidFill>
                <a:latin typeface="Arial"/>
              </a:rPr>
              <a:t>, buscamos destrabar las barreras críticas de captación, salvaguardar la legitimidad de la marca y trazar un roadmap de optimización con </a:t>
            </a:r>
            <a:r>
              <a:rPr sz="1450" b="1">
                <a:solidFill>
                  <a:srgbClr val="8154F0"/>
                </a:solidFill>
                <a:latin typeface="Arial"/>
              </a:rPr>
              <a:t>mayor tasa de conversión, menor exposición regulatoria y máxima transparencia hacia el usuario</a:t>
            </a:r>
            <a:r>
              <a:rPr sz="1450" b="0">
                <a:solidFill>
                  <a:srgbClr val="1E293B"/>
                </a:solidFill>
                <a:latin typeface="Arial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474720"/>
            <a:ext cx="731520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FOCOS ESTRATÉGICOS DEL DIAGNÓSTICO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1. Conversión (CRO): Detección de puntos de fuga en el flujo de 2 pasos y fricción en captura de datos.</a:t>
            </a:r>
            <a:br/>
            <a:r>
              <a:t>2. Gobernanza &amp; Legal: Auditoría de consentimiento LFPDPPP, manejo de PII en frontend y términos.</a:t>
            </a:r>
            <a:br/>
            <a:r>
              <a:t>3. Accesibilidad (a11y): Evaluación WCAG 2.2 para garantizar inclusión y usabilidad en desktop y móvil.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METODOLOGÍA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Protocolo técnico de captura y triangulación multi-auditor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Combinación de emulación real de navegador, análisis de código en cliente y verificación cruzada sin sesgos.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386E"/>
                </a:solidFill>
                <a:latin typeface="Arial"/>
              </a:defRPr>
            </a:pPr>
            <a:r>
              <a:t>Entorno &amp; Herramientas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1E293B"/>
                </a:solidFill>
                <a:latin typeface="Arial"/>
              </a:rPr>
              <a:t>Navegador real: </a:t>
            </a:r>
            <a:r>
              <a:rPr sz="900">
                <a:solidFill>
                  <a:srgbClr val="64748B"/>
                </a:solidFill>
                <a:latin typeface="Arial"/>
              </a:rPr>
              <a:t>Chromium Headless vía Playwright v1.63.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1E293B"/>
                </a:solidFill>
                <a:latin typeface="Arial"/>
              </a:rPr>
              <a:t>Inspección en vivo: </a:t>
            </a:r>
            <a:r>
              <a:rPr sz="900">
                <a:solidFill>
                  <a:srgbClr val="64748B"/>
                </a:solidFill>
                <a:latin typeface="Arial"/>
              </a:rPr>
              <a:t>Chrome DevTools Protocol (CDP) para árbol de accesibilidad.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1E293B"/>
                </a:solidFill>
                <a:latin typeface="Arial"/>
              </a:rPr>
              <a:t>Motor normativo: </a:t>
            </a:r>
            <a:r>
              <a:rPr sz="900">
                <a:solidFill>
                  <a:srgbClr val="64748B"/>
                </a:solidFill>
                <a:latin typeface="Arial"/>
              </a:rPr>
              <a:t>axe-core v4.10.2 (WCAG 2.1/2.2 AA).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1E293B"/>
                </a:solidFill>
                <a:latin typeface="Arial"/>
              </a:rPr>
              <a:t>Viewports estándar: </a:t>
            </a:r>
            <a:r>
              <a:rPr sz="900">
                <a:solidFill>
                  <a:srgbClr val="64748B"/>
                </a:solidFill>
                <a:latin typeface="Arial"/>
              </a:rPr>
              <a:t>Desktop 1440×900 y Móvil 390×844 exactos.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64408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29000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386E"/>
                </a:solidFill>
                <a:latin typeface="Arial"/>
              </a:defRPr>
            </a:pPr>
            <a:r>
              <a:t>Triangulación Multi-Auditor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1E293B"/>
                </a:solidFill>
                <a:latin typeface="Arial"/>
              </a:rPr>
              <a:t>Gemini 3.8 Flash: </a:t>
            </a:r>
            <a:r>
              <a:rPr sz="900">
                <a:solidFill>
                  <a:srgbClr val="64748B"/>
                </a:solidFill>
                <a:latin typeface="Arial"/>
              </a:rPr>
              <a:t>Evidencia visual, teclado (39 tabs), mediciones CSS y contraste.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1E293B"/>
                </a:solidFill>
                <a:latin typeface="Arial"/>
              </a:rPr>
              <a:t>gpt-6-astra (Codex): </a:t>
            </a:r>
            <a:r>
              <a:rPr sz="900">
                <a:solidFill>
                  <a:srgbClr val="64748B"/>
                </a:solidFill>
                <a:latin typeface="Arial"/>
              </a:rPr>
              <a:t>Marco regulatorio mexicano, LFPDPPP, CONDUSEF y competencia.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1E293B"/>
                </a:solidFill>
                <a:latin typeface="Arial"/>
              </a:rPr>
              <a:t>Opus 5 (Claude Code): </a:t>
            </a:r>
            <a:r>
              <a:rPr sz="900">
                <a:solidFill>
                  <a:srgbClr val="64748B"/>
                </a:solidFill>
                <a:latin typeface="Arial"/>
              </a:rPr>
              <a:t>Envío de prueba autorizado, trazado del paso 2 oculto y cookies.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1E293B"/>
                </a:solidFill>
                <a:latin typeface="Arial"/>
              </a:rPr>
              <a:t>Corrección cruzada: </a:t>
            </a:r>
            <a:r>
              <a:rPr sz="900">
                <a:solidFill>
                  <a:srgbClr val="64748B"/>
                </a:solidFill>
                <a:latin typeface="Arial"/>
              </a:rPr>
              <a:t>Revisión sistemática que depuró falsos positivos entre agentes.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71616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6208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386E"/>
                </a:solidFill>
                <a:latin typeface="Arial"/>
              </a:defRPr>
            </a:pPr>
            <a:r>
              <a:t>Transparencia: Qué NO se probó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1E293B"/>
                </a:solidFill>
                <a:latin typeface="Arial"/>
              </a:rPr>
              <a:t>Canal WhatsApp: </a:t>
            </a:r>
            <a:r>
              <a:rPr sz="900">
                <a:solidFill>
                  <a:srgbClr val="64748B"/>
                </a:solidFill>
                <a:latin typeface="Arial"/>
              </a:rPr>
              <a:t>No evaluable: ningún asesor contactó a los dos leads enviados en ventana observada.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1E293B"/>
                </a:solidFill>
                <a:latin typeface="Arial"/>
              </a:rPr>
              <a:t>Área autenticada: </a:t>
            </a:r>
            <a:r>
              <a:rPr sz="900">
                <a:solidFill>
                  <a:srgbClr val="64748B"/>
                </a:solidFill>
                <a:latin typeface="Arial"/>
              </a:rPr>
              <a:t>No aplicable: el sitio opera 100% como landing de captación sin login.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1E293B"/>
                </a:solidFill>
                <a:latin typeface="Arial"/>
              </a:rPr>
              <a:t>Tratamiento en backend: </a:t>
            </a:r>
            <a:r>
              <a:rPr sz="900">
                <a:solidFill>
                  <a:srgbClr val="64748B"/>
                </a:solidFill>
                <a:latin typeface="Arial"/>
              </a:rPr>
              <a:t>Fuera de alcance: auditado lo observable en cliente y 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SÍNTESIS EJECUTIVA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5 conclusiones críticas sobre el estado actual del sitio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Los hallazgos de mayor impacto que definen la viabilidad comercial y legal del embudo.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82296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0AFB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243584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313B48"/>
                </a:solidFill>
                <a:latin typeface="Arial"/>
              </a:rPr>
              <a:t>Consentimiento inexistente en el formulario  </a:t>
            </a:r>
            <a:r>
              <a:rPr sz="850" b="1">
                <a:solidFill>
                  <a:srgbClr val="DC3232"/>
                </a:solidFill>
                <a:latin typeface="Arial"/>
              </a:rPr>
              <a:t>[UX-136]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44752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La casilla que autoriza el contacto por WhatsApp tiene 'display:none' (0×0 px) y no es obligatoria. El 100% de los leads se envían y contactan sin registrar consentimiento demostrable bajo LFPDPPP.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01952"/>
            <a:ext cx="82296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0AFB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56816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313B48"/>
                </a:solidFill>
                <a:latin typeface="Arial"/>
              </a:rPr>
              <a:t>El embudo real tiene un Paso 2 oculto  </a:t>
            </a:r>
            <a:r>
              <a:rPr sz="850" b="1">
                <a:solidFill>
                  <a:srgbClr val="DC3232"/>
                </a:solidFill>
                <a:latin typeface="Arial"/>
              </a:rPr>
              <a:t>[UX-134]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57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Tras captar 4 datos iniciales, el usuario es redirigido sin aviso a '/acreedores-homepage/' con 43 casillas de deudas nominales y compras de cartera, provocando abandono no medido.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15184"/>
            <a:ext cx="82296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06624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0AFB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70048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313B48"/>
                </a:solidFill>
                <a:latin typeface="Arial"/>
              </a:rPr>
              <a:t>Exposición de PII en cookies y redes de afiliados  </a:t>
            </a:r>
            <a:r>
              <a:rPr sz="850" b="1">
                <a:solidFill>
                  <a:srgbClr val="DC3232"/>
                </a:solidFill>
                <a:latin typeface="Arial"/>
              </a:rPr>
              <a:t>[UX-153 / 151]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71216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Cookie 'vik_user_data' almacena nombre, teléfono y deudas en JSON plano accesible por ~70 scripts de terceros. Además, la PII se envía en URLs a redes de afiliados CPL (Doaff/Keitaro).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28416"/>
            <a:ext cx="82296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19856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0AFB8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38328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313B48"/>
                </a:solidFill>
                <a:latin typeface="Arial"/>
              </a:rPr>
              <a:t>Prueba social y credibilidad jurídica rotas  </a:t>
            </a:r>
            <a:r>
              <a:rPr sz="850" b="1">
                <a:solidFill>
                  <a:srgbClr val="DC3232"/>
                </a:solidFill>
                <a:latin typeface="Arial"/>
              </a:rPr>
              <a:t>[UX-005 / 006]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584448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La sección de testimoniales está totalmente vacía por un widget de Trustindex roto; los Términos y Condiciones corresponden a un marketplace de compraventa entre terceros ajeno a finanzas.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41648"/>
            <a:ext cx="82296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33088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0AFB8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96512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313B48"/>
                </a:solidFill>
                <a:latin typeface="Arial"/>
              </a:rPr>
              <a:t>Barreras severas de accesibilidad y foco  </a:t>
            </a:r>
            <a:r>
              <a:rPr sz="850" b="1">
                <a:solidFill>
                  <a:srgbClr val="D97706"/>
                </a:solidFill>
                <a:latin typeface="Arial"/>
              </a:rPr>
              <a:t>[UX-002 / 008]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297680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7 violaciones normativas axe-core (select sin label); tabulación de teclado invertida que enfoca el formulario antes del menú, y 36 de 39 controles interactivos sin foco visual.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3B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73152" cy="1463040"/>
          </a:xfrm>
          <a:prstGeom prst="rect">
            <a:avLst/>
          </a:prstGeom>
          <a:solidFill>
            <a:srgbClr val="30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749807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30AFB8"/>
                </a:solidFill>
                <a:latin typeface="Arial"/>
              </a:defRPr>
            </a:pPr>
            <a:r>
              <a:t>SECCIÓN 01</a:t>
            </a:r>
          </a:p>
          <a:p>
            <a:pPr>
              <a:spcAft>
                <a:spcPts val="8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EL EMBUDO DE CONVERSIÓN</a:t>
            </a:r>
          </a:p>
          <a:p>
            <a:pPr>
              <a:defRPr sz="1200">
                <a:solidFill>
                  <a:srgbClr val="42BCE2"/>
                </a:solidFill>
                <a:latin typeface="Arial"/>
              </a:defRPr>
            </a:pPr>
            <a:r>
              <a:t>De un formulario de contacto aparente a un perfil patrimonial de deuda en dos pasos.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EL EMBUDO DE CONVERSIÓN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El embudo real: 2 pasos y el segundo estaba oculto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El usuario cree completar un contacto rápido y es redirigido a un inventario exhaustivo de acreedores.</a:t>
            </a:r>
          </a:p>
        </p:txBody>
      </p:sp>
      <p:pic>
        <p:nvPicPr>
          <p:cNvPr id="3" name="Picture 2" descr="laptop-acree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206240" cy="246440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846320" y="1234440"/>
            <a:ext cx="384048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1353312"/>
            <a:ext cx="3474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386E"/>
                </a:solidFill>
                <a:latin typeface="Arial"/>
              </a:defRPr>
            </a:pPr>
            <a:r>
              <a:t>ANATOMÍA DE LA FRICCIÓN (UX-134 / UX-135)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Paso 1 (Home): </a:t>
            </a:r>
            <a:r>
              <a:rPr sz="850">
                <a:solidFill>
                  <a:srgbClr val="1E293B"/>
                </a:solidFill>
              </a:rPr>
              <a:t>Capta 4 datos personales bajo la apariencia de una consulta rápida sin compromiso.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Paso 2 (/acreedores-homepage/): </a:t>
            </a:r>
            <a:r>
              <a:rPr sz="850">
                <a:solidFill>
                  <a:srgbClr val="1E293B"/>
                </a:solidFill>
              </a:rPr>
              <a:t>Redirección inmediata sin aviso previo. Exige seleccionar entre 43 casillas de bancos, fintechs y compras de cartera.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Escalada de sensibilidad: </a:t>
            </a:r>
            <a:r>
              <a:rPr sz="850">
                <a:solidFill>
                  <a:srgbClr val="1E293B"/>
                </a:solidFill>
              </a:rPr>
              <a:t>Pasa de un rango aproximado de ingresos a una radiografía patrimonial completa de quién le está cobrando.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Sin progreso ni salida (UX-137): </a:t>
            </a:r>
            <a:r>
              <a:rPr sz="850">
                <a:solidFill>
                  <a:srgbClr val="1E293B"/>
                </a:solidFill>
              </a:rPr>
              <a:t>No indica 'Paso 2 de 2', no tiene buscador y obliga a un scroll móvil de 2,931 px (~3.5 pantallas).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Vulnerabilidad de enlace (UX-139): </a:t>
            </a:r>
            <a:r>
              <a:rPr sz="850">
                <a:solidFill>
                  <a:srgbClr val="1E293B"/>
                </a:solidFill>
              </a:rPr>
              <a:t>La relación depende de la cookie 'vik_user_data'. En modo incógnito o si se borran cookies, el paso 2 se desvincula en silencio.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CONSENTIMIENTO &amp; PRIVACIDAD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El consentimiento que no existe: casilla en display:none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Hallazgo estrella [UX-136]: La empresa contacta a los leads sin registrar consentimiento auditable.</a:t>
            </a:r>
          </a:p>
        </p:txBody>
      </p:sp>
      <p:pic>
        <p:nvPicPr>
          <p:cNvPr id="3" name="Picture 2" descr="laptop-formulario-ll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206240" cy="246440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846320" y="1234440"/>
            <a:ext cx="384048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1353312"/>
            <a:ext cx="3474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DC3232"/>
                </a:solidFill>
                <a:latin typeface="Arial"/>
              </a:defRPr>
            </a:pPr>
            <a:r>
              <a:t>EVIDENCIA TÉCNICA Y NORMATIVA [UX-136]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Texto plano sin casilla: </a:t>
            </a:r>
            <a:r>
              <a:rPr sz="850">
                <a:solidFill>
                  <a:srgbClr val="1E293B"/>
                </a:solidFill>
              </a:rPr>
              <a:t>La frase 'Acepto ser contactado a través de WhatsApp...' se muestra como texto estático. El &lt;input type='checkbox'&gt; tiene display:none y mide 0×0 px.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Casilla NO obligatoria: </a:t>
            </a:r>
            <a:r>
              <a:rPr sz="850">
                <a:solidFill>
                  <a:srgbClr val="1E293B"/>
                </a:solidFill>
              </a:rPr>
              <a:t>El atributo required no está presente en el checkbox. El formulario se envía exactamente igual sin importar el consentimiento.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Contraste demoledor: </a:t>
            </a:r>
            <a:r>
              <a:rPr sz="850">
                <a:solidFill>
                  <a:srgbClr val="1E293B"/>
                </a:solidFill>
              </a:rPr>
              <a:t>En el Paso 2 (/acreedores-homepage/) el sitio presenta 43 casillas perfectamente funcionales y visibles. La capacidad técnica existe; fue omitida en el consentimiento.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Impacto regulatorio LFPDPPP: </a:t>
            </a:r>
            <a:r>
              <a:rPr sz="850">
                <a:solidFill>
                  <a:srgbClr val="1E293B"/>
                </a:solidFill>
              </a:rPr>
              <a:t>La empresa carece de traza de consentimiento expreso para tratar datos telefónicos y financieros sensibles.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Recomendación de producto: </a:t>
            </a:r>
            <a:r>
              <a:rPr sz="850">
                <a:solidFill>
                  <a:srgbClr val="1E293B"/>
                </a:solidFill>
              </a:rPr>
              <a:t>Implementar casilla nativa visible, operable por teclado y obligatoria, con modal previo de términos y aviso antes del envío.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FORMULARIO &amp; CAPTACIÓN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4 campos obligatorios sin contexto ni aviso contiguo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Discrepancia entre la hipótesis preliminar de 1 campo y la recolección real en pantalla.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0386E"/>
                </a:solidFill>
                <a:latin typeface="Arial"/>
              </a:defRPr>
            </a:pPr>
            <a:r>
              <a:t>INPUT / CAPTURA REAL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Nombre completo (*): </a:t>
            </a:r>
            <a:r>
              <a:rPr sz="850">
                <a:solidFill>
                  <a:srgbClr val="64748B"/>
                </a:solidFill>
              </a:rPr>
              <a:t>Campo de texto obligatorio.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Correo electrónico (*): </a:t>
            </a:r>
            <a:r>
              <a:rPr sz="850">
                <a:solidFill>
                  <a:srgbClr val="64748B"/>
                </a:solidFill>
              </a:rPr>
              <a:t>Obligatorio (propósito no aclarado si el contacto es vía WhatsApp).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WhatsApp (+52) (*): </a:t>
            </a:r>
            <a:r>
              <a:rPr sz="850">
                <a:solidFill>
                  <a:srgbClr val="64748B"/>
                </a:solidFill>
              </a:rPr>
              <a:t>Obligatorio con prefijo telefónico fijo.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Rango aproximado (*): </a:t>
            </a:r>
            <a:r>
              <a:rPr sz="850">
                <a:solidFill>
                  <a:srgbClr val="64748B"/>
                </a:solidFill>
              </a:rPr>
              <a:t>Selector con 6 rangos de ingresos mensuales ($0-$20k hasta &gt;$250k).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64408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29000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0386E"/>
                </a:solidFill>
                <a:latin typeface="Arial"/>
              </a:defRPr>
            </a:pPr>
            <a:r>
              <a:t>DEFECTOS DE USABILIDAD &amp; A11Y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Violación axe select-name: </a:t>
            </a:r>
            <a:r>
              <a:rPr sz="850">
                <a:solidFill>
                  <a:srgbClr val="64748B"/>
                </a:solidFill>
              </a:rPr>
              <a:t>El elemento &lt;select id='amount'&gt; no tiene etiqueta &lt;label&gt; ni aria-label.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Aviso de privacidad ausente: </a:t>
            </a:r>
            <a:r>
              <a:rPr sz="850">
                <a:solidFill>
                  <a:srgbClr val="64748B"/>
                </a:solidFill>
              </a:rPr>
              <a:t>Ningún enlace contiguo al formulario (UX-004); solo en el footer a &gt;2,000 px.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Temor en público endeudado: </a:t>
            </a:r>
            <a:r>
              <a:rPr sz="850">
                <a:solidFill>
                  <a:srgbClr val="64748B"/>
                </a:solidFill>
              </a:rPr>
              <a:t>El usuario asume riesgo de ser exhibido en su empleo si entrega correo sin garantías.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71616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6208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0386E"/>
                </a:solidFill>
                <a:latin typeface="Arial"/>
              </a:defRPr>
            </a:pPr>
            <a:r>
              <a:t>POR QUÉ FUNCIONA EL REDISEÑO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Reducción de fricción: </a:t>
            </a:r>
            <a:r>
              <a:rPr sz="850">
                <a:solidFill>
                  <a:srgbClr val="64748B"/>
                </a:solidFill>
              </a:rPr>
              <a:t>Hacer opcional el correo y justificar la necesidad del rango de ingresos eleva la conversión.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Aviso simplificado visible: </a:t>
            </a:r>
            <a:r>
              <a:rPr sz="850">
                <a:solidFill>
                  <a:srgbClr val="64748B"/>
                </a:solidFill>
              </a:rPr>
              <a:t>Mostrar 'Tus datos están protegidos bajo nuestro Aviso de Privacidad' genera certidumbre.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Labels semánticos accesibles: </a:t>
            </a:r>
            <a:r>
              <a:rPr sz="850">
                <a:solidFill>
                  <a:srgbClr val="64748B"/>
                </a:solidFill>
              </a:rPr>
              <a:t>Permiten que tecnologías de asistencia identifiquen cada campo sin ambigüedad.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CONFIANZA &amp; PRUEBA SOCIAL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Prueba social vacía: testimoniales rotos e insignia sin link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En servicios de reparación de deuda, la prueba social es el factor #1 para vencer el escepticismo.</a:t>
            </a:r>
          </a:p>
        </p:txBody>
      </p:sp>
      <p:pic>
        <p:nvPicPr>
          <p:cNvPr id="3" name="Picture 2" descr="phone-testimon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2011680" cy="3892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108960" y="1234440"/>
            <a:ext cx="557784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0" y="1353312"/>
            <a:ext cx="5212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386E"/>
                </a:solidFill>
                <a:latin typeface="Arial"/>
              </a:defRPr>
            </a:pPr>
            <a:r>
              <a:t>DIAGNÓSTICO DE CREDIBILIDAD [UX-005 / UX-012]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• Sección de testimoniales desierta (UX-005): </a:t>
            </a:r>
            <a:r>
              <a:rPr sz="850">
                <a:solidFill>
                  <a:srgbClr val="1E293B"/>
                </a:solidFill>
              </a:rPr>
              <a:t>El bloque '#testimoniales' promete '¡Nuestros clientes no dejan de hablar de nosotros!'. Sin embargo, el script de Trustindex falla con errores 404 e inyecta un simple &lt;div&gt;&lt;/div&gt; vacío. El visitante solo ve un fondo azul sin reseñas.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• Insignia de Google sin verificar (UX-012): </a:t>
            </a:r>
            <a:r>
              <a:rPr sz="850">
                <a:solidFill>
                  <a:srgbClr val="1E293B"/>
                </a:solidFill>
              </a:rPr>
              <a:t>En el Hero se muestra un badge que dice 'Google ★★★★★ 4910 reseñas &gt;'. La inspección confirmó que tiene href: null; no es interactivo ni conduce a Google Maps o Google Business Profile.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• Badges de Trustindex en footer: </a:t>
            </a:r>
            <a:r>
              <a:rPr sz="850">
                <a:solidFill>
                  <a:srgbClr val="1E293B"/>
                </a:solidFill>
              </a:rPr>
              <a:t>Insignias de 'SSL Seguro' y 'Certificado Seguro' sin hipervínculos de validación criptográfica.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• Impacto psicológico en el lead: </a:t>
            </a:r>
            <a:r>
              <a:rPr sz="850">
                <a:solidFill>
                  <a:srgbClr val="1E293B"/>
                </a:solidFill>
              </a:rPr>
              <a:t>Un usuario con estrés financiero busca testimonios de personas reales con montos de quita comprobables. Un bloque roto genera sospecha inmediata de estafa o abandono.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• Recomendación inmediata: </a:t>
            </a:r>
            <a:r>
              <a:rPr sz="850">
                <a:solidFill>
                  <a:srgbClr val="1E293B"/>
                </a:solidFill>
              </a:rPr>
              <a:t>Reparar el widget de Trustindex o implementar un carrusel estático con casos de éxito reales (nombre de pila, deuda inicial, ahorro logrado y tiempo de resolución).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PROPUESTA DE VALOR &amp; TRANSPARENCIA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Promesa agresiva en Hero vs. Servicio educativo en FAQ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Disparidad de expectativas y ausencia de precios orientativos antes de capturar el contacto.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3977639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53312"/>
            <a:ext cx="3657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386E"/>
                </a:solidFill>
                <a:latin typeface="Arial"/>
              </a:defRPr>
            </a:pPr>
            <a:r>
              <a:t>LA PROMESA EN EL HERO (UX-085)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• Titular emocional llamativo: </a:t>
            </a:r>
            <a:r>
              <a:rPr sz="850">
                <a:solidFill>
                  <a:srgbClr val="1E293B"/>
                </a:solidFill>
              </a:rPr>
              <a:t>'Pagar menos al mes para olvidarse del estrés. ¡La educación financiera es todo!'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• Expectativa generada: </a:t>
            </a:r>
            <a:r>
              <a:rPr sz="850">
                <a:solidFill>
                  <a:srgbClr val="1E293B"/>
                </a:solidFill>
              </a:rPr>
              <a:t>El visitante infiere una reducción directa, reestructura con quita o refinanciamiento de sus mensualidades.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• La realidad en FAQ: </a:t>
            </a:r>
            <a:r>
              <a:rPr sz="850">
                <a:solidFill>
                  <a:srgbClr val="1E293B"/>
                </a:solidFill>
              </a:rPr>
              <a:t>En '¿Qué hacemos?' se define únicamente como 'educación y herramientas para organizar su panorama y tomar decisiones informadas'.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• Riesgo de frustración: </a:t>
            </a:r>
            <a:r>
              <a:rPr sz="850">
                <a:solidFill>
                  <a:srgbClr val="1E293B"/>
                </a:solidFill>
              </a:rPr>
              <a:t>Si el servicio es reparación de crédito mediante negociación de quitas, debe explicarse con claridad. Disfrazarlo de educación confunde al prospecto.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1234440"/>
            <a:ext cx="3977639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92040" y="1353312"/>
            <a:ext cx="3657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386E"/>
                </a:solidFill>
                <a:latin typeface="Arial"/>
              </a:defRPr>
            </a:pPr>
            <a:r>
              <a:t>OPACIDAD EN COSTOS (UX-087)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• Sin precios ni rangos publicados: </a:t>
            </a:r>
            <a:r>
              <a:rPr sz="850">
                <a:solidFill>
                  <a:srgbClr val="1E293B"/>
                </a:solidFill>
              </a:rPr>
              <a:t>La respuesta en FAQ afirma que 'los costos pueden variar según el perfil y los servicios que se elijan'.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• Asesoría inicial gratuita: </a:t>
            </a:r>
            <a:r>
              <a:rPr sz="850">
                <a:solidFill>
                  <a:srgbClr val="1E293B"/>
                </a:solidFill>
              </a:rPr>
              <a:t>Se declara sin costo, pero no se informa el esquema posterior (¿comisión sobre monto ahorrado? ¿cuota fija mensual?).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• Fricción comercial innecesaria: </a:t>
            </a:r>
            <a:r>
              <a:rPr sz="850">
                <a:solidFill>
                  <a:srgbClr val="1E293B"/>
                </a:solidFill>
              </a:rPr>
              <a:t>Obliga a una conversación por WhatsApp para conocer si el servicio es asequible, provocando abandono tardío del lead calificado.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• Recomendación: </a:t>
            </a:r>
            <a:r>
              <a:rPr sz="850">
                <a:solidFill>
                  <a:srgbClr val="1E293B"/>
                </a:solidFill>
              </a:rPr>
              <a:t>Publicar esquema orientativo de honorarios (ej. 'Cobramos un % únicamente sobre el descuento negociado') para precalificar prospectos.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3B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73152" cy="1463040"/>
          </a:xfrm>
          <a:prstGeom prst="rect">
            <a:avLst/>
          </a:prstGeom>
          <a:solidFill>
            <a:srgbClr val="30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749807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30AFB8"/>
                </a:solidFill>
                <a:latin typeface="Arial"/>
              </a:defRPr>
            </a:pPr>
            <a:r>
              <a:t>SECCIÓN 02</a:t>
            </a:r>
          </a:p>
          <a:p>
            <a:pPr>
              <a:spcAft>
                <a:spcPts val="8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ACCESIBILIDAD &amp; RESPONSIVE</a:t>
            </a:r>
          </a:p>
          <a:p>
            <a:pPr>
              <a:defRPr sz="1200">
                <a:solidFill>
                  <a:srgbClr val="42BCE2"/>
                </a:solidFill>
                <a:latin typeface="Arial"/>
              </a:defRPr>
            </a:pPr>
            <a:r>
              <a:t>Evaluación técnica WCAG 2.2, recorrido con teclado y experiencia en dispositivos móviles.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ACCESIBILIDAD WCAG 2.2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axe-core 4.10.2: 7 violaciones normativas detectadas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Evaluación automatizada y asistida por Chromium Headless. Estado: No conforme con WCAG 2.2 nivel AA.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237744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2103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0386E"/>
                </a:solidFill>
                <a:latin typeface="Arial"/>
              </a:defRPr>
            </a:pPr>
            <a:r>
              <a:t>DISTRIBUCIÓN AXE</a:t>
            </a:r>
          </a:p>
          <a:p>
            <a:pPr>
              <a:spcAft>
                <a:spcPts val="200"/>
              </a:spcAft>
              <a:defRPr sz="1400" b="1">
                <a:solidFill>
                  <a:srgbClr val="DC3232"/>
                </a:solidFill>
              </a:defRPr>
            </a:pPr>
            <a:r>
              <a:t>2 Críticas</a:t>
            </a:r>
          </a:p>
          <a:p>
            <a:pPr>
              <a:spcAft>
                <a:spcPts val="200"/>
              </a:spcAft>
              <a:defRPr sz="1400" b="1">
                <a:solidFill>
                  <a:srgbClr val="D97706"/>
                </a:solidFill>
              </a:defRPr>
            </a:pPr>
            <a:r>
              <a:t>3 Serias</a:t>
            </a:r>
          </a:p>
          <a:p>
            <a:pPr>
              <a:spcAft>
                <a:spcPts val="800"/>
              </a:spcAft>
              <a:defRPr sz="1400" b="1">
                <a:solidFill>
                  <a:srgbClr val="42BCE2"/>
                </a:solidFill>
              </a:defRPr>
            </a:pPr>
            <a:r>
              <a:t>2 Moderadas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Total: 7 reglas violadas</a:t>
            </a:r>
            <a:br/>
            <a:r>
              <a:t>Nodos afectados: &gt;22 elementos en DOM.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234440"/>
            <a:ext cx="566928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1353312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386E"/>
                </a:solidFill>
                <a:latin typeface="Arial"/>
              </a:defRPr>
            </a:pPr>
            <a:r>
              <a:t>DESGLOSE DE REGLAS INCUMPLIDAS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select-name [Crítica]: </a:t>
            </a:r>
            <a:r>
              <a:rPr sz="850">
                <a:solidFill>
                  <a:srgbClr val="1E293B"/>
                </a:solidFill>
              </a:rPr>
              <a:t>El elemento &lt;select id='amount'&gt; no cuenta con &lt;label&gt; ni aria-label asociado. Lector de pantalla no anuncia su función.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image-alt [Crítica]: </a:t>
            </a:r>
            <a:r>
              <a:rPr sz="850">
                <a:solidFill>
                  <a:srgbClr val="1E293B"/>
                </a:solidFill>
              </a:rPr>
              <a:t>Imágenes clave carecen de texto alternativo alt descriptivo (ej. brand-logos.png con alt='').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color-contrast [Seria]: </a:t>
            </a:r>
            <a:r>
              <a:rPr sz="850">
                <a:solidFill>
                  <a:srgbClr val="1E293B"/>
                </a:solidFill>
              </a:rPr>
              <a:t>15 nodos con contraste insuficiente (&lt;4.5:1). Enlaces del menú principal (#797984 sobre blanco) tienen ratio 4.3:1 (UX-010).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link-name [Seria]: </a:t>
            </a:r>
            <a:r>
              <a:rPr sz="850">
                <a:solidFill>
                  <a:srgbClr val="1E293B"/>
                </a:solidFill>
              </a:rPr>
              <a:t>Enlaces en la secuencia de tabulación carecen de texto discernible (enlace del logo y botones).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frame-title [Seria]: </a:t>
            </a:r>
            <a:r>
              <a:rPr sz="850">
                <a:solidFill>
                  <a:srgbClr val="1E293B"/>
                </a:solidFill>
              </a:rPr>
              <a:t>Múltiples elementos &lt;iframe&gt; técnicos y de mapas no tienen atributo title accesible (UX-013).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page-has-heading-one [Moderada]: </a:t>
            </a:r>
            <a:r>
              <a:rPr sz="850">
                <a:solidFill>
                  <a:srgbClr val="1E293B"/>
                </a:solidFill>
              </a:rPr>
              <a:t>La portada carece de un encabezado &lt;h1&gt; estructural; el hero usa jerarquías h2 o divs (UX-011).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ACCESIBILIDAD &amp; OPERABILIDAD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Navegación con teclado: 39 pasos, foco invertido y ciego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Evaluación paso a paso de navegación sin ratón mediante emulación interactiva de la tecla Tab.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D97706"/>
                </a:solidFill>
                <a:latin typeface="Arial"/>
              </a:defRPr>
            </a:pPr>
            <a:r>
              <a:t>ORDEN INVERTIDO [UX-007]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Foco arranca en formulario: </a:t>
            </a:r>
            <a:r>
              <a:rPr sz="850">
                <a:solidFill>
                  <a:srgbClr val="64748B"/>
                </a:solidFill>
              </a:rPr>
              <a:t>Al presionar Tab por primera vez, el cursor salta directo a #name en el Hero.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Menú al final de todo: </a:t>
            </a:r>
            <a:r>
              <a:rPr sz="850">
                <a:solidFill>
                  <a:srgbClr val="64748B"/>
                </a:solidFill>
              </a:rPr>
              <a:t>El menú principal y 'Saltar al contenido' solo reciben foco en los pasos 35 a 38, tras pasar por el footer.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Impacto: </a:t>
            </a:r>
            <a:r>
              <a:rPr sz="850">
                <a:solidFill>
                  <a:srgbClr val="64748B"/>
                </a:solidFill>
              </a:rPr>
              <a:t>Un usuario con discapacidad motriz no puede explorar las secciones de la página antes de completar datos.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64408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29000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DC3232"/>
                </a:solidFill>
                <a:latin typeface="Arial"/>
              </a:defRPr>
            </a:pPr>
            <a:r>
              <a:t>FOCO CIEGO [UX-008]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36 de 39 sin foco visible: </a:t>
            </a:r>
            <a:r>
              <a:rPr sz="850">
                <a:solidFill>
                  <a:srgbClr val="64748B"/>
                </a:solidFill>
              </a:rPr>
              <a:t>Los campos de formulario y botones tienen CSS 'outline: none;'. No hay anillo visible de foco.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Pérdida de ubicación: </a:t>
            </a:r>
            <a:r>
              <a:rPr sz="850">
                <a:solidFill>
                  <a:srgbClr val="64748B"/>
                </a:solidFill>
              </a:rPr>
              <a:t>El usuario no sabe en qué campo o enlace se encuentra activo al presionar Tab.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Solución: </a:t>
            </a:r>
            <a:r>
              <a:rPr sz="850">
                <a:solidFill>
                  <a:srgbClr val="64748B"/>
                </a:solidFill>
              </a:rPr>
              <a:t>Definir regla global :focus-visible con anillo de 2px de alto contraste (#00386e).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71616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6208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DC3232"/>
                </a:solidFill>
                <a:latin typeface="Arial"/>
              </a:defRPr>
            </a:pPr>
            <a:r>
              <a:t>BARRERAS CRÍTICAS [UX-003/13]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Checkbox inalcanzable: </a:t>
            </a:r>
            <a:r>
              <a:rPr sz="850">
                <a:solidFill>
                  <a:srgbClr val="64748B"/>
                </a:solidFill>
              </a:rPr>
              <a:t>Por tener display:none, el consentimiento de WhatsApp es omitido por el teclado.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Trampa en iframes (UX-013): </a:t>
            </a:r>
            <a:r>
              <a:rPr sz="850">
                <a:solidFill>
                  <a:srgbClr val="64748B"/>
                </a:solidFill>
              </a:rPr>
              <a:t>Pasos 27 a 34 quedan atrapados en 8 iframes técnicos de mapas y Stripe sin título.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Solución: </a:t>
            </a:r>
            <a:r>
              <a:rPr sz="850">
                <a:solidFill>
                  <a:srgbClr val="64748B"/>
                </a:solidFill>
              </a:rPr>
              <a:t>Poner tabindex='-1' a iframes invisibles y dar accesibilidad nativa al checkbox.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EXPERIENCIA RESPONSIVE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Móvil (390×844): Fortalezas observadas y áreas de ajuste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Rigor metodológico: documentamos lo que funciona impecable junto a las fricciones detectadas.</a:t>
            </a:r>
          </a:p>
        </p:txBody>
      </p:sp>
      <p:pic>
        <p:nvPicPr>
          <p:cNvPr id="3" name="Picture 2" descr="pho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2011680" cy="3892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834640" y="1234440"/>
            <a:ext cx="288036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71800" y="1353312"/>
            <a:ext cx="26060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16A34A"/>
                </a:solidFill>
                <a:latin typeface="Arial"/>
              </a:defRPr>
            </a:pPr>
            <a:r>
              <a:t>LO QUE FUNCIONA BIEN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✔ Cero scroll horizontal: </a:t>
            </a:r>
            <a:r>
              <a:rPr sz="850">
                <a:solidFill>
                  <a:srgbClr val="1E293B"/>
                </a:solidFill>
              </a:rPr>
              <a:t>scrollWidth: 390px == windowWidth: 390px. El viewport no tiene desbordamiento lateral.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✔ Cero popups invasivos: </a:t>
            </a:r>
            <a:r>
              <a:rPr sz="850">
                <a:solidFill>
                  <a:srgbClr val="1E293B"/>
                </a:solidFill>
              </a:rPr>
              <a:t>No existen modales bloqueantes, overlays engañosos ni ventanas emergentes al cargar.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✔ Carga inicial rápida: </a:t>
            </a:r>
            <a:r>
              <a:rPr sz="850">
                <a:solidFill>
                  <a:srgbClr val="1E293B"/>
                </a:solidFill>
              </a:rPr>
              <a:t>First Contentful Paint (FCP) de 1.8s y TTFB de 1.1s en condiciones estándar.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✔ Contraste en CTA principal: </a:t>
            </a:r>
            <a:r>
              <a:rPr sz="850">
                <a:solidFill>
                  <a:srgbClr val="1E293B"/>
                </a:solidFill>
              </a:rPr>
              <a:t>Botón '¡Comenzar!' (#ffffff sobre #00386e) con ratio 11.73:1 (Supera WCAG AAA).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97880" y="1234440"/>
            <a:ext cx="278892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353312"/>
            <a:ext cx="2514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D97706"/>
                </a:solidFill>
                <a:latin typeface="Arial"/>
              </a:defRPr>
            </a:pPr>
            <a:r>
              <a:t>ÁREAS DE AJUSTE MÓVIL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▲ 11 Touch targets &lt; 24px (UX-009): </a:t>
            </a:r>
            <a:r>
              <a:rPr sz="850">
                <a:solidFill>
                  <a:srgbClr val="1E293B"/>
                </a:solidFill>
              </a:rPr>
              <a:t>Enlaces legales y redes en footer tienen solo 20-22 px de alto (falla WCAG 2.2 Criterio 2.5.8).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▲ Scroll excesivo en acreedores: </a:t>
            </a:r>
            <a:r>
              <a:rPr sz="850">
                <a:solidFill>
                  <a:srgbClr val="1E293B"/>
                </a:solidFill>
              </a:rPr>
              <a:t>2,931 px de scroll vertical en el paso 2 con 43 casillas continuas sin agrupar ni colapsar.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313B48"/>
                </a:solidFill>
              </a:rPr>
              <a:t>▲ WhatsApp inaccesible en scroll: </a:t>
            </a:r>
            <a:r>
              <a:rPr sz="850">
                <a:solidFill>
                  <a:srgbClr val="1E293B"/>
                </a:solidFill>
              </a:rPr>
              <a:t>No existe botón flotante o persistente de WhatsApp en móvil (UX-132); queda a 5.4 pantallas de scroll.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3B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73152" cy="1463040"/>
          </a:xfrm>
          <a:prstGeom prst="rect">
            <a:avLst/>
          </a:prstGeom>
          <a:solidFill>
            <a:srgbClr val="30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749807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30AFB8"/>
                </a:solidFill>
                <a:latin typeface="Arial"/>
              </a:defRPr>
            </a:pPr>
            <a:r>
              <a:t>SECCIÓN 03</a:t>
            </a:r>
          </a:p>
          <a:p>
            <a:pPr>
              <a:spcAft>
                <a:spcPts val="8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DATOS, PRIVACIDAD &amp; CONFIANZA</a:t>
            </a:r>
          </a:p>
          <a:p>
            <a:pPr>
              <a:defRPr sz="1200">
                <a:solidFill>
                  <a:srgbClr val="42BCE2"/>
                </a:solidFill>
                <a:latin typeface="Arial"/>
              </a:defRPr>
            </a:pPr>
            <a:r>
              <a:t>Rastreadores de afiliados, persistencia de PII en cookies y consistencia legal regulatoria.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PROTECCIÓN DE DATOS &amp; PRIVACIDAD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La cookie vik_user_data: PII y acreedores sin protección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Vulnerabilidad crítica [UX-153]: Persistencia de datos sensibles en el cliente legible por scripts de terceros.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0386E"/>
                </a:solidFill>
                <a:latin typeface="Arial"/>
              </a:defRPr>
            </a:pPr>
            <a:r>
              <a:t>EL MECANISMO EN CLIENTE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Manejador wpcf7mailsent: </a:t>
            </a:r>
            <a:r>
              <a:rPr sz="850">
                <a:solidFill>
                  <a:srgbClr val="64748B"/>
                </a:solidFill>
              </a:rPr>
              <a:t>Un script inline en JavaScript cliente captura el evento de envío del formulario.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Serialización en JSON plano: </a:t>
            </a:r>
            <a:r>
              <a:rPr sz="850">
                <a:solidFill>
                  <a:srgbClr val="64748B"/>
                </a:solidFill>
              </a:rPr>
              <a:t>Itera sobre los inputs y guarda nombre, correo, WhatsApp, ingresos y la lista de acreedores acumulada.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Vigencia de 30 días: </a:t>
            </a:r>
            <a:r>
              <a:rPr sz="850">
                <a:solidFill>
                  <a:srgbClr val="64748B"/>
                </a:solidFill>
              </a:rPr>
              <a:t>Se escribe en document.cookie bajo el nombre 'vik_user_data' con expiración a un 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64408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29000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DC3232"/>
                </a:solidFill>
                <a:latin typeface="Arial"/>
              </a:defRPr>
            </a:pPr>
            <a:r>
              <a:t>LA VULNERABILIDAD TÉCNICA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Sin flag HttpOnly: </a:t>
            </a:r>
            <a:r>
              <a:rPr sz="850">
                <a:solidFill>
                  <a:srgbClr val="64748B"/>
                </a:solidFill>
              </a:rPr>
              <a:t>Al ser creada por JavaScript en el frontend, la cookie no puede protegerse con HttpOnly.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Acceso a ~70 scripts externos: </a:t>
            </a:r>
            <a:r>
              <a:rPr sz="850">
                <a:solidFill>
                  <a:srgbClr val="64748B"/>
                </a:solidFill>
              </a:rPr>
              <a:t>Cualquier etiqueta de rastreo (Meta, TikTok, Taboola, Criteo, TradeDesk, Reddit) puede leerla con document.cookie.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Tratamiento sin consentimiento: </a:t>
            </a:r>
            <a:r>
              <a:rPr sz="850">
                <a:solidFill>
                  <a:srgbClr val="64748B"/>
                </a:solidFill>
              </a:rPr>
              <a:t>Datos patrimoniales sensibles quedan expuestos a redes publicitarias externas.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71616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6208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6A34A"/>
                </a:solidFill>
                <a:latin typeface="Arial"/>
              </a:defRPr>
            </a:pPr>
            <a:r>
              <a:t>REMEDIACIÓN ARQUITECTURAL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Eliminación de la cookie: </a:t>
            </a:r>
            <a:r>
              <a:rPr sz="850">
                <a:solidFill>
                  <a:srgbClr val="64748B"/>
                </a:solidFill>
              </a:rPr>
              <a:t>No almacenar información personal identificable en el almacenamiento del cliente.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Sesión segura en servidor: </a:t>
            </a:r>
            <a:r>
              <a:rPr sz="850">
                <a:solidFill>
                  <a:srgbClr val="64748B"/>
                </a:solidFill>
              </a:rPr>
              <a:t>Utilizar identificadores de sesión opacos (tokens criptográficos) y resolver la identidad en backend.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Auditoría de scripts: </a:t>
            </a:r>
            <a:r>
              <a:rPr sz="850">
                <a:solidFill>
                  <a:srgbClr val="64748B"/>
                </a:solidFill>
              </a:rPr>
              <a:t>Implementar Content Security Policy (CSP) y gestor CMP que restrinja el acceso al contexto.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GOBERNANZA DE DATOS &amp; CRO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Transmisión de PII a redes de afiliados y alertas invasivas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Exposición de datos personales en cadenas de URL y fallos que muestran jerga técnica al usuario.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 b="1">
                <a:solidFill>
                  <a:srgbClr val="DC3232"/>
                </a:solidFill>
                <a:latin typeface="Arial"/>
              </a:defRPr>
            </a:pPr>
            <a:r>
              <a:t>POSTBACK EN QUERY STRING [UX-151]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Transmisión visible en URL: </a:t>
            </a:r>
            <a:r>
              <a:rPr sz="850">
                <a:solidFill>
                  <a:srgbClr val="64748B"/>
                </a:solidFill>
              </a:rPr>
              <a:t>Se dispara un pixel hacia 'mejoraburotracker.com' (Keitaro) con los parámetros: &amp;vname=..., &amp;vemail=... y &amp;vtel=...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Teléfono como ID de Lead: </a:t>
            </a:r>
            <a:r>
              <a:rPr sz="850">
                <a:solidFill>
                  <a:srgbClr val="64748B"/>
                </a:solidFill>
              </a:rPr>
              <a:t>Llamada a 'tracker2.doaffiliate.net?type=CPL' con comentario literal en código: //Lead ID sent by us, we use phone number as Lead ID.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Riesgo: </a:t>
            </a:r>
            <a:r>
              <a:rPr sz="850">
                <a:solidFill>
                  <a:srgbClr val="64748B"/>
                </a:solidFill>
              </a:rPr>
              <a:t>Datos personales viajan en peticiones GET, quedando registrados en logs de servidor, proxies e historial del navegador.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64408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29000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 b="1">
                <a:solidFill>
                  <a:srgbClr val="D97706"/>
                </a:solidFill>
                <a:latin typeface="Arial"/>
              </a:defRPr>
            </a:pPr>
            <a:r>
              <a:t>CAMPOS OCULTOS DE AFILIADO [UX-130]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Rastreo sin consentimiento: </a:t>
            </a:r>
            <a:r>
              <a:rPr sz="850">
                <a:solidFill>
                  <a:srgbClr val="64748B"/>
                </a:solidFill>
              </a:rPr>
              <a:t>El formulario incluye campos invisibles: your-utm-src, your-doaffcid ('Doaff CLICK ID') y your-ksubid ('KEITARO SUBID').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Modelo CPL expuesto: </a:t>
            </a:r>
            <a:r>
              <a:rPr sz="850">
                <a:solidFill>
                  <a:srgbClr val="64748B"/>
                </a:solidFill>
              </a:rPr>
              <a:t>Se confirma que la empresa paga comisiones por lead generado a redes de afiliados externas sin transparentarlo.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Aviso omiso: </a:t>
            </a:r>
            <a:r>
              <a:rPr sz="850">
                <a:solidFill>
                  <a:srgbClr val="64748B"/>
                </a:solidFill>
              </a:rPr>
              <a:t>El Aviso de Privacidad no declara la recolección ni transferencia de identificadores de afiliación publicitaria.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71616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6208" y="1353312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 b="1">
                <a:solidFill>
                  <a:srgbClr val="313B48"/>
                </a:solidFill>
                <a:latin typeface="Arial"/>
              </a:defRPr>
            </a:pPr>
            <a:r>
              <a:t>ALERTA NATIVA INVASIVA [UX-152]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Error técnico expuesto: </a:t>
            </a:r>
            <a:r>
              <a:rPr sz="850">
                <a:solidFill>
                  <a:srgbClr val="64748B"/>
                </a:solidFill>
              </a:rPr>
              <a:t>Si la llamada al pixel de afiliados falla, salta un alert() nativo del navegador con texto de desarrollo.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Mensaje textual: </a:t>
            </a:r>
            <a:r>
              <a:rPr sz="850">
                <a:solidFill>
                  <a:srgbClr val="64748B"/>
                </a:solidFill>
              </a:rPr>
              <a:t>'¡Algo salió mal! El cable de Doaff no está registrado.'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Impacto en confianza: </a:t>
            </a:r>
            <a:r>
              <a:rPr sz="850">
                <a:solidFill>
                  <a:srgbClr val="64748B"/>
                </a:solidFill>
              </a:rPr>
              <a:t>El usuario, tras entregar su lista de deudas, recibe un error incomprensible que arruina la percepción de seguridad.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E293B"/>
                </a:solidFill>
              </a:rPr>
              <a:t>Acción: </a:t>
            </a:r>
            <a:r>
              <a:rPr sz="850">
                <a:solidFill>
                  <a:srgbClr val="64748B"/>
                </a:solidFill>
              </a:rPr>
              <a:t>Eliminar de inmediato el alert() y canalizar fallos a logs internos.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MARCO JURÍDICO &amp; TÉRMINOS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Términos de marketplace ajenos y derechos ARCO presenciales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Incongruencia crítica en los documentos legales publicados que dinamita la credibilidad jurídica.</a:t>
            </a:r>
          </a:p>
        </p:txBody>
      </p:sp>
      <p:pic>
        <p:nvPicPr>
          <p:cNvPr id="3" name="Picture 2" descr="laptop-termin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114800" cy="241082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754880" y="1234440"/>
            <a:ext cx="393192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0" y="1353312"/>
            <a:ext cx="3566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386E"/>
                </a:solidFill>
                <a:latin typeface="Arial"/>
              </a:defRPr>
            </a:pPr>
            <a:r>
              <a:t>EVALUACIÓN DE CONSISTENCIA LEGAL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Términos de Marketplace (UX-006/084): </a:t>
            </a:r>
            <a:r>
              <a:rPr sz="850">
                <a:solidFill>
                  <a:srgbClr val="1E293B"/>
                </a:solidFill>
              </a:rPr>
              <a:t>El documento activo en vivo habla literalmente de 'operaciones con otros Usuarios', 'calificaciones recibidas y réplicas', 'inhabilitación de publicaciones' y riesgos de 'contratar con menores'. Es un contrato de compraventa entre particulares tipo Mercado Libre, ajeno por completo al servicio de reestructura de deuda.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Derechos ARCO presenciales (UX-083): </a:t>
            </a:r>
            <a:r>
              <a:rPr sz="850">
                <a:solidFill>
                  <a:srgbClr val="1E293B"/>
                </a:solidFill>
              </a:rPr>
              <a:t>Para revocar consentimiento o ejercer derechos ARCO, el aviso exige acudir presencialmente a recoger solicitud a Reforma 250 (CDMX). Fricción desproporcionada para un servicio digital a nivel nacional.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Finalidades agrupadas forzadas (UX-081): </a:t>
            </a:r>
            <a:r>
              <a:rPr sz="850">
                <a:solidFill>
                  <a:srgbClr val="1E293B"/>
                </a:solidFill>
              </a:rPr>
              <a:t>El aviso incluye publicidad y prospección entre las finalidades necesarias para el cumplimiento del servicio, limitando la libre decisión del usuario.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• Recomendación: </a:t>
            </a:r>
            <a:r>
              <a:rPr sz="850">
                <a:solidFill>
                  <a:srgbClr val="1E293B"/>
                </a:solidFill>
              </a:rPr>
              <a:t>Sustituir íntegramente los términos y habilitar trámite de derechos ARCO remoto por correo electrónico.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3B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73152" cy="1463040"/>
          </a:xfrm>
          <a:prstGeom prst="rect">
            <a:avLst/>
          </a:prstGeom>
          <a:solidFill>
            <a:srgbClr val="30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749807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30AFB8"/>
                </a:solidFill>
                <a:latin typeface="Arial"/>
              </a:defRPr>
            </a:pPr>
            <a:r>
              <a:t>SECCIÓN 04</a:t>
            </a:r>
          </a:p>
          <a:p>
            <a:pPr>
              <a:spcAft>
                <a:spcPts val="8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HACIA DÓNDE VAMOS</a:t>
            </a:r>
          </a:p>
          <a:p>
            <a:pPr>
              <a:defRPr sz="1200">
                <a:solidFill>
                  <a:srgbClr val="42BCE2"/>
                </a:solidFill>
                <a:latin typeface="Arial"/>
              </a:defRPr>
            </a:pPr>
            <a:r>
              <a:t>Modelo de madurez digital t2ó, quick wins y plan de acción para transformar el embudo.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MODELO DE MADUREZ UX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Diagnóstico de madurez: Framework Walk / Run / Fly de t2ó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Escala 0-10 puntuada por dimensión. Juicio del auditor (Inferido) basado en evidencia técnica observada.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34440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1280160"/>
                <a:gridCol w="3108960"/>
              </a:tblGrid>
              <a:tr h="3251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Dimensión Evaluada</a:t>
                      </a:r>
                    </a:p>
                  </a:txBody>
                  <a:tcPr>
                    <a:solidFill>
                      <a:srgbClr val="313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313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Nivel t2ó</a:t>
                      </a:r>
                    </a:p>
                  </a:txBody>
                  <a:tcPr>
                    <a:solidFill>
                      <a:srgbClr val="313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Semáforo</a:t>
                      </a:r>
                    </a:p>
                  </a:txBody>
                  <a:tcPr>
                    <a:solidFill>
                      <a:srgbClr val="313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Hallazgo Clave</a:t>
                      </a:r>
                    </a:p>
                  </a:txBody>
                  <a:tcPr>
                    <a:solidFill>
                      <a:srgbClr val="313B48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Consistencia legal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C3232"/>
                          </a:solidFill>
                        </a:defRPr>
                      </a:pPr>
                      <a:r>
                        <a:t>1.0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C3232"/>
                          </a:solidFill>
                        </a:defRPr>
                      </a:pPr>
                      <a: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4748B"/>
                          </a:solidFill>
                        </a:defRPr>
                      </a:pPr>
                      <a:r>
                        <a:t>Walk (0-4)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Términos de marketplace ajenos; ARCO presencial.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Accesibilidad WCAG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C3232"/>
                          </a:solidFill>
                        </a:defRPr>
                      </a:pPr>
                      <a:r>
                        <a:t>2.0 / 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C3232"/>
                          </a:solidFill>
                        </a:defRPr>
                      </a:pPr>
                      <a:r>
                        <a:t>WALK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4748B"/>
                          </a:solidFill>
                        </a:defRPr>
                      </a:pPr>
                      <a:r>
                        <a:t>Walk (0-4)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7 violaciones axe-core; 36/39 sin foco visible.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Confianza / Prueba social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C3232"/>
                          </a:solidFill>
                        </a:defRPr>
                      </a:pPr>
                      <a:r>
                        <a:t>2.0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C3232"/>
                          </a:solidFill>
                        </a:defRPr>
                      </a:pPr>
                      <a: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4748B"/>
                          </a:solidFill>
                        </a:defRPr>
                      </a:pPr>
                      <a:r>
                        <a:t>Walk (0-4)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Testimoniales vacíos; badge Google sin enlace.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Transparencia del embudo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C3232"/>
                          </a:solidFill>
                        </a:defRPr>
                      </a:pPr>
                      <a:r>
                        <a:t>2.0 / 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C3232"/>
                          </a:solidFill>
                        </a:defRPr>
                      </a:pPr>
                      <a:r>
                        <a:t>WALK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4748B"/>
                          </a:solidFill>
                        </a:defRPr>
                      </a:pPr>
                      <a:r>
                        <a:t>Walk (0-4)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Paso 2 oculto; sin precios ni aviso junto al form.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Protección de datos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C3232"/>
                          </a:solidFill>
                        </a:defRPr>
                      </a:pPr>
                      <a:r>
                        <a:t>2.0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C3232"/>
                          </a:solidFill>
                        </a:defRPr>
                      </a:pPr>
                      <a: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4748B"/>
                          </a:solidFill>
                        </a:defRPr>
                      </a:pPr>
                      <a:r>
                        <a:t>Walk (0-4)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Cookie PII en cliente sin HttpOnly; envío en URLs.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Contenido y microcopy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97706"/>
                          </a:solidFill>
                        </a:defRPr>
                      </a:pPr>
                      <a:r>
                        <a:t>3.0 / 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97706"/>
                          </a:solidFill>
                        </a:defRPr>
                      </a:pPr>
                      <a:r>
                        <a:t>WALK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4748B"/>
                          </a:solidFill>
                        </a:defRPr>
                      </a:pPr>
                      <a:r>
                        <a:t>Walk (0-4)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Promesa hero vs FAQ desalineada; CTAs repetidos.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Conversión / Formulario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97706"/>
                          </a:solidFill>
                        </a:defRPr>
                      </a:pPr>
                      <a:r>
                        <a:t>3.0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97706"/>
                          </a:solidFill>
                        </a:defRPr>
                      </a:pPr>
                      <a: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4748B"/>
                          </a:solidFill>
                        </a:defRPr>
                      </a:pPr>
                      <a:r>
                        <a:t>Walk (0-4)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Funciona con alta fricción y sin confirmación.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Rendimiento percibido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6.0 / 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4748B"/>
                          </a:solidFill>
                        </a:defRPr>
                      </a:pPr>
                      <a:r>
                        <a:t>Run (4-7)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TTFB 1.1s, FCP 1.8s, responsive sin overflow.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86E"/>
                </a:solidFill>
                <a:latin typeface="Arial"/>
              </a:defRPr>
            </a:pPr>
            <a:r>
              <a:t>PROMEDIO GLOBAL: 2.6 / 10  →  NIVEL WALK (ETAPA BÁSICA)  |  Marcador: ← Mejora Buró,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PLAN DE OPTIMIZACIÓN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Matriz de Quick Wins vs. Cambios Estructurales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Priorización accionable dividida por esfuerzo técnico y potencial de impacto comercial/legal.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3977639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0A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53312"/>
            <a:ext cx="3657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30AFB8"/>
                </a:solidFill>
                <a:latin typeface="Arial"/>
              </a:defRPr>
            </a:pPr>
            <a:r>
              <a:t>QUICK WINS (BAJO ESFUERZO / ALTO IMPACTO)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1. Casilla de consentimiento visible (UX-136): </a:t>
            </a:r>
            <a:r>
              <a:rPr sz="850">
                <a:solidFill>
                  <a:srgbClr val="1E293B"/>
                </a:solidFill>
              </a:rPr>
              <a:t>Eliminar display:none, hacerla requerida y agregar enlace al Aviso contiguo.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2. Sustituir Términos de Marketplace (UX-006): </a:t>
            </a:r>
            <a:r>
              <a:rPr sz="850">
                <a:solidFill>
                  <a:srgbClr val="1E293B"/>
                </a:solidFill>
              </a:rPr>
              <a:t>Publicar términos reales de consultoría legal y financiera en lugar de los de compraventa.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3. Corregir select-name y contraste (UX-002/010): </a:t>
            </a:r>
            <a:r>
              <a:rPr sz="850">
                <a:solidFill>
                  <a:srgbClr val="1E293B"/>
                </a:solidFill>
              </a:rPr>
              <a:t>Añadir &lt;label for='amount'&gt; y oscurecer el menú superior a ratio &gt;4.5:1.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4. Desactivar alert de afiliados (UX-152): </a:t>
            </a:r>
            <a:r>
              <a:rPr sz="850">
                <a:solidFill>
                  <a:srgbClr val="1E293B"/>
                </a:solidFill>
              </a:rPr>
              <a:t>Eliminar el mensaje invasivo 'El cable de Doaff...' que asusta a los usuarios.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5. Enlazar o retirar badge Google (UX-012): </a:t>
            </a:r>
            <a:r>
              <a:rPr sz="850">
                <a:solidFill>
                  <a:srgbClr val="1E293B"/>
                </a:solidFill>
              </a:rPr>
              <a:t>Conectar el badge de 4910 reseñas a la ficha real de Google Maps de la empresa.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1234440"/>
            <a:ext cx="3977639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8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92040" y="1353312"/>
            <a:ext cx="3657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386E"/>
                </a:solidFill>
                <a:latin typeface="Arial"/>
              </a:defRPr>
            </a:pPr>
            <a:r>
              <a:t>CAMBIOS ESTRUCTURALES (MEDIO-ALTO IMPACTO)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1. Eliminar cookie vik_user_data (UX-153): </a:t>
            </a:r>
            <a:r>
              <a:rPr sz="850">
                <a:solidFill>
                  <a:srgbClr val="1E293B"/>
                </a:solidFill>
              </a:rPr>
              <a:t>Migrar la sesión entre pasos a tokens opacos en backend. Ninguna PII en el cliente.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2. Postbacks anónimos server-to-server (UX-151): </a:t>
            </a:r>
            <a:r>
              <a:rPr sz="850">
                <a:solidFill>
                  <a:srgbClr val="1E293B"/>
                </a:solidFill>
              </a:rPr>
              <a:t>Detener el envío de teléfono y correo en URLs GET a Keitaro y Doaffiliate.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3. Rediseño del embudo en 2 pasos (UX-134/135): </a:t>
            </a:r>
            <a:r>
              <a:rPr sz="850">
                <a:solidFill>
                  <a:srgbClr val="1E293B"/>
                </a:solidFill>
              </a:rPr>
              <a:t>Anunciar el paso de acreedores desde el inicio, agregar buscador y opción 'Prefiero no responder'.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4. Pantalla de confirmación con SLA (UX-133): </a:t>
            </a:r>
            <a:r>
              <a:rPr sz="850">
                <a:solidFill>
                  <a:srgbClr val="1E293B"/>
                </a:solidFill>
              </a:rPr>
              <a:t>Mostrar acuse de recibo, número oficial de WhatsApp de contacto y horario de atención.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313B48"/>
                </a:solidFill>
              </a:rPr>
              <a:t>5. Banner CMP y auditoría de cookies (UX-150): </a:t>
            </a:r>
            <a:r>
              <a:rPr sz="850">
                <a:solidFill>
                  <a:srgbClr val="1E293B"/>
                </a:solidFill>
              </a:rPr>
              <a:t>Bloquear las ~70 cookies de terceros hasta obtener consentimiento explícito.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PLAN DE EJECUCIÓN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Próximos pasos: Hoja de ruta para destrabar el embudo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Plan secuencial para mitigar riesgos legales inmediatos y maximizar la tasa de conversión.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DC3232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92024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386E"/>
                </a:solidFill>
                <a:latin typeface="Arial"/>
              </a:defRPr>
            </a:pPr>
            <a:r>
              <a:t>Blindaje Legal &amp; Consentimiento</a:t>
            </a:r>
          </a:p>
          <a:p>
            <a:pPr>
              <a:spcAft>
                <a:spcPts val="8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Semanas 1 y 2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1E293B"/>
                </a:solidFill>
              </a:rPr>
              <a:t>• Restituir casilla de consentimiento: </a:t>
            </a:r>
            <a:r>
              <a:rPr sz="800">
                <a:solidFill>
                  <a:srgbClr val="64748B"/>
                </a:solidFill>
              </a:rPr>
              <a:t>Visible, requerida y vinculada al Aviso de Privacidad.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1E293B"/>
                </a:solidFill>
              </a:rPr>
              <a:t>• Actualizar documentos legales: </a:t>
            </a:r>
            <a:r>
              <a:rPr sz="800">
                <a:solidFill>
                  <a:srgbClr val="64748B"/>
                </a:solidFill>
              </a:rPr>
              <a:t>Reemplazar términos de marketplace por los de asesoría real.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1E293B"/>
                </a:solidFill>
              </a:rPr>
              <a:t>• Retirar cookie con PII: </a:t>
            </a:r>
            <a:r>
              <a:rPr sz="800">
                <a:solidFill>
                  <a:srgbClr val="64748B"/>
                </a:solidFill>
              </a:rPr>
              <a:t>Eliminar vik_user_data para cerrar la fuga hacia scripts de terceros.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1E293B"/>
                </a:solidFill>
              </a:rPr>
              <a:t>• Purgar logos no acreditados: </a:t>
            </a:r>
            <a:r>
              <a:rPr sz="800">
                <a:solidFill>
                  <a:srgbClr val="64748B"/>
                </a:solidFill>
              </a:rPr>
              <a:t>Retirar brand-logos.png del DOM y servidor (ver Anexo 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0" y="1353312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D97706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386E"/>
                </a:solidFill>
                <a:latin typeface="Arial"/>
              </a:defRPr>
            </a:pPr>
            <a:r>
              <a:t>Optimización del Embudo &amp; CRO</a:t>
            </a:r>
          </a:p>
          <a:p>
            <a:pPr>
              <a:spcAft>
                <a:spcPts val="8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Semanas 3 y 4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1E293B"/>
                </a:solidFill>
              </a:rPr>
              <a:t>• Transparentar los 2 pasos: </a:t>
            </a:r>
            <a:r>
              <a:rPr sz="800">
                <a:solidFill>
                  <a:srgbClr val="64748B"/>
                </a:solidFill>
              </a:rPr>
              <a:t>Indicar 'Paso 1 de 2: Tus datos' y 'Paso 2 de 2: Tus acreedores'.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1E293B"/>
                </a:solidFill>
              </a:rPr>
              <a:t>• Buscador en acreedores: </a:t>
            </a:r>
            <a:r>
              <a:rPr sz="800">
                <a:solidFill>
                  <a:srgbClr val="64748B"/>
                </a:solidFill>
              </a:rPr>
              <a:t>Permitir filtrar las 43 instituciones y añadir opción 'No lo sé'.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1E293B"/>
                </a:solidFill>
              </a:rPr>
              <a:t>• Acuse y confirmación formal: </a:t>
            </a:r>
            <a:r>
              <a:rPr sz="800">
                <a:solidFill>
                  <a:srgbClr val="64748B"/>
                </a:solidFill>
              </a:rPr>
              <a:t>Pantalla de éxito indicando que el contacto llegará desde el 55 6748 4566.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1E293B"/>
                </a:solidFill>
              </a:rPr>
              <a:t>• Reparar prueba social: </a:t>
            </a:r>
            <a:r>
              <a:rPr sz="800">
                <a:solidFill>
                  <a:srgbClr val="64748B"/>
                </a:solidFill>
              </a:rPr>
              <a:t>Restaurar widget Trustindex o implementar carrusel de casos reales.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71616" y="1234440"/>
            <a:ext cx="2615184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1353312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0AFB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192024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386E"/>
                </a:solidFill>
                <a:latin typeface="Arial"/>
              </a:defRPr>
            </a:pPr>
            <a:r>
              <a:t>Gobernanza &amp; Escalabilidad</a:t>
            </a:r>
          </a:p>
          <a:p>
            <a:pPr>
              <a:spcAft>
                <a:spcPts val="8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Mes 2 en adelante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1E293B"/>
                </a:solidFill>
              </a:rPr>
              <a:t>• Migración de tracking CPL: </a:t>
            </a:r>
            <a:r>
              <a:rPr sz="800">
                <a:solidFill>
                  <a:srgbClr val="64748B"/>
                </a:solidFill>
              </a:rPr>
              <a:t>Implementar conversiones anónimas Server-to-Server sin PII en URL.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1E293B"/>
                </a:solidFill>
              </a:rPr>
              <a:t>• Gestor CMP de cookies: </a:t>
            </a:r>
            <a:r>
              <a:rPr sz="800">
                <a:solidFill>
                  <a:srgbClr val="64748B"/>
                </a:solidFill>
              </a:rPr>
              <a:t>Consentimiento previo para las ~70 etiquetas publicitarias.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1E293B"/>
                </a:solidFill>
              </a:rPr>
              <a:t>• Accesibilidad WCAG 2.2 AA: </a:t>
            </a:r>
            <a:r>
              <a:rPr sz="800">
                <a:solidFill>
                  <a:srgbClr val="64748B"/>
                </a:solidFill>
              </a:rPr>
              <a:t>Corregir foco de teclado, labels y contrastes de navegación.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1E293B"/>
                </a:solidFill>
              </a:rPr>
              <a:t>• Auditar canal de WhatsApp: </a:t>
            </a:r>
            <a:r>
              <a:rPr sz="800">
                <a:solidFill>
                  <a:srgbClr val="64748B"/>
                </a:solidFill>
              </a:rPr>
              <a:t>Establecer SLAs de primer contacto comercial y trazabilidad de leads.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ANEXO A: RIESGO REGULATORIO &amp; JURÍDICO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Logotipos oficiales de CNBV, Buró y CONDUSEF en servidor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Hallazgo [UX-001]: Clasificado como tema regulatorio/legal fuera del flujo visual de conversión UX.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8229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rand-lo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7680960" cy="80473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2286000"/>
            <a:ext cx="3977639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657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0386E"/>
                </a:solidFill>
                <a:latin typeface="Arial"/>
              </a:defRPr>
            </a:pPr>
            <a:r>
              <a:t>EVIDENCIA TÉCNICA EN CÓDIGO [UX-001]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313B48"/>
                </a:solidFill>
              </a:rPr>
              <a:t>• Texto en DOM: </a:t>
            </a:r>
            <a:r>
              <a:rPr sz="850">
                <a:solidFill>
                  <a:srgbClr val="1E293B"/>
                </a:solidFill>
              </a:rPr>
              <a:t>'Nuestro Fideicomiso está avalado por:' junto a brand-logos.png.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313B48"/>
                </a:solidFill>
              </a:rPr>
              <a:t>• Ocultamiento con CSS: </a:t>
            </a:r>
            <a:r>
              <a:rPr sz="850">
                <a:solidFill>
                  <a:srgbClr val="1E293B"/>
                </a:solidFill>
              </a:rPr>
              <a:t>Las clases .kc-css-506567 y .kc-css-743817 tienen display: none; en las hojas de estilo reales.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313B48"/>
                </a:solidFill>
              </a:rPr>
              <a:t>• Visibilidad a usuarios: </a:t>
            </a:r>
            <a:r>
              <a:rPr sz="850">
                <a:solidFill>
                  <a:srgbClr val="1E293B"/>
                </a:solidFill>
              </a:rPr>
              <a:t>0×0 px en pantalla (invisible en desktop y móvil). El impacto visual en conversión es nulo.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313B48"/>
                </a:solidFill>
              </a:rPr>
              <a:t>• Visibilidad a robots: </a:t>
            </a:r>
            <a:r>
              <a:rPr sz="850">
                <a:solidFill>
                  <a:srgbClr val="1E293B"/>
                </a:solidFill>
              </a:rPr>
              <a:t>Cualquier crawler, scraper o auditoría de texto plano lee y procesa el texto de aval oficial.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2286000"/>
            <a:ext cx="3977639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2377440"/>
            <a:ext cx="3657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DC3232"/>
                </a:solidFill>
                <a:latin typeface="Arial"/>
              </a:defRPr>
            </a:pPr>
            <a:r>
              <a:t>IMPLICACIÓN LEGAL &amp; RECOMENDACIÓN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313B48"/>
                </a:solidFill>
              </a:rPr>
              <a:t>• Riesgo de ostentación indebida: </a:t>
            </a:r>
            <a:r>
              <a:rPr sz="850">
                <a:solidFill>
                  <a:srgbClr val="1E293B"/>
                </a:solidFill>
              </a:rPr>
              <a:t>La CNBV y CONDUSEF no avalan fideicomisos comerciales de reparación de deuda privada; supervisan entidades financieras reguladas.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313B48"/>
                </a:solidFill>
              </a:rPr>
              <a:t>• Sanciones potenciales: </a:t>
            </a:r>
            <a:r>
              <a:rPr sz="850">
                <a:solidFill>
                  <a:srgbClr val="1E293B"/>
                </a:solidFill>
              </a:rPr>
              <a:t>Mantener logotipos institucionales en el servidor y DOM puede configurar publicidad engañosa bajo Ley de Instituciones de Crédito y PROFECO.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313B48"/>
                </a:solidFill>
              </a:rPr>
              <a:t>• Acción jurídica recomendada: </a:t>
            </a:r>
            <a:r>
              <a:rPr sz="850">
                <a:solidFill>
                  <a:srgbClr val="1E293B"/>
                </a:solidFill>
              </a:rPr>
              <a:t>Canalizar a la Dirección Legal de Baui Solutions S.A. de C.V. para purgar la imagen y el bloque del CMS inmediatamente, salvo que cuenten con contrato fiduciario con registro oficial verificable.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30AFB8"/>
                </a:solidFill>
                <a:latin typeface="Arial"/>
              </a:defRPr>
            </a:pPr>
            <a:r>
              <a:t>ANEXO B: CANAL DE ATENCIÓN WHATSAPP</a:t>
            </a:r>
          </a:p>
          <a:p>
            <a:pPr>
              <a:defRPr sz="1700" b="1">
                <a:solidFill>
                  <a:srgbClr val="313B48"/>
                </a:solidFill>
                <a:latin typeface="Arial"/>
              </a:defRPr>
            </a:pPr>
            <a:r>
              <a:t>Canal conversacional de WhatsApp: NO EVALUABLE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Arial"/>
              </a:defRPr>
            </a:pPr>
            <a:r>
              <a:t>Diseño de prueba con envío real autorizado [UX-140]. Ningún lead recibió contacto en la ventana observada.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34440"/>
          <a:ext cx="82296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97280"/>
                <a:gridCol w="1371600"/>
                <a:gridCol w="1645920"/>
                <a:gridCol w="1280160"/>
                <a:gridCol w="2011680"/>
              </a:tblGrid>
              <a:tr h="4267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Brazo</a:t>
                      </a:r>
                    </a:p>
                  </a:txBody>
                  <a:tcPr>
                    <a:solidFill>
                      <a:srgbClr val="313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Lead</a:t>
                      </a:r>
                    </a:p>
                  </a:txBody>
                  <a:tcPr>
                    <a:solidFill>
                      <a:srgbClr val="313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Teléfono</a:t>
                      </a:r>
                    </a:p>
                  </a:txBody>
                  <a:tcPr>
                    <a:solidFill>
                      <a:srgbClr val="313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Paso 2 (Acreedores)</a:t>
                      </a:r>
                    </a:p>
                  </a:txBody>
                  <a:tcPr>
                    <a:solidFill>
                      <a:srgbClr val="313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Hora Envío</a:t>
                      </a:r>
                    </a:p>
                  </a:txBody>
                  <a:tcPr>
                    <a:solidFill>
                      <a:srgbClr val="313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Resultado Observado</a:t>
                      </a:r>
                    </a:p>
                  </a:txBody>
                  <a:tcPr>
                    <a:solidFill>
                      <a:srgbClr val="313B4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Brazo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Amauri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220 680 6340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Abandonado tras Paso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12:01 h (CDMX)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C3232"/>
                          </a:solidFill>
                        </a:defRPr>
                      </a:pPr>
                      <a:r>
                        <a:t>SIN CONTACTO en ventana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Brazo 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Carlos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55 7900 2713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Completado con acreedores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12:50 h (CDMX)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C3232"/>
                          </a:solidFill>
                        </a:defRPr>
                      </a:pPr>
                      <a:r>
                        <a:t>SIN CONTACTO en ventana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2697480"/>
            <a:ext cx="3977639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0386E"/>
                </a:solidFill>
                <a:latin typeface="Arial"/>
              </a:defRPr>
            </a:pPr>
            <a:r>
              <a:t>CONCLUSIÓN METODOLÓGICA</a:t>
            </a:r>
          </a:p>
          <a:p>
            <a:pPr>
              <a:spcAft>
                <a:spcPts val="200"/>
              </a:spcAft>
            </a:pPr>
            <a:r>
              <a:rPr b="1" sz="800"/>
              <a:t>• Clasificación formal: </a:t>
            </a:r>
            <a:r>
              <a:rPr sz="800"/>
              <a:t>El canal conversacional queda como 'No evaluable'.</a:t>
            </a:r>
          </a:p>
          <a:p>
            <a:pPr>
              <a:spcAft>
                <a:spcPts val="200"/>
              </a:spcAft>
            </a:pPr>
            <a:r>
              <a:rPr b="1" sz="800"/>
              <a:t>• Variables controladas: </a:t>
            </a:r>
            <a:r>
              <a:rPr sz="800"/>
              <a:t>Mismo rango ($21k-$40k), día hábil y dentro de su horario publicado ('lunes a viernes de 9 a 7pm').</a:t>
            </a:r>
          </a:p>
          <a:p>
            <a:pPr>
              <a:spcAft>
                <a:spcPts val="200"/>
              </a:spcAft>
            </a:pPr>
            <a:r>
              <a:rPr b="1" sz="800"/>
              <a:t>• Rigor de reporte: </a:t>
            </a:r>
            <a:r>
              <a:rPr sz="800"/>
              <a:t>La falta de contacto no prueba que nunca atiendan, solo que no respondieron en la ventana observada.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2697480"/>
            <a:ext cx="3977639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278892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D97706"/>
                </a:solidFill>
                <a:latin typeface="Arial"/>
              </a:defRPr>
            </a:pPr>
            <a:r>
              <a:t>PENDIENTES DE VALIDAR CON EL CLIENTE</a:t>
            </a:r>
          </a:p>
          <a:p>
            <a:pPr>
              <a:spcAft>
                <a:spcPts val="200"/>
              </a:spcAft>
            </a:pPr>
            <a:r>
              <a:rPr b="1" sz="800"/>
              <a:t>• Tipo de ruteo: </a:t>
            </a:r>
            <a:r>
              <a:rPr sz="800"/>
              <a:t>¿El primer contacto es manual por asesores o mediante bot automatizado?</a:t>
            </a:r>
          </a:p>
          <a:p>
            <a:pPr>
              <a:spcAft>
                <a:spcPts val="200"/>
              </a:spcAft>
            </a:pPr>
            <a:r>
              <a:rPr b="1" sz="800"/>
              <a:t>• Acuerdo de Nivel de Servicio (SLA): </a:t>
            </a:r>
            <a:r>
              <a:rPr sz="800"/>
              <a:t>¿Cuál es el tiempo promedio de respuesta tras la recepción del lead?</a:t>
            </a:r>
          </a:p>
          <a:p>
            <a:pPr>
              <a:spcAft>
                <a:spcPts val="200"/>
              </a:spcAft>
            </a:pPr>
            <a:r>
              <a:rPr b="1" sz="800"/>
              <a:t>• Tasa de pérdida comercial: </a:t>
            </a:r>
            <a:r>
              <a:rPr sz="800"/>
              <a:t>¿Qué porcentaje de leads queda sin contactar por saturación o descarte algorítmico?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3B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30AFB8"/>
                </a:solidFill>
                <a:latin typeface="Arial"/>
              </a:defRPr>
            </a:pPr>
            <a:r>
              <a:t>t2ó</a:t>
            </a:r>
          </a:p>
          <a:p>
            <a:pPr>
              <a:spcBef>
                <a:spcPts val="4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Business, Technology &amp; Digital Marketing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Auditoría UX, CRO &amp; Gobernanza de Datos  ·  Ciudad de México, Septiembre 2026</a:t>
            </a:r>
            <a:br/>
            <a:r>
              <a:t>Documento confidencial para uso exclusivo del equipo directivo de Baui Solutions S.A. de C.V.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6460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t2ó × Mejora Buró — Confidencial, uso interno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