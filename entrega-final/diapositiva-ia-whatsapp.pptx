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73" r:id="rId24"/>
  </p:sldIdLst>
  <p:sldSz cy="5143500" cx="9144000"/>
  <p:notesSz cx="6858000" cy="9144000"/>
  <p:embeddedFontLst>
    <p:embeddedFont>
      <p:font typeface="Nunito Sans SemiBold"/>
      <p:regular r:id="rId31"/>
      <p:bold r:id="rId32"/>
      <p:italic r:id="rId33"/>
      <p:boldItalic r:id="rId34"/>
    </p:embeddedFont>
    <p:embeddedFont>
      <p:font typeface="Nunito Sans ExtraBold"/>
      <p:bold r:id="rId35"/>
      <p:boldItalic r:id="rId36"/>
    </p:embeddedFont>
    <p:embeddedFont>
      <p:font typeface="Nunito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1" roundtripDataSignature="AMtx7mg8AAN0D7b6etNxMqEpRf687leI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BB391D5-48B1-473C-8D60-86D48D39CEB4}">
  <a:tblStyle styleId="{CBB391D5-48B1-473C-8D60-86D48D39CE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4" Type="http://schemas.openxmlformats.org/officeDocument/2006/relationships/slide" Target="slides/slide18.xml"/><Relationship Id="rId31" Type="http://schemas.openxmlformats.org/officeDocument/2006/relationships/font" Target="fonts/NunitoSansSemiBold-regular.fntdata"/><Relationship Id="rId32" Type="http://schemas.openxmlformats.org/officeDocument/2006/relationships/font" Target="fonts/NunitoSansSemiBold-bold.fntdata"/><Relationship Id="rId33" Type="http://schemas.openxmlformats.org/officeDocument/2006/relationships/font" Target="fonts/NunitoSansSemiBold-italic.fntdata"/><Relationship Id="rId34" Type="http://schemas.openxmlformats.org/officeDocument/2006/relationships/font" Target="fonts/NunitoSansSemiBold-boldItalic.fntdata"/><Relationship Id="rId35" Type="http://schemas.openxmlformats.org/officeDocument/2006/relationships/font" Target="fonts/NunitoSansExtraBold-bold.fntdata"/><Relationship Id="rId36" Type="http://schemas.openxmlformats.org/officeDocument/2006/relationships/font" Target="fonts/NunitoSansExtraBold-boldItalic.fntdata"/><Relationship Id="rId37" Type="http://schemas.openxmlformats.org/officeDocument/2006/relationships/font" Target="fonts/NunitoSans-regular.fntdata"/><Relationship Id="rId38" Type="http://schemas.openxmlformats.org/officeDocument/2006/relationships/font" Target="fonts/NunitoSans-bold.fntdata"/><Relationship Id="rId39" Type="http://schemas.openxmlformats.org/officeDocument/2006/relationships/font" Target="fonts/NunitoSans-italic.fntdata"/><Relationship Id="rId40" Type="http://schemas.openxmlformats.org/officeDocument/2006/relationships/font" Target="fonts/NunitoSans-boldItalic.fntdata"/><Relationship Id="rId4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"/>
          <p:cNvSpPr txBox="1"/>
          <p:nvPr/>
        </p:nvSpPr>
        <p:spPr>
          <a:xfrm>
            <a:off x="457200" y="304800"/>
            <a:ext cx="8229600" cy="615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284C7"/>
                </a:solidFill>
                <a:latin typeface="Nunito Sans"/>
                <a:ea typeface="Nunito Sans"/>
                <a:cs typeface="Nunito Sans"/>
                <a:sym typeface="Nunito Sans"/>
              </a:rPr>
              <a:t>CRO &amp; AUTOMATIZACIÓN DEL CONTACTO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>
                <a:solidFill>
                  <a:srgbClr val="0F172A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Capa de IA en WhatsApp: responder en segundos, no en horas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64748B"/>
                </a:solidFill>
                <a:latin typeface="Nunito Sans"/>
                <a:ea typeface="Nunito Sans"/>
                <a:cs typeface="Nunito Sans"/>
                <a:sym typeface="Nunito Sans"/>
              </a:rPr>
              <a:t>La respuesta al Anexo B. Decisión acordada en el briefing del 14 de septiembre.</a:t>
            </a:r>
            <a:endParaRPr b="1" i="0" sz="850">
              <a:solidFill>
                <a:srgbClr val="0284C7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457200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FF1F2"/>
          </a:solidFill>
          <a:ln cap="flat" cmpd="sng" w="143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"/>
          <p:cNvSpPr txBox="1"/>
          <p:nvPr/>
        </p:nvSpPr>
        <p:spPr>
          <a:xfrm>
            <a:off x="602742" y="1353312"/>
            <a:ext cx="2324100" cy="21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E11D48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LO QUE MOSTRÓ LA PRUEBA</a:t>
            </a:r>
            <a:endParaRPr b="0" i="0" sz="9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Cero contacto: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ningún asesor escribió a los dos leads enviados. Ni un mensaje automático de bienvenida.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Sin premio a la intención: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quien completó las 43 casillas de acreedores recibió el mismo trato que quien abandonó en el paso 1.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La ventana crítica: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prospecto llega con estrés financiero y desconfianza previa. El silencio inicial es donde se pierde.</a:t>
            </a:r>
            <a:endParaRPr b="0" i="0" sz="850">
              <a:solidFill>
                <a:srgbClr val="E11D48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3264408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FFBEB"/>
          </a:solidFill>
          <a:ln cap="flat" cmpd="sng" w="14300">
            <a:solidFill>
              <a:srgbClr val="FDE68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3409950" y="1353312"/>
            <a:ext cx="2324100" cy="214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D97706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LA CAPA PROPUESTA</a:t>
            </a:r>
            <a:endParaRPr b="0" i="0" sz="9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Acuse inmediato (&lt;30 s, 24/7):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confirma recepción, da el número oficial y el horario real de atención.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Precalificación conversacional: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captura el monto de deuda —que el formulario nunca pide— y descarta Banco Azteca y Coppel.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Entrega a WATI con score: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el asesor humano entra a cerrar, no a diagnosticar.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Medición server-side: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cada etapa dispara un evento a GTM y habilita la atribución del canal WhatsApp.</a:t>
            </a:r>
            <a:endParaRPr b="0" i="0" sz="850">
              <a:solidFill>
                <a:srgbClr val="D97706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6071616" y="1234440"/>
            <a:ext cx="2615100" cy="3383400"/>
          </a:xfrm>
          <a:prstGeom prst="roundRect">
            <a:avLst>
              <a:gd fmla="val 5827" name="adj"/>
            </a:avLst>
          </a:prstGeom>
          <a:solidFill>
            <a:srgbClr val="F0F9FF"/>
          </a:solidFill>
          <a:ln cap="flat" cmpd="sng" w="143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6217158" y="1353312"/>
            <a:ext cx="2324100" cy="202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57150" spcFirstLastPara="1" rIns="57150" wrap="square" tIns="381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>
                <a:solidFill>
                  <a:srgbClr val="0284C7"/>
                </a:solidFill>
                <a:latin typeface="Nunito Sans ExtraBold"/>
                <a:ea typeface="Nunito Sans ExtraBold"/>
                <a:cs typeface="Nunito Sans ExtraBold"/>
                <a:sym typeface="Nunito Sans ExtraBold"/>
              </a:rPr>
              <a:t>MODELOS GEMINI Y COSTO ESTIMADO</a:t>
            </a:r>
            <a:endParaRPr b="0" i="0" sz="9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Base — Gemini 2.5 Flash-Lite: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0.10 y 0.40 USD por millón de tokens. ≈80 USD al año para los 30,000 leads.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Alternativa — Gemini 2.5 Flash: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0.30 y 2.50 USD por millón. ≈290 USD al año si se prefiere más capacidad.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Escalamiento — Gemini 2.5 Pro: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1.25 y 10 USD por millón, solo en casos ambiguos (~10%): +120 USD al año.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850">
                <a:solidFill>
                  <a:srgbClr val="0F172A"/>
                </a:solidFill>
                <a:latin typeface="Nunito Sans"/>
                <a:ea typeface="Nunito Sans"/>
                <a:cs typeface="Nunito Sans"/>
                <a:sym typeface="Nunito Sans"/>
              </a:rPr>
              <a:t>A vigilar: </a:t>
            </a:r>
            <a:r>
              <a:rPr b="0" i="0" lang="en-US" sz="850">
                <a:solidFill>
                  <a:srgbClr val="334155"/>
                </a:solidFill>
                <a:latin typeface="Nunito Sans"/>
                <a:ea typeface="Nunito Sans"/>
                <a:cs typeface="Nunito Sans"/>
                <a:sym typeface="Nunito Sans"/>
              </a:rPr>
              <a:t>las versiones 3.x Flash duplican tarifa el 1 de enero de 2027. No incluye WhatsApp Business API, el costo dominante.</a:t>
            </a:r>
            <a:endParaRPr b="0" i="0" sz="850">
              <a:solidFill>
                <a:srgbClr val="0284C7"/>
              </a:solidFill>
              <a:latin typeface="Nunito Sans ExtraBold"/>
              <a:ea typeface="Nunito Sans ExtraBold"/>
              <a:cs typeface="Nunito Sans ExtraBold"/>
              <a:sym typeface="Nunito Sans ExtraBold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457200" y="4800600"/>
            <a:ext cx="8229600" cy="130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0">
                <a:solidFill>
                  <a:srgbClr val="94A3B8"/>
                </a:solidFill>
                <a:latin typeface="Nunito Sans"/>
                <a:ea typeface="Nunito Sans"/>
                <a:cs typeface="Nunito Sans"/>
                <a:sym typeface="Nunito Sans"/>
              </a:rPr>
              <a:t>t2ó × Mejora Buró — Confidencial, uso interno</a:t>
            </a:r>
            <a:endParaRPr b="0" sz="850">
              <a:solidFill>
                <a:srgbClr val="94A3B8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