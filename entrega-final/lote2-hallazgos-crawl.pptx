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69" r:id="rId20"/>
    <p:sldId id="273" r:id="rId24"/>
    <p:sldId id="264" r:id="rId15"/>
  </p:sldIdLst>
  <p:sldSz cy="5143500" cx="9144000"/>
  <p:notesSz cx="6858000" cy="9144000"/>
  <p:embeddedFontLst>
    <p:embeddedFont>
      <p:font typeface="Nunito Sans SemiBold"/>
      <p:regular r:id="rId31"/>
      <p:bold r:id="rId32"/>
      <p:italic r:id="rId33"/>
      <p:boldItalic r:id="rId34"/>
    </p:embeddedFont>
    <p:embeddedFont>
      <p:font typeface="Nunito Sans ExtraBold"/>
      <p:bold r:id="rId35"/>
      <p:boldItalic r:id="rId36"/>
    </p:embeddedFont>
    <p:embeddedFont>
      <p:font typeface="Nunito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1" roundtripDataSignature="AMtx7mg8AAN0D7b6etNxMqEpRf687leI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B391D5-48B1-473C-8D60-86D48D39CEB4}">
  <a:tblStyle styleId="{CBB391D5-48B1-473C-8D60-86D48D39CE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5" Type="http://schemas.openxmlformats.org/officeDocument/2006/relationships/slide" Target="slides/slide9.xml"/><Relationship Id="rId20" Type="http://schemas.openxmlformats.org/officeDocument/2006/relationships/slide" Target="slides/slide14.xml"/><Relationship Id="rId24" Type="http://schemas.openxmlformats.org/officeDocument/2006/relationships/slide" Target="slides/slide18.xml"/><Relationship Id="rId31" Type="http://schemas.openxmlformats.org/officeDocument/2006/relationships/font" Target="fonts/NunitoSansSemiBold-regular.fntdata"/><Relationship Id="rId32" Type="http://schemas.openxmlformats.org/officeDocument/2006/relationships/font" Target="fonts/NunitoSansSemiBold-bold.fntdata"/><Relationship Id="rId33" Type="http://schemas.openxmlformats.org/officeDocument/2006/relationships/font" Target="fonts/NunitoSansSemiBold-italic.fntdata"/><Relationship Id="rId34" Type="http://schemas.openxmlformats.org/officeDocument/2006/relationships/font" Target="fonts/NunitoSansSemiBold-boldItalic.fntdata"/><Relationship Id="rId35" Type="http://schemas.openxmlformats.org/officeDocument/2006/relationships/font" Target="fonts/NunitoSansExtraBold-bold.fntdata"/><Relationship Id="rId36" Type="http://schemas.openxmlformats.org/officeDocument/2006/relationships/font" Target="fonts/NunitoSansExtraBold-boldItalic.fntdata"/><Relationship Id="rId37" Type="http://schemas.openxmlformats.org/officeDocument/2006/relationships/font" Target="fonts/NunitoSans-regular.fntdata"/><Relationship Id="rId38" Type="http://schemas.openxmlformats.org/officeDocument/2006/relationships/font" Target="fonts/NunitoSans-bold.fntdata"/><Relationship Id="rId39" Type="http://schemas.openxmlformats.org/officeDocument/2006/relationships/font" Target="fonts/NunitoSans-italic.fntdata"/><Relationship Id="rId40" Type="http://schemas.openxmlformats.org/officeDocument/2006/relationships/font" Target="fonts/NunitoSans-boldItalic.fntdata"/><Relationship Id="rId4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 txBox="1"/>
          <p:nvPr/>
        </p:nvSpPr>
        <p:spPr>
          <a:xfrm>
            <a:off x="457200" y="266700"/>
            <a:ext cx="8229600" cy="6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059669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CONTENIDO &amp; PÚBLICO OBJETIVO</a:t>
            </a:r>
            <a:endParaRPr b="0" i="0" sz="900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El sitio le habla a su cliente en un idioma que no es el suyo</a:t>
            </a:r>
            <a:endParaRPr b="0" i="0" sz="900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366F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El nivel de lectura del contenido no corresponde al perfil de público que definió el cliente.</a:t>
            </a:r>
            <a:endParaRPr b="0" i="0" sz="900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57200" y="120015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 txBox="1"/>
          <p:nvPr/>
        </p:nvSpPr>
        <p:spPr>
          <a:xfrm>
            <a:off x="590550" y="1352550"/>
            <a:ext cx="2343300" cy="187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CÓMO ESTÁ ESCRITO HOY</a:t>
            </a:r>
            <a:endParaRPr b="0" i="0" sz="10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El 58% de las páginas exige nivel universitario: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para leerse con fluidez, según la medición estándar de legibilidad.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Otro 38% está todavía un escalón arriba: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en el rango más difícil de la escala.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La causa: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frases largas y palabras del mundo financiero que nadie usa al hablar.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No es el mensaje principal: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es todo el contenido publicado, incluido el blog.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3264408" y="120015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 txBox="1"/>
          <p:nvPr/>
        </p:nvSpPr>
        <p:spPr>
          <a:xfrm>
            <a:off x="3397758" y="1352550"/>
            <a:ext cx="2343300" cy="174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A QUIÉN LE ESTÁ HABLANDO</a:t>
            </a:r>
            <a:endParaRPr b="0" i="0" sz="10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El cliente definió su público: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nivel socioeconómico C+ a C−, según el briefing del 14 de septiembre.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Y lo describió así: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personas que batallan con sus pagos justamente por falta de educación financiera.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Ahí está la contradicción: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se vende educación financiera escribiendo como si el lector ya la tuviera.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6071616" y="120015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 txBox="1"/>
          <p:nvPr/>
        </p:nvSpPr>
        <p:spPr>
          <a:xfrm>
            <a:off x="6204966" y="1352550"/>
            <a:ext cx="2343300" cy="174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QUÉ HACER</a:t>
            </a:r>
            <a:endParaRPr b="0" i="0" sz="10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Reescribir tres lugares: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el mensaje principal, las preguntas frecuentes y la pantalla de acreedores.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Frases cortas y palabras de todos los días: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en vez de tecnicismos financieros sin traducir.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Poner un nivel de lectura como requisito: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que ningún texto se publique sin pasar ese filtro.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457200" y="480060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"/>
          <p:cNvSpPr txBox="1"/>
          <p:nvPr/>
        </p:nvSpPr>
        <p:spPr>
          <a:xfrm>
            <a:off x="457200" y="292608"/>
            <a:ext cx="8229600" cy="60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30AFB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ALCANCE REAL DEL PROBLEMA</a:t>
            </a:r>
            <a:endParaRPr b="0" i="0" sz="850">
              <a:solidFill>
                <a:srgbClr val="30AFB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Un mismo error, repetido en las 486 páginas del sitio</a:t>
            </a:r>
            <a:endParaRPr b="0" i="0" sz="850">
              <a:solidFill>
                <a:srgbClr val="30AFB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4748B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Los problemas que encontramos en la portada no son de la portada: son de la plantilla.</a:t>
            </a:r>
            <a:endParaRPr b="0" i="0" sz="850">
              <a:solidFill>
                <a:srgbClr val="30AFB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457200" y="123444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"/>
          <p:cNvSpPr txBox="1"/>
          <p:nvPr/>
        </p:nvSpPr>
        <p:spPr>
          <a:xfrm>
            <a:off x="609600" y="1353312"/>
            <a:ext cx="2310300" cy="174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97706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QUÉ LE PASA AL USUARIO</a:t>
            </a:r>
            <a:endParaRPr b="0" i="0" sz="100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Texto que cuesta leer: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en todas las páginas hay textos cuyo color casi se confunde con el fondo.</a:t>
            </a:r>
            <a:endParaRPr b="0" i="0" sz="8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Enlaces que una persona ciega no puede usar: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su lector de pantalla los anuncia como 'enlace', sin decir a dónde llevan.</a:t>
            </a:r>
            <a:endParaRPr b="0" i="0" sz="8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Ventanas incrustadas sin nombre: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mapas y formularios embebidos por los que el teclado pasa sin avisar dónde está uno.</a:t>
            </a:r>
            <a:endParaRPr b="0" i="0" sz="8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3264408" y="123444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"/>
          <p:cNvSpPr txBox="1"/>
          <p:nvPr/>
        </p:nvSpPr>
        <p:spPr>
          <a:xfrm>
            <a:off x="3416808" y="1353312"/>
            <a:ext cx="2310300" cy="161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C3232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DOS REVISIONES, EL MISMO RESULTADO</a:t>
            </a:r>
            <a:endParaRPr b="0" i="0" sz="1000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Nosotros revisamos la portada a mano: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con herramientas de accesibilidad y navegando solo con teclado.</a:t>
            </a:r>
            <a:endParaRPr b="0" i="0" sz="850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Un rastreo automático revisó las 486 páginas: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es una herramienta distinta, con otro método.</a:t>
            </a:r>
            <a:endParaRPr b="0" i="0" sz="850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Coinciden en todo: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cuando dos revisiones independientes encuentran lo mismo, el hallazgo deja de ser opinión.</a:t>
            </a:r>
            <a:endParaRPr b="0" i="0" sz="850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6071616" y="123444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 txBox="1"/>
          <p:nvPr/>
        </p:nvSpPr>
        <p:spPr>
          <a:xfrm>
            <a:off x="6224016" y="1353312"/>
            <a:ext cx="2310300" cy="161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C3232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Y AQUÍ VIENE LO BUENO</a:t>
            </a:r>
            <a:endParaRPr b="0" i="0" sz="1000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No hay que arreglar 486 páginas: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hay que arreglar una plantilla. El error está en el molde, no en cada copia.</a:t>
            </a:r>
            <a:endParaRPr b="0" i="0" sz="850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Un solo cambio corrige el sitio entero: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es de los pocos arreglos con ese nivel de retorno.</a:t>
            </a:r>
            <a:endParaRPr b="0" i="0" sz="850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Por eso va primero: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cualquier mejora página por página se pierde si la plantilla sigue igual.</a:t>
            </a:r>
            <a:endParaRPr b="0" i="0" sz="850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42" name="Google Shape;242;p13"/>
          <p:cNvSpPr txBox="1"/>
          <p:nvPr/>
        </p:nvSpPr>
        <p:spPr>
          <a:xfrm>
            <a:off x="457200" y="478155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i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"/>
          <p:cNvSpPr txBox="1"/>
          <p:nvPr/>
        </p:nvSpPr>
        <p:spPr>
          <a:xfrm>
            <a:off x="457200" y="304800"/>
            <a:ext cx="8229600" cy="61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284C7"/>
                </a:solidFill>
                <a:latin typeface="Nunito Sans"/>
                <a:ea typeface="Nunito Sans"/>
                <a:cs typeface="Nunito Sans"/>
                <a:sym typeface="Nunito Sans"/>
              </a:rPr>
              <a:t>PROTECCIÓN DE DATOS</a:t>
            </a:r>
            <a:endParaRPr b="1" i="0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Los datos de cada prospecto viajan sin ninguna protección activada</a:t>
            </a:r>
            <a:endParaRPr b="1" i="0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4748B"/>
                </a:solidFill>
                <a:latin typeface="Nunito Sans"/>
                <a:ea typeface="Nunito Sans"/>
                <a:cs typeface="Nunito Sans"/>
                <a:sym typeface="Nunito Sans"/>
              </a:rPr>
              <a:t>El sitio no encendió ninguna de las cinco protecciones básicas que trae cualquier servidor.</a:t>
            </a:r>
            <a:endParaRPr b="1" i="0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457200" y="123444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FF1F2"/>
          </a:solidFill>
          <a:ln cap="flat" cmpd="sng" w="1430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7"/>
          <p:cNvSpPr txBox="1"/>
          <p:nvPr/>
        </p:nvSpPr>
        <p:spPr>
          <a:xfrm>
            <a:off x="602742" y="1353312"/>
            <a:ext cx="2324100" cy="214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57150" spcFirstLastPara="1" rIns="57150" wrap="square" tIns="3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E11D4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QUÉ ESTÁ APAGADO</a:t>
            </a:r>
            <a:endParaRPr b="0" i="0" sz="950">
              <a:solidFill>
                <a:srgbClr val="E11D4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No hay reglas sobre quién puede leer qué: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nada limita lo que las empresas externas con código en el sitio pueden ver (Content-Security-Policy).</a:t>
            </a:r>
            <a:endParaRPr b="0" i="0" sz="850">
              <a:solidFill>
                <a:srgbClr val="E11D4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Faltan las otras cuatro protecciones estándar: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las que evitan que el sitio se cargue por conexión insegura o se incruste en páginas ajenas.</a:t>
            </a:r>
            <a:endParaRPr b="0" i="0" sz="850">
              <a:solidFill>
                <a:srgbClr val="E11D4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Afecta al 98% del sitio: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no es un descuido en una página, es la configuración general del servidor.</a:t>
            </a:r>
            <a:endParaRPr b="0" i="0" sz="850">
              <a:solidFill>
                <a:srgbClr val="E11D4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3264408" y="123444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FFBEB"/>
          </a:solidFill>
          <a:ln cap="flat" cmpd="sng" w="143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7"/>
          <p:cNvSpPr txBox="1"/>
          <p:nvPr/>
        </p:nvSpPr>
        <p:spPr>
          <a:xfrm>
            <a:off x="3409950" y="1353312"/>
            <a:ext cx="2324100" cy="214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57150" spcFirstLastPara="1" rIns="57150" wrap="square" tIns="3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D97706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POR QUÉ IMPORTA JUSTO AQUÍ</a:t>
            </a:r>
            <a:endParaRPr b="0" i="0" sz="9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El sitio guarda datos sensibles en el navegador: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nombre, teléfono y la lista de deudas de cada persona, en texto legible.</a:t>
            </a:r>
            <a:endParaRPr b="0" i="0" sz="8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Hay unas 70 empresas de publicidad con código corriendo: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Meta, TikTok, Criteo y otras, en cada visita.</a:t>
            </a:r>
            <a:endParaRPr b="0" i="0" sz="8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Hoy nada les impide leerlos: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el problema no es que la protección esté mal puesta. Es que no existe.</a:t>
            </a:r>
            <a:endParaRPr b="0" i="0" sz="8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6071616" y="123444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0F9FF"/>
          </a:solidFill>
          <a:ln cap="flat" cmpd="sng" w="143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6217158" y="1353312"/>
            <a:ext cx="2324100" cy="202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57150" spcFirstLastPara="1" rIns="57150" wrap="square" tIns="3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0284C7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CÓMO SE ARREGLA</a:t>
            </a:r>
            <a:endParaRPr b="0" i="0" sz="9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No hay que rehacer el sitio: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se activa en el servidor. Es configuración, no desarrollo.</a:t>
            </a:r>
            <a:endParaRPr b="0" i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Se puede encender en modo prueba: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permite ver qué dejaría de funcionar antes de bloquear nada.</a:t>
            </a:r>
            <a:endParaRPr b="0" i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Es requisito del aviso de cookies: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sin esto, un banner de consentimiento no bloquea nada de verdad.</a:t>
            </a:r>
            <a:endParaRPr b="0" i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Esfuerzo bajo, impacto alto: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de los arreglos más rentables de toda la auditoría.</a:t>
            </a:r>
            <a:endParaRPr b="0" i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83" name="Google Shape;283;p17"/>
          <p:cNvSpPr txBox="1"/>
          <p:nvPr/>
        </p:nvSpPr>
        <p:spPr>
          <a:xfrm>
            <a:off x="457200" y="480060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